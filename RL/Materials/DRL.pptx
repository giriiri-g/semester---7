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3"/>
  </p:notesMasterIdLst>
  <p:sldIdLst>
    <p:sldId id="877" r:id="rId5"/>
    <p:sldId id="1254" r:id="rId6"/>
    <p:sldId id="1255" r:id="rId7"/>
    <p:sldId id="1256" r:id="rId8"/>
    <p:sldId id="1258" r:id="rId9"/>
    <p:sldId id="1259" r:id="rId10"/>
    <p:sldId id="1257" r:id="rId11"/>
    <p:sldId id="1261" r:id="rId12"/>
    <p:sldId id="1264" r:id="rId13"/>
    <p:sldId id="1263" r:id="rId14"/>
    <p:sldId id="1266" r:id="rId15"/>
    <p:sldId id="1260" r:id="rId16"/>
    <p:sldId id="1269" r:id="rId17"/>
    <p:sldId id="1272" r:id="rId18"/>
    <p:sldId id="1273" r:id="rId19"/>
    <p:sldId id="1274" r:id="rId20"/>
    <p:sldId id="1287" r:id="rId21"/>
    <p:sldId id="1276" r:id="rId22"/>
    <p:sldId id="1281" r:id="rId23"/>
    <p:sldId id="1288" r:id="rId24"/>
    <p:sldId id="1277" r:id="rId25"/>
    <p:sldId id="1280" r:id="rId26"/>
    <p:sldId id="1282" r:id="rId27"/>
    <p:sldId id="1283" r:id="rId28"/>
    <p:sldId id="1284" r:id="rId29"/>
    <p:sldId id="1285" r:id="rId30"/>
    <p:sldId id="1286" r:id="rId31"/>
    <p:sldId id="1289" r:id="rId32"/>
    <p:sldId id="1309" r:id="rId33"/>
    <p:sldId id="1306" r:id="rId34"/>
    <p:sldId id="1311" r:id="rId35"/>
    <p:sldId id="1310" r:id="rId36"/>
    <p:sldId id="1312" r:id="rId37"/>
    <p:sldId id="1290" r:id="rId38"/>
    <p:sldId id="1291" r:id="rId39"/>
    <p:sldId id="1292" r:id="rId40"/>
    <p:sldId id="1293" r:id="rId41"/>
    <p:sldId id="1294" r:id="rId42"/>
    <p:sldId id="1296" r:id="rId43"/>
    <p:sldId id="1299" r:id="rId44"/>
    <p:sldId id="1300" r:id="rId45"/>
    <p:sldId id="1302" r:id="rId46"/>
    <p:sldId id="1303" r:id="rId47"/>
    <p:sldId id="1308" r:id="rId48"/>
    <p:sldId id="1313" r:id="rId49"/>
    <p:sldId id="1304" r:id="rId50"/>
    <p:sldId id="1305" r:id="rId51"/>
    <p:sldId id="129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etha M" initials="GM" lastIdx="1" clrIdx="0">
    <p:extLst>
      <p:ext uri="{19B8F6BF-5375-455C-9EA6-DF929625EA0E}">
        <p15:presenceInfo xmlns:p15="http://schemas.microsoft.com/office/powerpoint/2012/main" userId="Geetha 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9FB"/>
    <a:srgbClr val="FED9FF"/>
    <a:srgbClr val="FAD8FE"/>
    <a:srgbClr val="FDDA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CBB926-2964-AF65-DDE3-4081A7CE6F65}" v="2" dt="2025-11-19T10:40:48.921"/>
    <p1510:client id="{424E6CEF-82C5-91A8-2B3E-3CAD2A0CA6FF}" v="1" dt="2025-11-19T08:56:37.248"/>
    <p1510:client id="{585A4E1B-0E31-A48C-41A7-F7BE22EE68E3}" v="2" dt="2025-11-19T04:03:51.073"/>
    <p1510:client id="{797F6C23-DA91-63EC-78E4-3EE419E0ECF7}" v="4" dt="2025-11-19T11:05:23.543"/>
    <p1510:client id="{E2530BC0-BBFA-1D5F-B3CE-3943BE35C6C7}" v="2" dt="2025-11-20T05:52:56.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rramallu V S N Lokesh-[AM.EN.U4AIE22055]" userId="S::am.en.u4aie22055@am.students.amrita.edu::71713bef-4390-46de-bae9-501e6008d85b" providerId="AD" clId="Web-{585A4E1B-0E31-A48C-41A7-F7BE22EE68E3}"/>
    <pc:docChg chg="modSld">
      <pc:chgData name="Yarramallu V S N Lokesh-[AM.EN.U4AIE22055]" userId="S::am.en.u4aie22055@am.students.amrita.edu::71713bef-4390-46de-bae9-501e6008d85b" providerId="AD" clId="Web-{585A4E1B-0E31-A48C-41A7-F7BE22EE68E3}" dt="2025-11-19T04:03:51.073" v="1" actId="1076"/>
      <pc:docMkLst>
        <pc:docMk/>
      </pc:docMkLst>
      <pc:sldChg chg="modSp">
        <pc:chgData name="Yarramallu V S N Lokesh-[AM.EN.U4AIE22055]" userId="S::am.en.u4aie22055@am.students.amrita.edu::71713bef-4390-46de-bae9-501e6008d85b" providerId="AD" clId="Web-{585A4E1B-0E31-A48C-41A7-F7BE22EE68E3}" dt="2025-11-19T04:03:51.073" v="1" actId="1076"/>
        <pc:sldMkLst>
          <pc:docMk/>
          <pc:sldMk cId="4274454245" sldId="1280"/>
        </pc:sldMkLst>
        <pc:spChg chg="mod">
          <ac:chgData name="Yarramallu V S N Lokesh-[AM.EN.U4AIE22055]" userId="S::am.en.u4aie22055@am.students.amrita.edu::71713bef-4390-46de-bae9-501e6008d85b" providerId="AD" clId="Web-{585A4E1B-0E31-A48C-41A7-F7BE22EE68E3}" dt="2025-11-19T04:03:51.073" v="1" actId="1076"/>
          <ac:spMkLst>
            <pc:docMk/>
            <pc:sldMk cId="4274454245" sldId="1280"/>
            <ac:spMk id="5" creationId="{5A4E71DE-EE9B-0667-A375-135C09E925FF}"/>
          </ac:spMkLst>
        </pc:spChg>
      </pc:sldChg>
      <pc:sldChg chg="modSp">
        <pc:chgData name="Yarramallu V S N Lokesh-[AM.EN.U4AIE22055]" userId="S::am.en.u4aie22055@am.students.amrita.edu::71713bef-4390-46de-bae9-501e6008d85b" providerId="AD" clId="Web-{585A4E1B-0E31-A48C-41A7-F7BE22EE68E3}" dt="2025-11-19T03:56:26.801" v="0" actId="1076"/>
        <pc:sldMkLst>
          <pc:docMk/>
          <pc:sldMk cId="4211682747" sldId="1288"/>
        </pc:sldMkLst>
        <pc:spChg chg="mod">
          <ac:chgData name="Yarramallu V S N Lokesh-[AM.EN.U4AIE22055]" userId="S::am.en.u4aie22055@am.students.amrita.edu::71713bef-4390-46de-bae9-501e6008d85b" providerId="AD" clId="Web-{585A4E1B-0E31-A48C-41A7-F7BE22EE68E3}" dt="2025-11-19T03:56:26.801" v="0" actId="1076"/>
          <ac:spMkLst>
            <pc:docMk/>
            <pc:sldMk cId="4211682747" sldId="1288"/>
            <ac:spMk id="5" creationId="{1547CF4A-C7F5-5B75-9A97-FAF015D89DC1}"/>
          </ac:spMkLst>
        </pc:spChg>
      </pc:sldChg>
    </pc:docChg>
  </pc:docChgLst>
  <pc:docChgLst>
    <pc:chgData name="Yarramallu V S N Lokesh-[AM.EN.U4AIE22055]" userId="S::am.en.u4aie22055@am.students.amrita.edu::71713bef-4390-46de-bae9-501e6008d85b" providerId="AD" clId="Web-{797F6C23-DA91-63EC-78E4-3EE419E0ECF7}"/>
    <pc:docChg chg="modSld">
      <pc:chgData name="Yarramallu V S N Lokesh-[AM.EN.U4AIE22055]" userId="S::am.en.u4aie22055@am.students.amrita.edu::71713bef-4390-46de-bae9-501e6008d85b" providerId="AD" clId="Web-{797F6C23-DA91-63EC-78E4-3EE419E0ECF7}" dt="2025-11-19T11:05:23.543" v="3" actId="1076"/>
      <pc:docMkLst>
        <pc:docMk/>
      </pc:docMkLst>
      <pc:sldChg chg="modSp">
        <pc:chgData name="Yarramallu V S N Lokesh-[AM.EN.U4AIE22055]" userId="S::am.en.u4aie22055@am.students.amrita.edu::71713bef-4390-46de-bae9-501e6008d85b" providerId="AD" clId="Web-{797F6C23-DA91-63EC-78E4-3EE419E0ECF7}" dt="2025-11-19T11:05:23.543" v="3" actId="1076"/>
        <pc:sldMkLst>
          <pc:docMk/>
          <pc:sldMk cId="3491928539" sldId="1269"/>
        </pc:sldMkLst>
        <pc:spChg chg="mod">
          <ac:chgData name="Yarramallu V S N Lokesh-[AM.EN.U4AIE22055]" userId="S::am.en.u4aie22055@am.students.amrita.edu::71713bef-4390-46de-bae9-501e6008d85b" providerId="AD" clId="Web-{797F6C23-DA91-63EC-78E4-3EE419E0ECF7}" dt="2025-11-19T11:05:23.543" v="3" actId="1076"/>
          <ac:spMkLst>
            <pc:docMk/>
            <pc:sldMk cId="3491928539" sldId="1269"/>
            <ac:spMk id="11" creationId="{12985423-3FEF-EDEB-10BC-307A0A2B0CB5}"/>
          </ac:spMkLst>
        </pc:spChg>
      </pc:sldChg>
    </pc:docChg>
  </pc:docChgLst>
  <pc:docChgLst>
    <pc:chgData name="BALLA SAI DINESH MANI KARTHIKEYA-[AM.EN.U4AIE22110]" userId="S::am.en.u4aie22110@am.students.amrita.edu::f255cc95-6082-4000-9a97-c0e71b287485" providerId="AD" clId="Web-{424E6CEF-82C5-91A8-2B3E-3CAD2A0CA6FF}"/>
    <pc:docChg chg="modSld">
      <pc:chgData name="BALLA SAI DINESH MANI KARTHIKEYA-[AM.EN.U4AIE22110]" userId="S::am.en.u4aie22110@am.students.amrita.edu::f255cc95-6082-4000-9a97-c0e71b287485" providerId="AD" clId="Web-{424E6CEF-82C5-91A8-2B3E-3CAD2A0CA6FF}" dt="2025-11-19T08:56:37.248" v="0" actId="1076"/>
      <pc:docMkLst>
        <pc:docMk/>
      </pc:docMkLst>
      <pc:sldChg chg="modSp">
        <pc:chgData name="BALLA SAI DINESH MANI KARTHIKEYA-[AM.EN.U4AIE22110]" userId="S::am.en.u4aie22110@am.students.amrita.edu::f255cc95-6082-4000-9a97-c0e71b287485" providerId="AD" clId="Web-{424E6CEF-82C5-91A8-2B3E-3CAD2A0CA6FF}" dt="2025-11-19T08:56:37.248" v="0" actId="1076"/>
        <pc:sldMkLst>
          <pc:docMk/>
          <pc:sldMk cId="2350640116" sldId="1255"/>
        </pc:sldMkLst>
        <pc:spChg chg="mod">
          <ac:chgData name="BALLA SAI DINESH MANI KARTHIKEYA-[AM.EN.U4AIE22110]" userId="S::am.en.u4aie22110@am.students.amrita.edu::f255cc95-6082-4000-9a97-c0e71b287485" providerId="AD" clId="Web-{424E6CEF-82C5-91A8-2B3E-3CAD2A0CA6FF}" dt="2025-11-19T08:56:37.248" v="0" actId="1076"/>
          <ac:spMkLst>
            <pc:docMk/>
            <pc:sldMk cId="2350640116" sldId="1255"/>
            <ac:spMk id="9" creationId="{F3717D16-4AEE-4F5F-30E0-09B6FE31DFDB}"/>
          </ac:spMkLst>
        </pc:spChg>
      </pc:sldChg>
    </pc:docChg>
  </pc:docChgLst>
  <pc:docChgLst>
    <pc:chgData name="HRISHEEKESH G NAIR-[AM.EN.U4AIE22121]" userId="S::am.en.u4aie22121@am.students.amrita.edu::560fa6b5-bd6d-4fcc-ad23-27a6657b8490" providerId="AD" clId="Web-{E2530BC0-BBFA-1D5F-B3CE-3943BE35C6C7}"/>
    <pc:docChg chg="modSld">
      <pc:chgData name="HRISHEEKESH G NAIR-[AM.EN.U4AIE22121]" userId="S::am.en.u4aie22121@am.students.amrita.edu::560fa6b5-bd6d-4fcc-ad23-27a6657b8490" providerId="AD" clId="Web-{E2530BC0-BBFA-1D5F-B3CE-3943BE35C6C7}" dt="2025-11-20T05:52:56.012" v="1" actId="1076"/>
      <pc:docMkLst>
        <pc:docMk/>
      </pc:docMkLst>
      <pc:sldChg chg="modSp">
        <pc:chgData name="HRISHEEKESH G NAIR-[AM.EN.U4AIE22121]" userId="S::am.en.u4aie22121@am.students.amrita.edu::560fa6b5-bd6d-4fcc-ad23-27a6657b8490" providerId="AD" clId="Web-{E2530BC0-BBFA-1D5F-B3CE-3943BE35C6C7}" dt="2025-11-20T05:52:56.012" v="1" actId="1076"/>
        <pc:sldMkLst>
          <pc:docMk/>
          <pc:sldMk cId="709049019" sldId="1256"/>
        </pc:sldMkLst>
        <pc:picChg chg="mod">
          <ac:chgData name="HRISHEEKESH G NAIR-[AM.EN.U4AIE22121]" userId="S::am.en.u4aie22121@am.students.amrita.edu::560fa6b5-bd6d-4fcc-ad23-27a6657b8490" providerId="AD" clId="Web-{E2530BC0-BBFA-1D5F-B3CE-3943BE35C6C7}" dt="2025-11-20T05:52:56.012" v="1" actId="1076"/>
          <ac:picMkLst>
            <pc:docMk/>
            <pc:sldMk cId="709049019" sldId="1256"/>
            <ac:picMk id="5" creationId="{25BB113A-7F47-7603-64CE-CB7C508220D3}"/>
          </ac:picMkLst>
        </pc:picChg>
      </pc:sldChg>
    </pc:docChg>
  </pc:docChgLst>
  <pc:docChgLst>
    <pc:chgData name="THAZHAI MUGUNTHAN G-[AM.EN.U4AIE22051]" userId="S::am.en.u4aie22051@am.students.amrita.edu::fe20b407-3766-4a21-81ee-717595ee3945" providerId="AD" clId="Web-{2CCBB926-2964-AF65-DDE3-4081A7CE6F65}"/>
    <pc:docChg chg="modSld">
      <pc:chgData name="THAZHAI MUGUNTHAN G-[AM.EN.U4AIE22051]" userId="S::am.en.u4aie22051@am.students.amrita.edu::fe20b407-3766-4a21-81ee-717595ee3945" providerId="AD" clId="Web-{2CCBB926-2964-AF65-DDE3-4081A7CE6F65}" dt="2025-11-19T10:40:48.921" v="1" actId="1076"/>
      <pc:docMkLst>
        <pc:docMk/>
      </pc:docMkLst>
      <pc:sldChg chg="modSp">
        <pc:chgData name="THAZHAI MUGUNTHAN G-[AM.EN.U4AIE22051]" userId="S::am.en.u4aie22051@am.students.amrita.edu::fe20b407-3766-4a21-81ee-717595ee3945" providerId="AD" clId="Web-{2CCBB926-2964-AF65-DDE3-4081A7CE6F65}" dt="2025-11-19T10:40:48.921" v="1" actId="1076"/>
        <pc:sldMkLst>
          <pc:docMk/>
          <pc:sldMk cId="314400431" sldId="1263"/>
        </pc:sldMkLst>
        <pc:spChg chg="mod">
          <ac:chgData name="THAZHAI MUGUNTHAN G-[AM.EN.U4AIE22051]" userId="S::am.en.u4aie22051@am.students.amrita.edu::fe20b407-3766-4a21-81ee-717595ee3945" providerId="AD" clId="Web-{2CCBB926-2964-AF65-DDE3-4081A7CE6F65}" dt="2025-11-19T10:40:48.921" v="1" actId="1076"/>
          <ac:spMkLst>
            <pc:docMk/>
            <pc:sldMk cId="314400431" sldId="1263"/>
            <ac:spMk id="5" creationId="{B688EAFB-4DC7-399E-F90E-6CC5E4CACE5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678E88-302C-457E-BDC4-2DC4E135B8EE}" type="datetimeFigureOut">
              <a:rPr lang="en-IN" smtClean="0"/>
              <a:t>19-11-2025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EE30E6-9EB3-46B3-B453-23E1904BDDC3}" type="slidenum">
              <a:rPr lang="en-IN" smtClean="0"/>
              <a:t>‹#›</a:t>
            </a:fld>
            <a:endParaRPr lang="en-IN"/>
          </a:p>
        </p:txBody>
      </p:sp>
    </p:spTree>
    <p:extLst>
      <p:ext uri="{BB962C8B-B14F-4D97-AF65-F5344CB8AC3E}">
        <p14:creationId xmlns:p14="http://schemas.microsoft.com/office/powerpoint/2010/main" val="1802737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8EE30E6-9EB3-46B3-B453-23E1904BDDC3}" type="slidenum">
              <a:rPr lang="en-IN" smtClean="0"/>
              <a:t>8</a:t>
            </a:fld>
            <a:endParaRPr lang="en-IN"/>
          </a:p>
        </p:txBody>
      </p:sp>
    </p:spTree>
    <p:extLst>
      <p:ext uri="{BB962C8B-B14F-4D97-AF65-F5344CB8AC3E}">
        <p14:creationId xmlns:p14="http://schemas.microsoft.com/office/powerpoint/2010/main" val="315703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8EE30E6-9EB3-46B3-B453-23E1904BDDC3}" type="slidenum">
              <a:rPr lang="en-IN" smtClean="0"/>
              <a:t>13</a:t>
            </a:fld>
            <a:endParaRPr lang="en-IN"/>
          </a:p>
        </p:txBody>
      </p:sp>
    </p:spTree>
    <p:extLst>
      <p:ext uri="{BB962C8B-B14F-4D97-AF65-F5344CB8AC3E}">
        <p14:creationId xmlns:p14="http://schemas.microsoft.com/office/powerpoint/2010/main" val="603169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3C7B1-3372-48B0-BF9A-E8B0D66A9C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699325F-848E-4674-8D14-AA3DA16C85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9D54100-98DF-4A28-9BF8-E86A1F560B62}"/>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5" name="Footer Placeholder 4">
            <a:extLst>
              <a:ext uri="{FF2B5EF4-FFF2-40B4-BE49-F238E27FC236}">
                <a16:creationId xmlns:a16="http://schemas.microsoft.com/office/drawing/2014/main" id="{3D7A7BDE-1137-4A98-9219-707F20799A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F8E49A-5440-4FE1-ABC5-11FC41907827}"/>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1468605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F1B5E-9785-4FD7-B155-7D3ADCFED7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01AD12-433F-482B-92DA-90AD36D07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5F635-AD31-49AF-8FCA-EF5F0AC05BAA}"/>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5" name="Footer Placeholder 4">
            <a:extLst>
              <a:ext uri="{FF2B5EF4-FFF2-40B4-BE49-F238E27FC236}">
                <a16:creationId xmlns:a16="http://schemas.microsoft.com/office/drawing/2014/main" id="{0DEDAFEA-B36F-47E4-A744-9D16E14B8D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F7B23C-846F-4701-98E1-2AA30C0D7C23}"/>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313240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BDC06-3088-42D2-8F40-6F480CF96B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0B074A-999D-4600-B4D0-6055B15838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EFD8D0-4BD8-4161-9F83-D5FFB51B4D68}"/>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5" name="Footer Placeholder 4">
            <a:extLst>
              <a:ext uri="{FF2B5EF4-FFF2-40B4-BE49-F238E27FC236}">
                <a16:creationId xmlns:a16="http://schemas.microsoft.com/office/drawing/2014/main" id="{B05A84EC-C363-4961-BCB0-1E75C98126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F90A75-1335-4BC4-ADE6-3D6153CCFB9C}"/>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4043306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FFD6-2DBE-4606-BC7E-6ECC83E0C5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6BFD17-4941-45D0-A94B-825AEA8AE1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585B78-E08B-4674-BA2D-C6D0AD9583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2DB4DE-C6E0-43C0-9C5C-5CBAFA9C44C9}"/>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6" name="Footer Placeholder 5">
            <a:extLst>
              <a:ext uri="{FF2B5EF4-FFF2-40B4-BE49-F238E27FC236}">
                <a16:creationId xmlns:a16="http://schemas.microsoft.com/office/drawing/2014/main" id="{CCEDF757-A17B-4E7E-95EC-C3D1684A02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29B607-D2B7-4A58-889B-3D7FE1C365F1}"/>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2715415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D72F9-2F59-4973-B3FF-FD6DCE55A6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C2186A-852B-49CE-80A8-CEB5755363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79C702-86B5-4E2F-A57A-E860E2EE8A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DA572B-349B-4A78-AAE0-D48A5298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ACCFEC-E740-4761-88D9-107254DA4C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083EEB-A8CC-4F87-A568-4AA732FBC6B2}"/>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8" name="Footer Placeholder 7">
            <a:extLst>
              <a:ext uri="{FF2B5EF4-FFF2-40B4-BE49-F238E27FC236}">
                <a16:creationId xmlns:a16="http://schemas.microsoft.com/office/drawing/2014/main" id="{EFD8D871-7F1F-474C-BE07-B566FE4663C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C8DB53-8474-4095-AA09-B4C2F488B167}"/>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62118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C09624-20AB-4018-936C-C64A1B463107}"/>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3" name="Footer Placeholder 2">
            <a:extLst>
              <a:ext uri="{FF2B5EF4-FFF2-40B4-BE49-F238E27FC236}">
                <a16:creationId xmlns:a16="http://schemas.microsoft.com/office/drawing/2014/main" id="{2DC54839-3857-4F43-8B7C-D63BB44A64C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DE522D-D444-4666-9DD4-01033EC3A87B}"/>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258633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1D9F-4466-4F53-9AAB-E3E815147D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8CA21C-A89D-4EEA-B9E4-6F3FDC7656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5C4D00-53E7-4681-9B2D-2952E2657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E450E1-7C11-4EC1-A8C1-117BC4E6D65A}"/>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6" name="Footer Placeholder 5">
            <a:extLst>
              <a:ext uri="{FF2B5EF4-FFF2-40B4-BE49-F238E27FC236}">
                <a16:creationId xmlns:a16="http://schemas.microsoft.com/office/drawing/2014/main" id="{864CD824-36FA-4CFB-97E7-23693B1012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933C2F-7EAC-4ACD-A23F-E23737405CD4}"/>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2766364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79157-5C58-4242-A86F-98463F57E5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E5E7F4-367D-4208-B3DC-182274CDE1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4C56A5B-B6AD-4097-932C-3E8E77F3F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1D7ED9-C05E-47C0-8B7E-E2B1DF5B482A}"/>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6" name="Footer Placeholder 5">
            <a:extLst>
              <a:ext uri="{FF2B5EF4-FFF2-40B4-BE49-F238E27FC236}">
                <a16:creationId xmlns:a16="http://schemas.microsoft.com/office/drawing/2014/main" id="{5C05CA0B-359F-4C2E-AD7C-45E2CBB16A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DF037C-C980-4AF7-9C32-929CBBF046CC}"/>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14978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8F787-CF72-4AD9-A2E9-4BCE3AE4E4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62738F-6BE8-40A6-91A4-84C9E66F2A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1BFD6E-B51C-4B6D-8974-650D504EF906}"/>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5" name="Footer Placeholder 4">
            <a:extLst>
              <a:ext uri="{FF2B5EF4-FFF2-40B4-BE49-F238E27FC236}">
                <a16:creationId xmlns:a16="http://schemas.microsoft.com/office/drawing/2014/main" id="{61854563-0E79-4042-B36B-F089959118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FFB683-83FB-43F1-924F-C37D43EEA213}"/>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2183280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F15FDF-F601-41FD-8F1B-59A9F5EE36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8A3654-1792-4F83-B64D-233B5E88E1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25986C-C991-4F3D-9CBA-F6544A8B2841}"/>
              </a:ext>
            </a:extLst>
          </p:cNvPr>
          <p:cNvSpPr>
            <a:spLocks noGrp="1"/>
          </p:cNvSpPr>
          <p:nvPr>
            <p:ph type="dt" sz="half" idx="10"/>
          </p:nvPr>
        </p:nvSpPr>
        <p:spPr/>
        <p:txBody>
          <a:bodyPr/>
          <a:lstStyle/>
          <a:p>
            <a:fld id="{0A4141DB-7750-451B-A040-0A3D20C5A8E8}" type="datetimeFigureOut">
              <a:rPr lang="en-IN" smtClean="0"/>
              <a:t>19-11-2025</a:t>
            </a:fld>
            <a:endParaRPr lang="en-IN"/>
          </a:p>
        </p:txBody>
      </p:sp>
      <p:sp>
        <p:nvSpPr>
          <p:cNvPr id="5" name="Footer Placeholder 4">
            <a:extLst>
              <a:ext uri="{FF2B5EF4-FFF2-40B4-BE49-F238E27FC236}">
                <a16:creationId xmlns:a16="http://schemas.microsoft.com/office/drawing/2014/main" id="{2A88F46D-1102-469C-8ADF-2CF3A74C1E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DB3704-AEE5-43AD-99BA-0AFCAC4C1C05}"/>
              </a:ext>
            </a:extLst>
          </p:cNvPr>
          <p:cNvSpPr>
            <a:spLocks noGrp="1"/>
          </p:cNvSpPr>
          <p:nvPr>
            <p:ph type="sldNum" sz="quarter" idx="12"/>
          </p:nvPr>
        </p:nvSpPr>
        <p:spPr/>
        <p:txBody>
          <a:bodyPr/>
          <a:lstStyle/>
          <a:p>
            <a:fld id="{C51D9C27-A924-4FB9-B12B-4FB85672B464}" type="slidenum">
              <a:rPr lang="en-IN" smtClean="0"/>
              <a:t>‹#›</a:t>
            </a:fld>
            <a:endParaRPr lang="en-IN"/>
          </a:p>
        </p:txBody>
      </p:sp>
    </p:spTree>
    <p:extLst>
      <p:ext uri="{BB962C8B-B14F-4D97-AF65-F5344CB8AC3E}">
        <p14:creationId xmlns:p14="http://schemas.microsoft.com/office/powerpoint/2010/main" val="2443575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C84A66-1229-4ED6-A9D1-8F02E81480AE}"/>
              </a:ext>
            </a:extLst>
          </p:cNvPr>
          <p:cNvSpPr>
            <a:spLocks noGrp="1"/>
          </p:cNvSpPr>
          <p:nvPr>
            <p:ph type="title"/>
          </p:nvPr>
        </p:nvSpPr>
        <p:spPr>
          <a:xfrm>
            <a:off x="838200" y="365126"/>
            <a:ext cx="10515600" cy="436064"/>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CB1AC7-8752-4D00-B2A2-8AB4F1C01B0A}"/>
              </a:ext>
            </a:extLst>
          </p:cNvPr>
          <p:cNvSpPr>
            <a:spLocks noGrp="1"/>
          </p:cNvSpPr>
          <p:nvPr>
            <p:ph type="body" idx="1"/>
          </p:nvPr>
        </p:nvSpPr>
        <p:spPr>
          <a:xfrm>
            <a:off x="838200" y="992777"/>
            <a:ext cx="10515600" cy="51841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78661F-0625-4389-83BE-429476154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4141DB-7750-451B-A040-0A3D20C5A8E8}" type="datetimeFigureOut">
              <a:rPr lang="en-IN" smtClean="0"/>
              <a:t>19-11-2025</a:t>
            </a:fld>
            <a:endParaRPr lang="en-IN"/>
          </a:p>
        </p:txBody>
      </p:sp>
      <p:sp>
        <p:nvSpPr>
          <p:cNvPr id="5" name="Footer Placeholder 4">
            <a:extLst>
              <a:ext uri="{FF2B5EF4-FFF2-40B4-BE49-F238E27FC236}">
                <a16:creationId xmlns:a16="http://schemas.microsoft.com/office/drawing/2014/main" id="{9762604A-DE26-4FC2-8337-AF8A963C9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CABA0C0-1904-41CE-9E06-BC9E5A69A2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D9C27-A924-4FB9-B12B-4FB85672B464}" type="slidenum">
              <a:rPr lang="en-IN" smtClean="0"/>
              <a:t>‹#›</a:t>
            </a:fld>
            <a:endParaRPr lang="en-IN"/>
          </a:p>
        </p:txBody>
      </p:sp>
      <p:pic>
        <p:nvPicPr>
          <p:cNvPr id="7" name="Picture 6">
            <a:extLst>
              <a:ext uri="{FF2B5EF4-FFF2-40B4-BE49-F238E27FC236}">
                <a16:creationId xmlns:a16="http://schemas.microsoft.com/office/drawing/2014/main" id="{C1703A67-7610-4F30-9DA1-29E339510F05}"/>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3489" y="6369932"/>
            <a:ext cx="12218977" cy="521007"/>
          </a:xfrm>
          <a:prstGeom prst="rect">
            <a:avLst/>
          </a:prstGeom>
        </p:spPr>
      </p:pic>
      <p:pic>
        <p:nvPicPr>
          <p:cNvPr id="8" name="Picture 7">
            <a:extLst>
              <a:ext uri="{FF2B5EF4-FFF2-40B4-BE49-F238E27FC236}">
                <a16:creationId xmlns:a16="http://schemas.microsoft.com/office/drawing/2014/main" id="{D54CC57E-CE71-4F72-B89D-034E1FBAC5C9}"/>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25954" y="6490361"/>
            <a:ext cx="1781941" cy="314840"/>
          </a:xfrm>
          <a:prstGeom prst="rect">
            <a:avLst/>
          </a:prstGeom>
        </p:spPr>
      </p:pic>
    </p:spTree>
    <p:extLst>
      <p:ext uri="{BB962C8B-B14F-4D97-AF65-F5344CB8AC3E}">
        <p14:creationId xmlns:p14="http://schemas.microsoft.com/office/powerpoint/2010/main" val="762313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ymnasium.farama.org/environments/box2d/lunar_lander/" TargetMode="External"/><Relationship Id="rId2" Type="http://schemas.openxmlformats.org/officeDocument/2006/relationships/hyperlink" Target="https://gymnasium.farama.or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ymnasium.farama.org/environments/box2d/lunar_lander/"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4B804-1F07-4BEE-9EF3-242F6526BF4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3ED1E86-6AC3-4B83-85F5-4B9DBDA3F823}"/>
              </a:ext>
            </a:extLst>
          </p:cNvPr>
          <p:cNvSpPr>
            <a:spLocks noGrp="1"/>
          </p:cNvSpPr>
          <p:nvPr>
            <p:ph type="subTitle" idx="1"/>
          </p:nvPr>
        </p:nvSpPr>
        <p:spPr/>
        <p:txBody>
          <a:bodyPr/>
          <a:lstStyle/>
          <a:p>
            <a:endParaRPr lang="en-IN"/>
          </a:p>
        </p:txBody>
      </p:sp>
      <p:sp>
        <p:nvSpPr>
          <p:cNvPr id="5" name="Rectangle 4">
            <a:extLst>
              <a:ext uri="{FF2B5EF4-FFF2-40B4-BE49-F238E27FC236}">
                <a16:creationId xmlns:a16="http://schemas.microsoft.com/office/drawing/2014/main" id="{569BEA63-6D42-4045-A1CE-EECC4791E94E}"/>
              </a:ext>
            </a:extLst>
          </p:cNvPr>
          <p:cNvSpPr/>
          <p:nvPr/>
        </p:nvSpPr>
        <p:spPr>
          <a:xfrm>
            <a:off x="32272" y="0"/>
            <a:ext cx="12159727" cy="68580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5" descr="A picture containing drawing&#10;&#10;Description automatically generated">
            <a:extLst>
              <a:ext uri="{FF2B5EF4-FFF2-40B4-BE49-F238E27FC236}">
                <a16:creationId xmlns:a16="http://schemas.microsoft.com/office/drawing/2014/main" id="{993B45BB-FAE8-433F-8A1C-39CBD0DB4621}"/>
              </a:ext>
            </a:extLst>
          </p:cNvPr>
          <p:cNvPicPr>
            <a:picLocks noChangeAspect="1"/>
          </p:cNvPicPr>
          <p:nvPr/>
        </p:nvPicPr>
        <p:blipFill>
          <a:blip r:embed="rId2"/>
          <a:stretch>
            <a:fillRect/>
          </a:stretch>
        </p:blipFill>
        <p:spPr>
          <a:xfrm>
            <a:off x="2976044" y="2195680"/>
            <a:ext cx="3443174" cy="1104899"/>
          </a:xfrm>
          <a:prstGeom prst="rect">
            <a:avLst/>
          </a:prstGeom>
        </p:spPr>
      </p:pic>
      <p:sp>
        <p:nvSpPr>
          <p:cNvPr id="7" name="TextBox 6">
            <a:extLst>
              <a:ext uri="{FF2B5EF4-FFF2-40B4-BE49-F238E27FC236}">
                <a16:creationId xmlns:a16="http://schemas.microsoft.com/office/drawing/2014/main" id="{E39019EF-39C4-4A72-8DBB-45712BDC02E5}"/>
              </a:ext>
            </a:extLst>
          </p:cNvPr>
          <p:cNvSpPr txBox="1"/>
          <p:nvPr/>
        </p:nvSpPr>
        <p:spPr>
          <a:xfrm>
            <a:off x="7216476" y="1364683"/>
            <a:ext cx="5394959" cy="830997"/>
          </a:xfrm>
          <a:prstGeom prst="rect">
            <a:avLst/>
          </a:prstGeom>
          <a:noFill/>
        </p:spPr>
        <p:txBody>
          <a:bodyPr wrap="square" lIns="91440" tIns="45720" rIns="91440" bIns="45720" rtlCol="0" anchor="t">
            <a:spAutoFit/>
          </a:bodyPr>
          <a:lstStyle/>
          <a:p>
            <a:r>
              <a:rPr lang="en-IN" sz="2800" b="1">
                <a:solidFill>
                  <a:schemeClr val="bg1"/>
                </a:solidFill>
                <a:latin typeface="Times New Roman"/>
                <a:cs typeface="Times New Roman"/>
              </a:rPr>
              <a:t>Model Free learning</a:t>
            </a:r>
            <a:endParaRPr lang="en-US" sz="2800">
              <a:solidFill>
                <a:schemeClr val="bg1"/>
              </a:solidFill>
              <a:latin typeface="Times New Roman"/>
              <a:cs typeface="Times New Roman"/>
            </a:endParaRPr>
          </a:p>
          <a:p>
            <a:pPr algn="ctr"/>
            <a:endParaRPr lang="en-US" sz="2000" b="1" i="0">
              <a:solidFill>
                <a:schemeClr val="bg1"/>
              </a:solidFill>
              <a:effectLst/>
              <a:latin typeface="Segoe UI" panose="020B0502040204020203" pitchFamily="34" charset="0"/>
              <a:cs typeface="Segoe UI"/>
            </a:endParaRPr>
          </a:p>
        </p:txBody>
      </p:sp>
      <p:cxnSp>
        <p:nvCxnSpPr>
          <p:cNvPr id="8" name="Straight Connector 7">
            <a:extLst>
              <a:ext uri="{FF2B5EF4-FFF2-40B4-BE49-F238E27FC236}">
                <a16:creationId xmlns:a16="http://schemas.microsoft.com/office/drawing/2014/main" id="{F8E7993D-50A7-4079-A22E-A3E4FEFA102A}"/>
              </a:ext>
            </a:extLst>
          </p:cNvPr>
          <p:cNvCxnSpPr>
            <a:cxnSpLocks/>
          </p:cNvCxnSpPr>
          <p:nvPr/>
        </p:nvCxnSpPr>
        <p:spPr>
          <a:xfrm>
            <a:off x="6553910" y="1871975"/>
            <a:ext cx="0" cy="1636813"/>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pic>
        <p:nvPicPr>
          <p:cNvPr id="11" name="Picture 1" descr="A person in a white shirt&#10;&#10;Description automatically generated">
            <a:extLst>
              <a:ext uri="{FF2B5EF4-FFF2-40B4-BE49-F238E27FC236}">
                <a16:creationId xmlns:a16="http://schemas.microsoft.com/office/drawing/2014/main" id="{4B50A742-4204-487A-9558-6A05025FB6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19827" y="280527"/>
            <a:ext cx="2639345" cy="263934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 descr="Amritapuri Campus | Amrita Vishwa Vidyapeetham">
            <a:extLst>
              <a:ext uri="{FF2B5EF4-FFF2-40B4-BE49-F238E27FC236}">
                <a16:creationId xmlns:a16="http://schemas.microsoft.com/office/drawing/2014/main" id="{D9708715-13EC-4C66-A09A-A0E399FC60B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2272" y="3300579"/>
            <a:ext cx="12192000" cy="3585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0123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99A7-D081-163F-C26B-47E10F3B8B0F}"/>
              </a:ext>
            </a:extLst>
          </p:cNvPr>
          <p:cNvSpPr>
            <a:spLocks noGrp="1"/>
          </p:cNvSpPr>
          <p:nvPr>
            <p:ph type="title"/>
          </p:nvPr>
        </p:nvSpPr>
        <p:spPr/>
        <p:txBody>
          <a:bodyPr/>
          <a:lstStyle/>
          <a:p>
            <a:r>
              <a:rPr lang="en-IN"/>
              <a:t>Deep Reinforcement Learning</a:t>
            </a:r>
          </a:p>
        </p:txBody>
      </p:sp>
      <p:sp>
        <p:nvSpPr>
          <p:cNvPr id="3" name="Text Placeholder 2">
            <a:extLst>
              <a:ext uri="{FF2B5EF4-FFF2-40B4-BE49-F238E27FC236}">
                <a16:creationId xmlns:a16="http://schemas.microsoft.com/office/drawing/2014/main" id="{29D68B25-F34B-A897-8FF9-AF9F7C997559}"/>
              </a:ext>
            </a:extLst>
          </p:cNvPr>
          <p:cNvSpPr>
            <a:spLocks noGrp="1"/>
          </p:cNvSpPr>
          <p:nvPr>
            <p:ph type="body" idx="1"/>
          </p:nvPr>
        </p:nvSpPr>
        <p:spPr/>
        <p:txBody>
          <a:bodyPr>
            <a:normAutofit fontScale="92500" lnSpcReduction="20000"/>
          </a:bodyPr>
          <a:lstStyle/>
          <a:p>
            <a:r>
              <a:rPr lang="en-IN"/>
              <a:t>Deep Queue Network ( DQN)</a:t>
            </a:r>
          </a:p>
          <a:p>
            <a:r>
              <a:rPr lang="en-IN"/>
              <a:t>Policy Gradient Methods</a:t>
            </a:r>
          </a:p>
          <a:p>
            <a:r>
              <a:rPr lang="en-IN"/>
              <a:t>Policy Optimisation Methods</a:t>
            </a:r>
          </a:p>
          <a:p>
            <a:r>
              <a:rPr lang="en-IN"/>
              <a:t>Actor Critic Method</a:t>
            </a:r>
          </a:p>
        </p:txBody>
      </p:sp>
    </p:spTree>
    <p:extLst>
      <p:ext uri="{BB962C8B-B14F-4D97-AF65-F5344CB8AC3E}">
        <p14:creationId xmlns:p14="http://schemas.microsoft.com/office/powerpoint/2010/main" val="2157504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A40856-A6BE-CF8A-1187-B8DA2F40FEA8}"/>
              </a:ext>
            </a:extLst>
          </p:cNvPr>
          <p:cNvSpPr>
            <a:spLocks noGrp="1"/>
          </p:cNvSpPr>
          <p:nvPr>
            <p:ph type="title"/>
          </p:nvPr>
        </p:nvSpPr>
        <p:spPr>
          <a:xfrm>
            <a:off x="371856" y="122015"/>
            <a:ext cx="10515600" cy="436064"/>
          </a:xfrm>
        </p:spPr>
        <p:txBody>
          <a:bodyPr>
            <a:normAutofit fontScale="90000"/>
          </a:bodyPr>
          <a:lstStyle/>
          <a:p>
            <a:r>
              <a:rPr lang="en-IN"/>
              <a:t>Function Approximation</a:t>
            </a:r>
          </a:p>
        </p:txBody>
      </p:sp>
      <p:sp>
        <p:nvSpPr>
          <p:cNvPr id="5" name="Content Placeholder 4">
            <a:extLst>
              <a:ext uri="{FF2B5EF4-FFF2-40B4-BE49-F238E27FC236}">
                <a16:creationId xmlns:a16="http://schemas.microsoft.com/office/drawing/2014/main" id="{D8826434-53EA-53F4-F034-806111578576}"/>
              </a:ext>
            </a:extLst>
          </p:cNvPr>
          <p:cNvSpPr>
            <a:spLocks noGrp="1"/>
          </p:cNvSpPr>
          <p:nvPr>
            <p:ph idx="1"/>
          </p:nvPr>
        </p:nvSpPr>
        <p:spPr/>
        <p:txBody>
          <a:bodyPr/>
          <a:lstStyle/>
          <a:p>
            <a:endParaRPr lang="en-IN"/>
          </a:p>
        </p:txBody>
      </p:sp>
      <p:sp>
        <p:nvSpPr>
          <p:cNvPr id="7" name="TextBox 6">
            <a:extLst>
              <a:ext uri="{FF2B5EF4-FFF2-40B4-BE49-F238E27FC236}">
                <a16:creationId xmlns:a16="http://schemas.microsoft.com/office/drawing/2014/main" id="{DF546B05-38A5-0EE2-5948-B110B9B7872F}"/>
              </a:ext>
            </a:extLst>
          </p:cNvPr>
          <p:cNvSpPr txBox="1"/>
          <p:nvPr/>
        </p:nvSpPr>
        <p:spPr>
          <a:xfrm>
            <a:off x="-53340" y="656004"/>
            <a:ext cx="12245340" cy="2031325"/>
          </a:xfrm>
          <a:prstGeom prst="rect">
            <a:avLst/>
          </a:prstGeom>
          <a:solidFill>
            <a:schemeClr val="accent6">
              <a:lumMod val="20000"/>
              <a:lumOff val="80000"/>
            </a:schemeClr>
          </a:solidFill>
        </p:spPr>
        <p:txBody>
          <a:bodyPr wrap="square">
            <a:spAutoFit/>
          </a:bodyPr>
          <a:lstStyle/>
          <a:p>
            <a:pPr marL="285750" indent="-285750">
              <a:buFont typeface="Arial" panose="020B0604020202020204" pitchFamily="34" charset="0"/>
              <a:buChar char="•"/>
            </a:pPr>
            <a:r>
              <a:rPr lang="en-US" b="0" i="0">
                <a:solidFill>
                  <a:srgbClr val="0A0A0A"/>
                </a:solidFill>
                <a:effectLst/>
                <a:latin typeface="Google Sans"/>
              </a:rPr>
              <a:t>In many real-world reinforcement learning problems, the </a:t>
            </a:r>
            <a:r>
              <a:rPr lang="en-US" b="1" i="0">
                <a:solidFill>
                  <a:srgbClr val="0A0A0A"/>
                </a:solidFill>
                <a:effectLst/>
                <a:latin typeface="Google Sans"/>
              </a:rPr>
              <a:t>state and action spaces are too large to be represented </a:t>
            </a:r>
            <a:r>
              <a:rPr lang="en-US" b="0" i="0">
                <a:solidFill>
                  <a:srgbClr val="0A0A0A"/>
                </a:solidFill>
                <a:effectLst/>
                <a:latin typeface="Google Sans"/>
              </a:rPr>
              <a:t>explicitly in tables. </a:t>
            </a:r>
          </a:p>
          <a:p>
            <a:pPr marL="285750" indent="-285750">
              <a:buFont typeface="Arial" panose="020B0604020202020204" pitchFamily="34" charset="0"/>
              <a:buChar char="•"/>
            </a:pPr>
            <a:r>
              <a:rPr lang="en-US" b="1" i="0">
                <a:solidFill>
                  <a:srgbClr val="0A0A0A"/>
                </a:solidFill>
                <a:effectLst/>
                <a:latin typeface="Google Sans"/>
              </a:rPr>
              <a:t>Function approximation addresses this by using parameterized functions, such as neural networks</a:t>
            </a:r>
            <a:r>
              <a:rPr lang="en-US" b="0" i="0">
                <a:solidFill>
                  <a:srgbClr val="0A0A0A"/>
                </a:solidFill>
                <a:effectLst/>
                <a:latin typeface="Google Sans"/>
              </a:rPr>
              <a:t>, to represent the policy. </a:t>
            </a:r>
          </a:p>
          <a:p>
            <a:pPr marL="742950" lvl="1" indent="-285750">
              <a:buFont typeface="Arial" panose="020B0604020202020204" pitchFamily="34" charset="0"/>
              <a:buChar char="•"/>
            </a:pPr>
            <a:r>
              <a:rPr lang="en-US" b="0" i="0">
                <a:solidFill>
                  <a:srgbClr val="0A0A0A"/>
                </a:solidFill>
                <a:effectLst/>
                <a:latin typeface="Google Sans"/>
              </a:rPr>
              <a:t>Instead of storing a value for every state-action pair, a </a:t>
            </a:r>
            <a:r>
              <a:rPr lang="en-US" b="1" i="0">
                <a:solidFill>
                  <a:srgbClr val="0A0A0A"/>
                </a:solidFill>
                <a:effectLst/>
                <a:latin typeface="Google Sans"/>
              </a:rPr>
              <a:t>neural network takes the state as input and outputs the probability distribution over actions </a:t>
            </a:r>
            <a:r>
              <a:rPr lang="en-US" b="0" i="0">
                <a:solidFill>
                  <a:srgbClr val="0A0A0A"/>
                </a:solidFill>
                <a:effectLst/>
                <a:latin typeface="Google Sans"/>
              </a:rPr>
              <a:t>(or the parameters of a continuous action distribution). </a:t>
            </a:r>
          </a:p>
          <a:p>
            <a:pPr marL="742950" lvl="1" indent="-285750">
              <a:buFont typeface="Arial" panose="020B0604020202020204" pitchFamily="34" charset="0"/>
              <a:buChar char="•"/>
            </a:pPr>
            <a:r>
              <a:rPr lang="en-US" b="0" i="0">
                <a:solidFill>
                  <a:srgbClr val="0A0A0A"/>
                </a:solidFill>
                <a:effectLst/>
                <a:latin typeface="Google Sans"/>
              </a:rPr>
              <a:t>This enables the agent to generalize from limited experience to unseen states and actions, crucial for efficiency and robustness in high-dimensional environments.</a:t>
            </a:r>
            <a:endParaRPr lang="en-I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3717D16-4AEE-4F5F-30E0-09B6FE31DFDB}"/>
                  </a:ext>
                </a:extLst>
              </p:cNvPr>
              <p:cNvSpPr txBox="1"/>
              <p:nvPr/>
            </p:nvSpPr>
            <p:spPr>
              <a:xfrm>
                <a:off x="1659713" y="4551048"/>
                <a:ext cx="8641080" cy="1477328"/>
              </a:xfrm>
              <a:prstGeom prst="rect">
                <a:avLst/>
              </a:prstGeom>
              <a:solidFill>
                <a:schemeClr val="accent5">
                  <a:lumMod val="20000"/>
                  <a:lumOff val="80000"/>
                </a:schemeClr>
              </a:solidFill>
            </p:spPr>
            <p:txBody>
              <a:bodyPr wrap="square">
                <a:spAutoFit/>
              </a:bodyPr>
              <a:lstStyle/>
              <a:p>
                <a:pPr>
                  <a:buNone/>
                </a:pPr>
                <a:r>
                  <a:rPr lang="en-US"/>
                  <a:t>Tabular RL stores one value per state (or state–action). That breaks when:</a:t>
                </a:r>
              </a:p>
              <a:p>
                <a:pPr lvl="1">
                  <a:buFont typeface="Arial" panose="020B0604020202020204" pitchFamily="34" charset="0"/>
                  <a:buChar char="•"/>
                </a:pPr>
                <a:r>
                  <a:rPr lang="en-US"/>
                  <a:t>states are continuous or huge,</a:t>
                </a:r>
              </a:p>
              <a:p>
                <a:pPr lvl="1">
                  <a:buFont typeface="Arial" panose="020B0604020202020204" pitchFamily="34" charset="0"/>
                  <a:buChar char="•"/>
                </a:pPr>
                <a:r>
                  <a:rPr lang="en-US"/>
                  <a:t>you need generalization across similar states,</a:t>
                </a:r>
              </a:p>
              <a:p>
                <a:pPr lvl="1">
                  <a:buFont typeface="Arial" panose="020B0604020202020204" pitchFamily="34" charset="0"/>
                  <a:buChar char="•"/>
                </a:pPr>
                <a:r>
                  <a:rPr lang="en-US"/>
                  <a:t>observations are high-dimensional (images, signals).</a:t>
                </a:r>
              </a:p>
              <a:p>
                <a:pPr>
                  <a:buNone/>
                </a:pPr>
                <a:r>
                  <a:rPr lang="en-US" b="1"/>
                  <a:t>Fix:</a:t>
                </a:r>
                <a:r>
                  <a:rPr lang="en-US"/>
                  <a:t> approximate the value function with parameters </a:t>
                </a:r>
                <a14:m>
                  <m:oMath xmlns:m="http://schemas.openxmlformats.org/officeDocument/2006/math">
                    <m:r>
                      <a:rPr lang="en-US" b="1">
                        <a:latin typeface="Cambria Math" panose="02040503050406030204" pitchFamily="18" charset="0"/>
                      </a:rPr>
                      <m:t>𝐰</m:t>
                    </m:r>
                  </m:oMath>
                </a14:m>
                <a:r>
                  <a:rPr lang="en-US"/>
                  <a:t>(linear) or </a:t>
                </a:r>
                <a14:m>
                  <m:oMath xmlns:m="http://schemas.openxmlformats.org/officeDocument/2006/math">
                    <m:r>
                      <a:rPr lang="en-US" b="1" i="1">
                        <a:latin typeface="Cambria Math" panose="02040503050406030204" pitchFamily="18" charset="0"/>
                      </a:rPr>
                      <m:t>𝜽</m:t>
                    </m:r>
                  </m:oMath>
                </a14:m>
                <a:r>
                  <a:rPr lang="en-US"/>
                  <a:t>(neural nets).</a:t>
                </a:r>
              </a:p>
            </p:txBody>
          </p:sp>
        </mc:Choice>
        <mc:Fallback xmlns="">
          <p:sp>
            <p:nvSpPr>
              <p:cNvPr id="9" name="TextBox 8">
                <a:extLst>
                  <a:ext uri="{FF2B5EF4-FFF2-40B4-BE49-F238E27FC236}">
                    <a16:creationId xmlns:a16="http://schemas.microsoft.com/office/drawing/2014/main" id="{F3717D16-4AEE-4F5F-30E0-09B6FE31DFDB}"/>
                  </a:ext>
                </a:extLst>
              </p:cNvPr>
              <p:cNvSpPr txBox="1">
                <a:spLocks noRot="1" noChangeAspect="1" noMove="1" noResize="1" noEditPoints="1" noAdjustHandles="1" noChangeArrowheads="1" noChangeShapeType="1" noTextEdit="1"/>
              </p:cNvSpPr>
              <p:nvPr/>
            </p:nvSpPr>
            <p:spPr>
              <a:xfrm>
                <a:off x="1659713" y="4551048"/>
                <a:ext cx="8641080" cy="1477328"/>
              </a:xfrm>
              <a:prstGeom prst="rect">
                <a:avLst/>
              </a:prstGeom>
              <a:blipFill>
                <a:blip r:embed="rId2"/>
                <a:stretch>
                  <a:fillRect l="-564" t="-2479" b="-5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646D8C4-57AF-A3FC-410F-7CAB5E8C53FF}"/>
                  </a:ext>
                </a:extLst>
              </p:cNvPr>
              <p:cNvSpPr txBox="1"/>
              <p:nvPr/>
            </p:nvSpPr>
            <p:spPr>
              <a:xfrm>
                <a:off x="3120390" y="2748808"/>
                <a:ext cx="6332220" cy="1672124"/>
              </a:xfrm>
              <a:prstGeom prst="rect">
                <a:avLst/>
              </a:prstGeom>
              <a:noFill/>
            </p:spPr>
            <p:txBody>
              <a:bodyPr wrap="square">
                <a:spAutoFit/>
              </a:bodyPr>
              <a:lstStyle/>
              <a:p>
                <a:pPr>
                  <a:buNone/>
                </a:pPr>
                <a:r>
                  <a:rPr lang="en-IN"/>
                  <a:t>In </a:t>
                </a:r>
                <a:r>
                  <a:rPr lang="en-IN" b="1"/>
                  <a:t>vanilla Q-learning</a:t>
                </a:r>
                <a:r>
                  <a:rPr lang="en-IN"/>
                  <a:t>, we update: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r>
                        <a:rPr lang="ar-AE" i="0">
                          <a:latin typeface="Cambria Math" panose="02040503050406030204" pitchFamily="18" charset="0"/>
                        </a:rPr>
                        <m:t>←</m:t>
                      </m:r>
                      <m:r>
                        <a:rPr lang="ar-AE"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r>
                        <a:rPr lang="ar-AE" i="0">
                          <a:latin typeface="Cambria Math" panose="02040503050406030204" pitchFamily="18" charset="0"/>
                        </a:rPr>
                        <m:t>+</m:t>
                      </m:r>
                      <m:r>
                        <a:rPr lang="ar-AE" i="1">
                          <a:latin typeface="Cambria Math" panose="02040503050406030204" pitchFamily="18" charset="0"/>
                        </a:rPr>
                        <m:t>𝛼</m:t>
                      </m:r>
                      <m:r>
                        <a:rPr lang="ar-AE" i="0">
                          <a:latin typeface="Cambria Math" panose="02040503050406030204" pitchFamily="18" charset="0"/>
                        </a:rPr>
                        <m:t>[</m:t>
                      </m:r>
                      <m:r>
                        <a:rPr lang="ar-AE" i="1">
                          <a:latin typeface="Cambria Math" panose="02040503050406030204" pitchFamily="18" charset="0"/>
                        </a:rPr>
                        <m:t>𝑟</m:t>
                      </m:r>
                      <m:r>
                        <a:rPr lang="ar-AE" i="0">
                          <a:latin typeface="Cambria Math" panose="02040503050406030204" pitchFamily="18" charset="0"/>
                        </a:rPr>
                        <m:t>+</m:t>
                      </m:r>
                      <m:r>
                        <a:rPr lang="ar-AE" i="1">
                          <a:latin typeface="Cambria Math" panose="02040503050406030204" pitchFamily="18" charset="0"/>
                        </a:rPr>
                        <m:t>𝛾</m:t>
                      </m:r>
                      <m:limLow>
                        <m:limLowPr>
                          <m:ctrlPr>
                            <a:rPr lang="ar-AE" i="1">
                              <a:latin typeface="Cambria Math" panose="02040503050406030204" pitchFamily="18" charset="0"/>
                            </a:rPr>
                          </m:ctrlPr>
                        </m:limLowPr>
                        <m:e>
                          <m:func>
                            <m:funcPr>
                              <m:ctrlPr>
                                <a:rPr lang="ar-AE" i="1">
                                  <a:latin typeface="Cambria Math" panose="02040503050406030204" pitchFamily="18" charset="0"/>
                                </a:rPr>
                              </m:ctrlPr>
                            </m:funcPr>
                            <m:fName>
                              <m:r>
                                <m:rPr>
                                  <m:sty m:val="p"/>
                                </m:rPr>
                                <a:rPr lang="en-IN" i="0">
                                  <a:latin typeface="Cambria Math" panose="02040503050406030204" pitchFamily="18" charset="0"/>
                                </a:rPr>
                                <m:t>max</m:t>
                              </m:r>
                            </m:fName>
                            <m:e/>
                          </m:func>
                        </m:e>
                        <m:lim>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lim>
                      </m:limLow>
                      <m:r>
                        <a:rPr lang="ar-AE" i="1">
                          <a:latin typeface="Cambria Math" panose="02040503050406030204" pitchFamily="18" charset="0"/>
                        </a:rPr>
                        <m:t>𝑄</m:t>
                      </m:r>
                      <m:d>
                        <m:dPr>
                          <m:sepChr m:val=","/>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𝑠</m:t>
                              </m:r>
                            </m:e>
                            <m:sup>
                              <m:r>
                                <a:rPr lang="ar-AE" i="0">
                                  <a:latin typeface="Cambria Math" panose="02040503050406030204" pitchFamily="18" charset="0"/>
                                </a:rPr>
                                <m:t>′</m:t>
                              </m:r>
                            </m:sup>
                          </m:sSup>
                        </m:e>
                        <m:e>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e>
                      </m:d>
                      <m:r>
                        <a:rPr lang="ar-AE" i="0">
                          <a:latin typeface="Cambria Math" panose="02040503050406030204" pitchFamily="18" charset="0"/>
                        </a:rPr>
                        <m:t>−</m:t>
                      </m:r>
                      <m:r>
                        <a:rPr lang="ar-AE"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r>
                        <a:rPr lang="ar-AE" i="0">
                          <a:latin typeface="Cambria Math" panose="02040503050406030204" pitchFamily="18" charset="0"/>
                        </a:rPr>
                        <m:t>]</m:t>
                      </m:r>
                    </m:oMath>
                  </m:oMathPara>
                </a14:m>
                <a:endParaRPr lang="ar-AE"/>
              </a:p>
              <a:p>
                <a:pPr>
                  <a:buNone/>
                </a:pPr>
                <a:r>
                  <a:rPr lang="en-IN"/>
                  <a:t>In </a:t>
                </a:r>
                <a:r>
                  <a:rPr lang="en-IN" b="1"/>
                  <a:t>DQN</a:t>
                </a:r>
                <a:r>
                  <a:rPr lang="en-IN"/>
                  <a:t>, we replace </a:t>
                </a:r>
                <a14:m>
                  <m:oMath xmlns:m="http://schemas.openxmlformats.org/officeDocument/2006/math">
                    <m:r>
                      <a:rPr lang="en-IN"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oMath>
                </a14:m>
                <a:r>
                  <a:rPr lang="en-IN"/>
                  <a:t>with a neural network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oMath>
                </a14:m>
                <a:r>
                  <a:rPr lang="ar-AE"/>
                  <a:t>.</a:t>
                </a:r>
                <a:br>
                  <a:rPr lang="ar-AE"/>
                </a:br>
                <a:r>
                  <a:rPr lang="en-IN"/>
                  <a:t>So we minimize the loss: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𝐿</m:t>
                      </m:r>
                      <m:d>
                        <m:dPr>
                          <m:ctrlPr>
                            <a:rPr lang="ar-AE" i="1">
                              <a:latin typeface="Cambria Math" panose="02040503050406030204" pitchFamily="18" charset="0"/>
                            </a:rPr>
                          </m:ctrlPr>
                        </m:dPr>
                        <m:e>
                          <m:r>
                            <a:rPr lang="ar-AE" i="1">
                              <a:latin typeface="Cambria Math" panose="02040503050406030204" pitchFamily="18" charset="0"/>
                            </a:rPr>
                            <m:t>𝜃</m:t>
                          </m:r>
                        </m:e>
                      </m:d>
                      <m:r>
                        <a:rPr lang="ar-AE" i="0">
                          <a:latin typeface="Cambria Math" panose="02040503050406030204" pitchFamily="18" charset="0"/>
                        </a:rPr>
                        <m:t>=[</m:t>
                      </m:r>
                      <m:r>
                        <a:rPr lang="ar-AE" i="1">
                          <a:latin typeface="Cambria Math" panose="02040503050406030204" pitchFamily="18" charset="0"/>
                        </a:rPr>
                        <m:t>𝑟</m:t>
                      </m:r>
                      <m:r>
                        <a:rPr lang="ar-AE" i="0">
                          <a:latin typeface="Cambria Math" panose="02040503050406030204" pitchFamily="18" charset="0"/>
                        </a:rPr>
                        <m:t>+</m:t>
                      </m:r>
                      <m:r>
                        <a:rPr lang="ar-AE" i="1">
                          <a:latin typeface="Cambria Math" panose="02040503050406030204" pitchFamily="18" charset="0"/>
                        </a:rPr>
                        <m:t>𝛾</m:t>
                      </m:r>
                      <m:limLow>
                        <m:limLowPr>
                          <m:ctrlPr>
                            <a:rPr lang="ar-AE" i="1">
                              <a:latin typeface="Cambria Math" panose="02040503050406030204" pitchFamily="18" charset="0"/>
                            </a:rPr>
                          </m:ctrlPr>
                        </m:limLowPr>
                        <m:e>
                          <m:func>
                            <m:funcPr>
                              <m:ctrlPr>
                                <a:rPr lang="ar-AE" i="1">
                                  <a:latin typeface="Cambria Math" panose="02040503050406030204" pitchFamily="18" charset="0"/>
                                </a:rPr>
                              </m:ctrlPr>
                            </m:funcPr>
                            <m:fName>
                              <m:r>
                                <m:rPr>
                                  <m:sty m:val="p"/>
                                </m:rPr>
                                <a:rPr lang="en-IN" i="0">
                                  <a:latin typeface="Cambria Math" panose="02040503050406030204" pitchFamily="18" charset="0"/>
                                </a:rPr>
                                <m:t>max</m:t>
                              </m:r>
                            </m:fName>
                            <m:e/>
                          </m:func>
                        </m:e>
                        <m:lim>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lim>
                      </m:limLow>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𝑠</m:t>
                              </m:r>
                            </m:e>
                            <m:sup>
                              <m:r>
                                <a:rPr lang="ar-AE" i="0">
                                  <a:latin typeface="Cambria Math" panose="02040503050406030204" pitchFamily="18" charset="0"/>
                                </a:rPr>
                                <m:t>′</m:t>
                              </m:r>
                            </m:sup>
                          </m:sSup>
                        </m:e>
                        <m:e>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e>
                      </m:d>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sSup>
                        <m:sSupPr>
                          <m:ctrlPr>
                            <a:rPr lang="ar-AE" i="1">
                              <a:latin typeface="Cambria Math" panose="02040503050406030204" pitchFamily="18" charset="0"/>
                            </a:rPr>
                          </m:ctrlPr>
                        </m:sSupPr>
                        <m:e>
                          <m:r>
                            <a:rPr lang="ar-AE" i="0">
                              <a:latin typeface="Cambria Math" panose="02040503050406030204" pitchFamily="18" charset="0"/>
                            </a:rPr>
                            <m:t>]</m:t>
                          </m:r>
                        </m:e>
                        <m:sup>
                          <m:r>
                            <a:rPr lang="ar-AE" i="0">
                              <a:latin typeface="Cambria Math" panose="02040503050406030204" pitchFamily="18" charset="0"/>
                            </a:rPr>
                            <m:t>2</m:t>
                          </m:r>
                        </m:sup>
                      </m:sSup>
                    </m:oMath>
                  </m:oMathPara>
                </a14:m>
                <a:endParaRPr lang="ar-AE"/>
              </a:p>
            </p:txBody>
          </p:sp>
        </mc:Choice>
        <mc:Fallback xmlns="">
          <p:sp>
            <p:nvSpPr>
              <p:cNvPr id="6" name="TextBox 5">
                <a:extLst>
                  <a:ext uri="{FF2B5EF4-FFF2-40B4-BE49-F238E27FC236}">
                    <a16:creationId xmlns:a16="http://schemas.microsoft.com/office/drawing/2014/main" id="{A646D8C4-57AF-A3FC-410F-7CAB5E8C53FF}"/>
                  </a:ext>
                </a:extLst>
              </p:cNvPr>
              <p:cNvSpPr txBox="1">
                <a:spLocks noRot="1" noChangeAspect="1" noMove="1" noResize="1" noEditPoints="1" noAdjustHandles="1" noChangeArrowheads="1" noChangeShapeType="1" noTextEdit="1"/>
              </p:cNvSpPr>
              <p:nvPr/>
            </p:nvSpPr>
            <p:spPr>
              <a:xfrm>
                <a:off x="3120390" y="2748808"/>
                <a:ext cx="6332220" cy="1672124"/>
              </a:xfrm>
              <a:prstGeom prst="rect">
                <a:avLst/>
              </a:prstGeom>
              <a:blipFill>
                <a:blip r:embed="rId3"/>
                <a:stretch>
                  <a:fillRect l="-866" t="-2190"/>
                </a:stretch>
              </a:blipFill>
            </p:spPr>
            <p:txBody>
              <a:bodyPr/>
              <a:lstStyle/>
              <a:p>
                <a:r>
                  <a:rPr lang="en-US">
                    <a:noFill/>
                  </a:rPr>
                  <a:t> </a:t>
                </a:r>
              </a:p>
            </p:txBody>
          </p:sp>
        </mc:Fallback>
      </mc:AlternateContent>
    </p:spTree>
    <p:extLst>
      <p:ext uri="{BB962C8B-B14F-4D97-AF65-F5344CB8AC3E}">
        <p14:creationId xmlns:p14="http://schemas.microsoft.com/office/powerpoint/2010/main" val="2350640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BB113A-7F47-7603-64CE-CB7C508220D3}"/>
              </a:ext>
            </a:extLst>
          </p:cNvPr>
          <p:cNvPicPr>
            <a:picLocks noChangeAspect="1"/>
          </p:cNvPicPr>
          <p:nvPr/>
        </p:nvPicPr>
        <p:blipFill>
          <a:blip r:embed="rId2"/>
          <a:stretch>
            <a:fillRect/>
          </a:stretch>
        </p:blipFill>
        <p:spPr>
          <a:xfrm>
            <a:off x="2225040" y="100299"/>
            <a:ext cx="8707898" cy="6076664"/>
          </a:xfrm>
          <a:prstGeom prst="rect">
            <a:avLst/>
          </a:prstGeom>
        </p:spPr>
      </p:pic>
    </p:spTree>
    <p:extLst>
      <p:ext uri="{BB962C8B-B14F-4D97-AF65-F5344CB8AC3E}">
        <p14:creationId xmlns:p14="http://schemas.microsoft.com/office/powerpoint/2010/main" val="709049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E02CB3-B981-97EA-A557-69464ACB8E5F}"/>
              </a:ext>
            </a:extLst>
          </p:cNvPr>
          <p:cNvSpPr>
            <a:spLocks noGrp="1"/>
          </p:cNvSpPr>
          <p:nvPr>
            <p:ph type="ctrTitle"/>
          </p:nvPr>
        </p:nvSpPr>
        <p:spPr/>
        <p:txBody>
          <a:bodyPr/>
          <a:lstStyle/>
          <a:p>
            <a:r>
              <a:rPr lang="en-IN"/>
              <a:t>Deep Q Network(DQN)</a:t>
            </a:r>
          </a:p>
        </p:txBody>
      </p:sp>
      <p:sp>
        <p:nvSpPr>
          <p:cNvPr id="5" name="Subtitle 4">
            <a:extLst>
              <a:ext uri="{FF2B5EF4-FFF2-40B4-BE49-F238E27FC236}">
                <a16:creationId xmlns:a16="http://schemas.microsoft.com/office/drawing/2014/main" id="{BB2BA4DD-7418-8323-BD8A-4D47640DE20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28755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14C6-5049-6DE1-2D77-2EB8EF098F18}"/>
              </a:ext>
            </a:extLst>
          </p:cNvPr>
          <p:cNvSpPr>
            <a:spLocks noGrp="1"/>
          </p:cNvSpPr>
          <p:nvPr>
            <p:ph type="title"/>
          </p:nvPr>
        </p:nvSpPr>
        <p:spPr/>
        <p:txBody>
          <a:bodyPr>
            <a:normAutofit fontScale="90000"/>
          </a:bodyPr>
          <a:lstStyle/>
          <a:p>
            <a:r>
              <a:rPr lang="en-IN"/>
              <a:t>Limitations of traditional Q-Learning</a:t>
            </a:r>
          </a:p>
        </p:txBody>
      </p:sp>
      <p:sp>
        <p:nvSpPr>
          <p:cNvPr id="5" name="TextBox 4">
            <a:extLst>
              <a:ext uri="{FF2B5EF4-FFF2-40B4-BE49-F238E27FC236}">
                <a16:creationId xmlns:a16="http://schemas.microsoft.com/office/drawing/2014/main" id="{681962DC-2EB9-BA45-C18C-FA66A0C4B8A7}"/>
              </a:ext>
            </a:extLst>
          </p:cNvPr>
          <p:cNvSpPr txBox="1"/>
          <p:nvPr/>
        </p:nvSpPr>
        <p:spPr>
          <a:xfrm>
            <a:off x="1258824" y="1997839"/>
            <a:ext cx="9372600" cy="3046988"/>
          </a:xfrm>
          <a:prstGeom prst="rect">
            <a:avLst/>
          </a:prstGeom>
          <a:noFill/>
        </p:spPr>
        <p:txBody>
          <a:bodyPr wrap="square">
            <a:spAutoFit/>
          </a:bodyPr>
          <a:lstStyle/>
          <a:p>
            <a:pPr algn="l">
              <a:buNone/>
            </a:pPr>
            <a:r>
              <a:rPr lang="en-US" sz="2400" b="1" i="0">
                <a:solidFill>
                  <a:srgbClr val="2A2A2A"/>
                </a:solidFill>
                <a:effectLst/>
                <a:latin typeface="Work Sans" pitchFamily="2" charset="0"/>
              </a:rPr>
              <a:t>Scalability Issues</a:t>
            </a:r>
            <a:r>
              <a:rPr lang="en-US" sz="2400" b="0" i="0">
                <a:solidFill>
                  <a:srgbClr val="2A2A2A"/>
                </a:solidFill>
                <a:effectLst/>
                <a:latin typeface="Work Sans" pitchFamily="2" charset="0"/>
              </a:rPr>
              <a:t>: </a:t>
            </a:r>
            <a:r>
              <a:rPr lang="en-US" b="0" i="0">
                <a:solidFill>
                  <a:srgbClr val="2A2A2A"/>
                </a:solidFill>
                <a:effectLst/>
                <a:latin typeface="Work Sans" pitchFamily="2" charset="0"/>
              </a:rPr>
              <a:t>Traditional Q-Learning maintains a Q-table where each state-action pair is mapped to a Q-value. As the state space grows, especially in high-dimensional or continuous environments, </a:t>
            </a:r>
            <a:r>
              <a:rPr lang="en-US" b="1" i="0">
                <a:solidFill>
                  <a:srgbClr val="C00000"/>
                </a:solidFill>
                <a:effectLst/>
                <a:latin typeface="Work Sans" pitchFamily="2" charset="0"/>
              </a:rPr>
              <a:t>the Q-table becomes impractically large</a:t>
            </a:r>
            <a:r>
              <a:rPr lang="en-US" b="0" i="0">
                <a:solidFill>
                  <a:srgbClr val="2A2A2A"/>
                </a:solidFill>
                <a:effectLst/>
                <a:latin typeface="Work Sans" pitchFamily="2" charset="0"/>
              </a:rPr>
              <a:t>, leading to memory inefficiency and slow learning processes.</a:t>
            </a:r>
          </a:p>
          <a:p>
            <a:pPr algn="l">
              <a:buNone/>
            </a:pPr>
            <a:endParaRPr lang="en-US" b="0" i="0">
              <a:solidFill>
                <a:srgbClr val="2A2A2A"/>
              </a:solidFill>
              <a:effectLst/>
              <a:latin typeface="Work Sans" pitchFamily="2" charset="0"/>
            </a:endParaRPr>
          </a:p>
          <a:p>
            <a:pPr algn="l">
              <a:buNone/>
            </a:pPr>
            <a:r>
              <a:rPr lang="en-US" sz="2400" b="1">
                <a:solidFill>
                  <a:srgbClr val="2A2A2A"/>
                </a:solidFill>
                <a:latin typeface="Work Sans" pitchFamily="2" charset="0"/>
              </a:rPr>
              <a:t>Discrete State and Action Spaces:</a:t>
            </a:r>
            <a:r>
              <a:rPr lang="en-US" b="0" i="0">
                <a:solidFill>
                  <a:srgbClr val="2A2A2A"/>
                </a:solidFill>
                <a:effectLst/>
                <a:latin typeface="Work Sans" pitchFamily="2" charset="0"/>
              </a:rPr>
              <a:t> Q-Learning works well with environments where the states and actions are discrete and finite. However, many </a:t>
            </a:r>
            <a:r>
              <a:rPr lang="en-US" b="1">
                <a:solidFill>
                  <a:srgbClr val="C00000"/>
                </a:solidFill>
                <a:latin typeface="Work Sans" pitchFamily="2" charset="0"/>
              </a:rPr>
              <a:t>real-world problems involve continuous state and action spaces</a:t>
            </a:r>
            <a:r>
              <a:rPr lang="en-US" b="0" i="0">
                <a:solidFill>
                  <a:srgbClr val="2A2A2A"/>
                </a:solidFill>
                <a:effectLst/>
                <a:latin typeface="Work Sans" pitchFamily="2" charset="0"/>
              </a:rPr>
              <a:t>, which traditional </a:t>
            </a:r>
            <a:r>
              <a:rPr lang="en-US" b="1">
                <a:solidFill>
                  <a:srgbClr val="C00000"/>
                </a:solidFill>
                <a:latin typeface="Work Sans" pitchFamily="2" charset="0"/>
              </a:rPr>
              <a:t>Q-Learning cannot handle efficiently without discretizing </a:t>
            </a:r>
            <a:r>
              <a:rPr lang="en-US" b="0" i="0">
                <a:solidFill>
                  <a:srgbClr val="2A2A2A"/>
                </a:solidFill>
                <a:effectLst/>
                <a:latin typeface="Work Sans" pitchFamily="2" charset="0"/>
              </a:rPr>
              <a:t>these spaces, which can lead to a loss of information and suboptimal policies.</a:t>
            </a:r>
          </a:p>
        </p:txBody>
      </p:sp>
    </p:spTree>
    <p:extLst>
      <p:ext uri="{BB962C8B-B14F-4D97-AF65-F5344CB8AC3E}">
        <p14:creationId xmlns:p14="http://schemas.microsoft.com/office/powerpoint/2010/main" val="3331903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98986D-61F4-41FD-4E55-9FB0C2CCEB25}"/>
              </a:ext>
            </a:extLst>
          </p:cNvPr>
          <p:cNvSpPr>
            <a:spLocks noGrp="1"/>
          </p:cNvSpPr>
          <p:nvPr>
            <p:ph type="title"/>
          </p:nvPr>
        </p:nvSpPr>
        <p:spPr/>
        <p:txBody>
          <a:bodyPr>
            <a:normAutofit fontScale="90000"/>
          </a:bodyPr>
          <a:lstStyle/>
          <a:p>
            <a:endParaRPr lang="en-IN"/>
          </a:p>
        </p:txBody>
      </p:sp>
      <p:sp>
        <p:nvSpPr>
          <p:cNvPr id="5" name="Content Placeholder 4">
            <a:extLst>
              <a:ext uri="{FF2B5EF4-FFF2-40B4-BE49-F238E27FC236}">
                <a16:creationId xmlns:a16="http://schemas.microsoft.com/office/drawing/2014/main" id="{5E31B26A-5D69-080C-CB44-BAE4627B0498}"/>
              </a:ext>
            </a:extLst>
          </p:cNvPr>
          <p:cNvSpPr>
            <a:spLocks noGrp="1"/>
          </p:cNvSpPr>
          <p:nvPr>
            <p:ph idx="1"/>
          </p:nvPr>
        </p:nvSpPr>
        <p:spPr/>
        <p:txBody>
          <a:bodyPr/>
          <a:lstStyle/>
          <a:p>
            <a:endParaRPr lang="en-IN"/>
          </a:p>
        </p:txBody>
      </p:sp>
      <p:sp>
        <p:nvSpPr>
          <p:cNvPr id="7" name="TextBox 6">
            <a:extLst>
              <a:ext uri="{FF2B5EF4-FFF2-40B4-BE49-F238E27FC236}">
                <a16:creationId xmlns:a16="http://schemas.microsoft.com/office/drawing/2014/main" id="{41A7EADD-4DF3-7883-F8CB-17417418DFBB}"/>
              </a:ext>
            </a:extLst>
          </p:cNvPr>
          <p:cNvSpPr txBox="1"/>
          <p:nvPr/>
        </p:nvSpPr>
        <p:spPr>
          <a:xfrm>
            <a:off x="283464" y="165253"/>
            <a:ext cx="11173968" cy="1631216"/>
          </a:xfrm>
          <a:prstGeom prst="rect">
            <a:avLst/>
          </a:prstGeom>
          <a:solidFill>
            <a:schemeClr val="accent4">
              <a:lumMod val="20000"/>
              <a:lumOff val="80000"/>
            </a:schemeClr>
          </a:solidFill>
        </p:spPr>
        <p:txBody>
          <a:bodyPr wrap="square">
            <a:spAutoFit/>
          </a:bodyPr>
          <a:lstStyle/>
          <a:p>
            <a:r>
              <a:rPr lang="en-US" sz="2000" b="1" i="0">
                <a:solidFill>
                  <a:srgbClr val="2A2A2A"/>
                </a:solidFill>
                <a:effectLst/>
                <a:latin typeface="Work Sans" panose="020F0502020204030204" pitchFamily="2" charset="0"/>
              </a:rPr>
              <a:t>Traditional Q-learning </a:t>
            </a:r>
            <a:r>
              <a:rPr lang="en-US" sz="2000" b="0" i="0">
                <a:solidFill>
                  <a:srgbClr val="2A2A2A"/>
                </a:solidFill>
                <a:effectLst/>
                <a:latin typeface="Work Sans" panose="020F0502020204030204" pitchFamily="2" charset="0"/>
              </a:rPr>
              <a:t>has its challenges. It struggles with scalability as the state space grows and is less effective in environments with continuous state and action spaces. This is where Deep Q Networks (DQNs) come in. DQNs use neural networks to approximate the Q-values, enabling agents to handle larger and more complex environments effectively.</a:t>
            </a:r>
            <a:endParaRPr lang="en-IN" sz="2000"/>
          </a:p>
        </p:txBody>
      </p:sp>
      <p:sp>
        <p:nvSpPr>
          <p:cNvPr id="9" name="TextBox 8">
            <a:extLst>
              <a:ext uri="{FF2B5EF4-FFF2-40B4-BE49-F238E27FC236}">
                <a16:creationId xmlns:a16="http://schemas.microsoft.com/office/drawing/2014/main" id="{327B6EAA-A0FD-0038-42C6-A5ABF2062DC5}"/>
              </a:ext>
            </a:extLst>
          </p:cNvPr>
          <p:cNvSpPr txBox="1"/>
          <p:nvPr/>
        </p:nvSpPr>
        <p:spPr>
          <a:xfrm>
            <a:off x="2493264" y="1909223"/>
            <a:ext cx="7205472" cy="1200329"/>
          </a:xfrm>
          <a:prstGeom prst="rect">
            <a:avLst/>
          </a:prstGeom>
          <a:solidFill>
            <a:schemeClr val="accent5">
              <a:lumMod val="20000"/>
              <a:lumOff val="80000"/>
            </a:schemeClr>
          </a:solidFill>
        </p:spPr>
        <p:txBody>
          <a:bodyPr wrap="square">
            <a:spAutoFit/>
          </a:bodyPr>
          <a:lstStyle/>
          <a:p>
            <a:r>
              <a:rPr lang="en-US" b="1" i="0">
                <a:solidFill>
                  <a:srgbClr val="2A2A2A"/>
                </a:solidFill>
                <a:effectLst/>
                <a:latin typeface="Work Sans" pitchFamily="2" charset="0"/>
              </a:rPr>
              <a:t>Deep Q-networks (DQNs) combine the principles of Q-Learning with the function approximation capabilities of neural networks</a:t>
            </a:r>
            <a:r>
              <a:rPr lang="en-US" b="0" i="0">
                <a:solidFill>
                  <a:srgbClr val="2A2A2A"/>
                </a:solidFill>
                <a:effectLst/>
                <a:latin typeface="Work Sans" pitchFamily="2" charset="0"/>
              </a:rPr>
              <a:t>. By doing so, they address the key limitations of traditional Q-learning.</a:t>
            </a:r>
            <a:endParaRPr lang="en-IN"/>
          </a:p>
        </p:txBody>
      </p:sp>
      <p:sp>
        <p:nvSpPr>
          <p:cNvPr id="2" name="TextBox 1">
            <a:extLst>
              <a:ext uri="{FF2B5EF4-FFF2-40B4-BE49-F238E27FC236}">
                <a16:creationId xmlns:a16="http://schemas.microsoft.com/office/drawing/2014/main" id="{878C44E0-F2B1-1EE5-8E52-1F79ABB4E48B}"/>
              </a:ext>
            </a:extLst>
          </p:cNvPr>
          <p:cNvSpPr txBox="1"/>
          <p:nvPr/>
        </p:nvSpPr>
        <p:spPr>
          <a:xfrm>
            <a:off x="283464" y="4895602"/>
            <a:ext cx="11070336" cy="1477328"/>
          </a:xfrm>
          <a:prstGeom prst="rect">
            <a:avLst/>
          </a:prstGeom>
          <a:solidFill>
            <a:schemeClr val="accent4">
              <a:lumMod val="20000"/>
              <a:lumOff val="80000"/>
            </a:schemeClr>
          </a:solidFill>
        </p:spPr>
        <p:txBody>
          <a:bodyPr wrap="square">
            <a:spAutoFit/>
          </a:bodyPr>
          <a:lstStyle/>
          <a:p>
            <a:r>
              <a:rPr lang="en-US" b="0" i="0">
                <a:solidFill>
                  <a:srgbClr val="2A2A2A"/>
                </a:solidFill>
                <a:effectLst/>
                <a:latin typeface="Work Sans" pitchFamily="2" charset="0"/>
              </a:rPr>
              <a:t>Instead of storing Q-values in a table, </a:t>
            </a:r>
            <a:r>
              <a:rPr lang="en-US" b="1" i="0">
                <a:solidFill>
                  <a:srgbClr val="2A2A2A"/>
                </a:solidFill>
                <a:effectLst/>
                <a:latin typeface="Work Sans" pitchFamily="2" charset="0"/>
              </a:rPr>
              <a:t>DQNs use a neural network to approximate the Q-function</a:t>
            </a:r>
            <a:r>
              <a:rPr lang="en-US" b="0" i="0">
                <a:solidFill>
                  <a:srgbClr val="2A2A2A"/>
                </a:solidFill>
                <a:effectLst/>
                <a:latin typeface="Work Sans" pitchFamily="2" charset="0"/>
              </a:rPr>
              <a:t>. This network takes the state as input and outputs Q-values for all possible actions. By training the network with experiences from the environment, the agent learns to predict the expected rewards for each action, effectively generalizing across a large number of states and actions.</a:t>
            </a:r>
            <a:endParaRPr lang="en-IN"/>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056027A-827C-11EA-AA49-6693F441ECB1}"/>
                  </a:ext>
                </a:extLst>
              </p:cNvPr>
              <p:cNvSpPr txBox="1"/>
              <p:nvPr/>
            </p:nvSpPr>
            <p:spPr>
              <a:xfrm>
                <a:off x="2929890" y="3150654"/>
                <a:ext cx="6332220" cy="1672124"/>
              </a:xfrm>
              <a:prstGeom prst="rect">
                <a:avLst/>
              </a:prstGeom>
              <a:noFill/>
            </p:spPr>
            <p:txBody>
              <a:bodyPr wrap="square">
                <a:spAutoFit/>
              </a:bodyPr>
              <a:lstStyle/>
              <a:p>
                <a:pPr>
                  <a:buNone/>
                </a:pPr>
                <a:r>
                  <a:rPr lang="en-IN"/>
                  <a:t>In </a:t>
                </a:r>
                <a:r>
                  <a:rPr lang="en-IN" b="1"/>
                  <a:t>vanilla Q-learning</a:t>
                </a:r>
                <a:r>
                  <a:rPr lang="en-IN"/>
                  <a:t>, we update: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r>
                        <a:rPr lang="ar-AE" i="0">
                          <a:latin typeface="Cambria Math" panose="02040503050406030204" pitchFamily="18" charset="0"/>
                        </a:rPr>
                        <m:t>←</m:t>
                      </m:r>
                      <m:r>
                        <a:rPr lang="ar-AE"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r>
                        <a:rPr lang="ar-AE" i="0">
                          <a:latin typeface="Cambria Math" panose="02040503050406030204" pitchFamily="18" charset="0"/>
                        </a:rPr>
                        <m:t>+</m:t>
                      </m:r>
                      <m:r>
                        <a:rPr lang="ar-AE" i="1">
                          <a:latin typeface="Cambria Math" panose="02040503050406030204" pitchFamily="18" charset="0"/>
                        </a:rPr>
                        <m:t>𝛼</m:t>
                      </m:r>
                      <m:r>
                        <a:rPr lang="ar-AE" i="0">
                          <a:latin typeface="Cambria Math" panose="02040503050406030204" pitchFamily="18" charset="0"/>
                        </a:rPr>
                        <m:t>[</m:t>
                      </m:r>
                      <m:r>
                        <a:rPr lang="ar-AE" i="1">
                          <a:latin typeface="Cambria Math" panose="02040503050406030204" pitchFamily="18" charset="0"/>
                        </a:rPr>
                        <m:t>𝑟</m:t>
                      </m:r>
                      <m:r>
                        <a:rPr lang="ar-AE" i="0">
                          <a:latin typeface="Cambria Math" panose="02040503050406030204" pitchFamily="18" charset="0"/>
                        </a:rPr>
                        <m:t>+</m:t>
                      </m:r>
                      <m:r>
                        <a:rPr lang="ar-AE" i="1">
                          <a:latin typeface="Cambria Math" panose="02040503050406030204" pitchFamily="18" charset="0"/>
                        </a:rPr>
                        <m:t>𝛾</m:t>
                      </m:r>
                      <m:limLow>
                        <m:limLowPr>
                          <m:ctrlPr>
                            <a:rPr lang="ar-AE" i="1">
                              <a:latin typeface="Cambria Math" panose="02040503050406030204" pitchFamily="18" charset="0"/>
                            </a:rPr>
                          </m:ctrlPr>
                        </m:limLowPr>
                        <m:e>
                          <m:func>
                            <m:funcPr>
                              <m:ctrlPr>
                                <a:rPr lang="ar-AE" i="1">
                                  <a:latin typeface="Cambria Math" panose="02040503050406030204" pitchFamily="18" charset="0"/>
                                </a:rPr>
                              </m:ctrlPr>
                            </m:funcPr>
                            <m:fName>
                              <m:r>
                                <m:rPr>
                                  <m:sty m:val="p"/>
                                </m:rPr>
                                <a:rPr lang="en-IN" i="0">
                                  <a:latin typeface="Cambria Math" panose="02040503050406030204" pitchFamily="18" charset="0"/>
                                </a:rPr>
                                <m:t>max</m:t>
                              </m:r>
                            </m:fName>
                            <m:e/>
                          </m:func>
                        </m:e>
                        <m:lim>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lim>
                      </m:limLow>
                      <m:r>
                        <a:rPr lang="ar-AE" i="1">
                          <a:latin typeface="Cambria Math" panose="02040503050406030204" pitchFamily="18" charset="0"/>
                        </a:rPr>
                        <m:t>𝑄</m:t>
                      </m:r>
                      <m:d>
                        <m:dPr>
                          <m:sepChr m:val=","/>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𝑠</m:t>
                              </m:r>
                            </m:e>
                            <m:sup>
                              <m:r>
                                <a:rPr lang="ar-AE" i="0">
                                  <a:latin typeface="Cambria Math" panose="02040503050406030204" pitchFamily="18" charset="0"/>
                                </a:rPr>
                                <m:t>′</m:t>
                              </m:r>
                            </m:sup>
                          </m:sSup>
                        </m:e>
                        <m:e>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e>
                      </m:d>
                      <m:r>
                        <a:rPr lang="ar-AE" i="0">
                          <a:latin typeface="Cambria Math" panose="02040503050406030204" pitchFamily="18" charset="0"/>
                        </a:rPr>
                        <m:t>−</m:t>
                      </m:r>
                      <m:r>
                        <a:rPr lang="ar-AE"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r>
                        <a:rPr lang="ar-AE" i="0">
                          <a:latin typeface="Cambria Math" panose="02040503050406030204" pitchFamily="18" charset="0"/>
                        </a:rPr>
                        <m:t>]</m:t>
                      </m:r>
                    </m:oMath>
                  </m:oMathPara>
                </a14:m>
                <a:endParaRPr lang="ar-AE"/>
              </a:p>
              <a:p>
                <a:pPr>
                  <a:buNone/>
                </a:pPr>
                <a:r>
                  <a:rPr lang="en-IN"/>
                  <a:t>In </a:t>
                </a:r>
                <a:r>
                  <a:rPr lang="en-IN" b="1"/>
                  <a:t>DQN</a:t>
                </a:r>
                <a:r>
                  <a:rPr lang="en-IN"/>
                  <a:t>, we replace </a:t>
                </a:r>
                <a14:m>
                  <m:oMath xmlns:m="http://schemas.openxmlformats.org/officeDocument/2006/math">
                    <m:r>
                      <a:rPr lang="en-IN"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oMath>
                </a14:m>
                <a:r>
                  <a:rPr lang="en-IN"/>
                  <a:t>with a neural network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oMath>
                </a14:m>
                <a:r>
                  <a:rPr lang="ar-AE"/>
                  <a:t>.</a:t>
                </a:r>
                <a:br>
                  <a:rPr lang="ar-AE"/>
                </a:br>
                <a:r>
                  <a:rPr lang="en-IN"/>
                  <a:t>So we minimize the loss: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𝐿</m:t>
                      </m:r>
                      <m:d>
                        <m:dPr>
                          <m:ctrlPr>
                            <a:rPr lang="ar-AE" i="1">
                              <a:latin typeface="Cambria Math" panose="02040503050406030204" pitchFamily="18" charset="0"/>
                            </a:rPr>
                          </m:ctrlPr>
                        </m:dPr>
                        <m:e>
                          <m:r>
                            <a:rPr lang="ar-AE" i="1">
                              <a:latin typeface="Cambria Math" panose="02040503050406030204" pitchFamily="18" charset="0"/>
                            </a:rPr>
                            <m:t>𝜃</m:t>
                          </m:r>
                        </m:e>
                      </m:d>
                      <m:r>
                        <a:rPr lang="ar-AE" i="0">
                          <a:latin typeface="Cambria Math" panose="02040503050406030204" pitchFamily="18" charset="0"/>
                        </a:rPr>
                        <m:t>=[</m:t>
                      </m:r>
                      <m:r>
                        <a:rPr lang="ar-AE" i="1">
                          <a:latin typeface="Cambria Math" panose="02040503050406030204" pitchFamily="18" charset="0"/>
                        </a:rPr>
                        <m:t>𝑟</m:t>
                      </m:r>
                      <m:r>
                        <a:rPr lang="ar-AE" i="0">
                          <a:latin typeface="Cambria Math" panose="02040503050406030204" pitchFamily="18" charset="0"/>
                        </a:rPr>
                        <m:t>+</m:t>
                      </m:r>
                      <m:r>
                        <a:rPr lang="ar-AE" i="1">
                          <a:latin typeface="Cambria Math" panose="02040503050406030204" pitchFamily="18" charset="0"/>
                        </a:rPr>
                        <m:t>𝛾</m:t>
                      </m:r>
                      <m:limLow>
                        <m:limLowPr>
                          <m:ctrlPr>
                            <a:rPr lang="ar-AE" i="1">
                              <a:latin typeface="Cambria Math" panose="02040503050406030204" pitchFamily="18" charset="0"/>
                            </a:rPr>
                          </m:ctrlPr>
                        </m:limLowPr>
                        <m:e>
                          <m:func>
                            <m:funcPr>
                              <m:ctrlPr>
                                <a:rPr lang="ar-AE" i="1">
                                  <a:latin typeface="Cambria Math" panose="02040503050406030204" pitchFamily="18" charset="0"/>
                                </a:rPr>
                              </m:ctrlPr>
                            </m:funcPr>
                            <m:fName>
                              <m:r>
                                <m:rPr>
                                  <m:sty m:val="p"/>
                                </m:rPr>
                                <a:rPr lang="en-IN" i="0">
                                  <a:latin typeface="Cambria Math" panose="02040503050406030204" pitchFamily="18" charset="0"/>
                                </a:rPr>
                                <m:t>max</m:t>
                              </m:r>
                            </m:fName>
                            <m:e/>
                          </m:func>
                        </m:e>
                        <m:lim>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lim>
                      </m:limLow>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𝑠</m:t>
                              </m:r>
                            </m:e>
                            <m:sup>
                              <m:r>
                                <a:rPr lang="ar-AE" i="0">
                                  <a:latin typeface="Cambria Math" panose="02040503050406030204" pitchFamily="18" charset="0"/>
                                </a:rPr>
                                <m:t>′</m:t>
                              </m:r>
                            </m:sup>
                          </m:sSup>
                        </m:e>
                        <m:e>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e>
                      </m:d>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sSup>
                        <m:sSupPr>
                          <m:ctrlPr>
                            <a:rPr lang="ar-AE" i="1">
                              <a:latin typeface="Cambria Math" panose="02040503050406030204" pitchFamily="18" charset="0"/>
                            </a:rPr>
                          </m:ctrlPr>
                        </m:sSupPr>
                        <m:e>
                          <m:r>
                            <a:rPr lang="ar-AE" i="0">
                              <a:latin typeface="Cambria Math" panose="02040503050406030204" pitchFamily="18" charset="0"/>
                            </a:rPr>
                            <m:t>]</m:t>
                          </m:r>
                        </m:e>
                        <m:sup>
                          <m:r>
                            <a:rPr lang="ar-AE" i="0">
                              <a:latin typeface="Cambria Math" panose="02040503050406030204" pitchFamily="18" charset="0"/>
                            </a:rPr>
                            <m:t>2</m:t>
                          </m:r>
                        </m:sup>
                      </m:sSup>
                    </m:oMath>
                  </m:oMathPara>
                </a14:m>
                <a:endParaRPr lang="ar-AE"/>
              </a:p>
            </p:txBody>
          </p:sp>
        </mc:Choice>
        <mc:Fallback xmlns="">
          <p:sp>
            <p:nvSpPr>
              <p:cNvPr id="3" name="TextBox 2">
                <a:extLst>
                  <a:ext uri="{FF2B5EF4-FFF2-40B4-BE49-F238E27FC236}">
                    <a16:creationId xmlns:a16="http://schemas.microsoft.com/office/drawing/2014/main" id="{2056027A-827C-11EA-AA49-6693F441ECB1}"/>
                  </a:ext>
                </a:extLst>
              </p:cNvPr>
              <p:cNvSpPr txBox="1">
                <a:spLocks noRot="1" noChangeAspect="1" noMove="1" noResize="1" noEditPoints="1" noAdjustHandles="1" noChangeArrowheads="1" noChangeShapeType="1" noTextEdit="1"/>
              </p:cNvSpPr>
              <p:nvPr/>
            </p:nvSpPr>
            <p:spPr>
              <a:xfrm>
                <a:off x="2929890" y="3150654"/>
                <a:ext cx="6332220" cy="1672124"/>
              </a:xfrm>
              <a:prstGeom prst="rect">
                <a:avLst/>
              </a:prstGeom>
              <a:blipFill>
                <a:blip r:embed="rId2"/>
                <a:stretch>
                  <a:fillRect l="-867" t="-2190"/>
                </a:stretch>
              </a:blipFill>
            </p:spPr>
            <p:txBody>
              <a:bodyPr/>
              <a:lstStyle/>
              <a:p>
                <a:r>
                  <a:rPr lang="en-US">
                    <a:noFill/>
                  </a:rPr>
                  <a:t> </a:t>
                </a:r>
              </a:p>
            </p:txBody>
          </p:sp>
        </mc:Fallback>
      </mc:AlternateContent>
    </p:spTree>
    <p:extLst>
      <p:ext uri="{BB962C8B-B14F-4D97-AF65-F5344CB8AC3E}">
        <p14:creationId xmlns:p14="http://schemas.microsoft.com/office/powerpoint/2010/main" val="27405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DC801-0CD9-5CB2-814A-C63749390528}"/>
              </a:ext>
            </a:extLst>
          </p:cNvPr>
          <p:cNvSpPr>
            <a:spLocks noGrp="1"/>
          </p:cNvSpPr>
          <p:nvPr>
            <p:ph type="title"/>
          </p:nvPr>
        </p:nvSpPr>
        <p:spPr/>
        <p:txBody>
          <a:bodyPr>
            <a:normAutofit fontScale="90000"/>
          </a:bodyPr>
          <a:lstStyle/>
          <a:p>
            <a:r>
              <a:rPr lang="en-US" b="1">
                <a:solidFill>
                  <a:srgbClr val="2A2A2A"/>
                </a:solidFill>
                <a:latin typeface="Work Sans" pitchFamily="2" charset="0"/>
              </a:rPr>
              <a:t>Deep Q-networks </a:t>
            </a:r>
            <a:r>
              <a:rPr lang="en-IN" b="1"/>
              <a:t>DQN</a:t>
            </a:r>
          </a:p>
        </p:txBody>
      </p:sp>
      <p:sp>
        <p:nvSpPr>
          <p:cNvPr id="3" name="Content Placeholder 2">
            <a:extLst>
              <a:ext uri="{FF2B5EF4-FFF2-40B4-BE49-F238E27FC236}">
                <a16:creationId xmlns:a16="http://schemas.microsoft.com/office/drawing/2014/main" id="{7579F34B-43F6-0F7E-83AA-2DFBC0ED4C7E}"/>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6CF2F6BF-A43C-4958-CE72-FC051FD74342}"/>
              </a:ext>
            </a:extLst>
          </p:cNvPr>
          <p:cNvSpPr txBox="1"/>
          <p:nvPr/>
        </p:nvSpPr>
        <p:spPr>
          <a:xfrm>
            <a:off x="996696" y="2179373"/>
            <a:ext cx="6108192" cy="2677656"/>
          </a:xfrm>
          <a:prstGeom prst="rect">
            <a:avLst/>
          </a:prstGeom>
          <a:noFill/>
        </p:spPr>
        <p:txBody>
          <a:bodyPr wrap="square">
            <a:spAutoFit/>
          </a:bodyPr>
          <a:lstStyle/>
          <a:p>
            <a:pPr algn="l">
              <a:buNone/>
            </a:pPr>
            <a:r>
              <a:rPr lang="en-US" sz="2800" b="1" i="0">
                <a:solidFill>
                  <a:srgbClr val="000000"/>
                </a:solidFill>
                <a:effectLst/>
                <a:latin typeface="Work Sans" pitchFamily="2" charset="0"/>
              </a:rPr>
              <a:t>1.1: Components of a DQN</a:t>
            </a:r>
          </a:p>
          <a:p>
            <a:pPr marL="457200" indent="-457200">
              <a:buFont typeface="Arial" panose="020B0604020202020204" pitchFamily="34" charset="0"/>
              <a:buChar char="•"/>
            </a:pPr>
            <a:r>
              <a:rPr lang="en-IN" sz="2800" b="1"/>
              <a:t>1.1.1: Neural Networks</a:t>
            </a:r>
          </a:p>
          <a:p>
            <a:pPr marL="457200" indent="-457200">
              <a:buFont typeface="Arial" panose="020B0604020202020204" pitchFamily="34" charset="0"/>
              <a:buChar char="•"/>
            </a:pPr>
            <a:r>
              <a:rPr lang="en-IN" sz="2800" b="1"/>
              <a:t>1.1.2: Experience Replay</a:t>
            </a:r>
          </a:p>
          <a:p>
            <a:pPr marL="914400" lvl="1" indent="-457200">
              <a:buFont typeface="Arial" panose="020B0604020202020204" pitchFamily="34" charset="0"/>
              <a:buChar char="•"/>
            </a:pPr>
            <a:r>
              <a:rPr lang="en-IN" sz="2800" b="1" i="0">
                <a:solidFill>
                  <a:srgbClr val="000000"/>
                </a:solidFill>
                <a:effectLst/>
                <a:latin typeface="Work Sans" pitchFamily="2" charset="0"/>
              </a:rPr>
              <a:t>1.1.2.1 </a:t>
            </a:r>
            <a:r>
              <a:rPr lang="en-IN" sz="2800" b="1"/>
              <a:t>Memory Buffer</a:t>
            </a:r>
            <a:r>
              <a:rPr lang="en-IN" sz="2800"/>
              <a:t>:</a:t>
            </a:r>
          </a:p>
          <a:p>
            <a:pPr marL="914400" lvl="1" indent="-457200">
              <a:buFont typeface="Arial" panose="020B0604020202020204" pitchFamily="34" charset="0"/>
              <a:buChar char="•"/>
            </a:pPr>
            <a:r>
              <a:rPr lang="en-IN" sz="2800" b="1">
                <a:solidFill>
                  <a:srgbClr val="000000"/>
                </a:solidFill>
                <a:latin typeface="Work Sans" pitchFamily="2" charset="0"/>
              </a:rPr>
              <a:t>1.1.2.2 </a:t>
            </a:r>
            <a:r>
              <a:rPr lang="en-IN" sz="2800" b="1"/>
              <a:t>Random Sampling</a:t>
            </a:r>
          </a:p>
          <a:p>
            <a:pPr marL="457200" indent="-457200">
              <a:buFont typeface="Arial" panose="020B0604020202020204" pitchFamily="34" charset="0"/>
              <a:buChar char="•"/>
            </a:pPr>
            <a:r>
              <a:rPr lang="en-IN" sz="2800" b="1"/>
              <a:t>1.1.3: Target Network</a:t>
            </a:r>
          </a:p>
        </p:txBody>
      </p:sp>
      <p:sp>
        <p:nvSpPr>
          <p:cNvPr id="6" name="TextBox 5">
            <a:extLst>
              <a:ext uri="{FF2B5EF4-FFF2-40B4-BE49-F238E27FC236}">
                <a16:creationId xmlns:a16="http://schemas.microsoft.com/office/drawing/2014/main" id="{00E504A2-5CE2-D882-7DB4-3F82317190F7}"/>
              </a:ext>
            </a:extLst>
          </p:cNvPr>
          <p:cNvSpPr txBox="1"/>
          <p:nvPr/>
        </p:nvSpPr>
        <p:spPr>
          <a:xfrm>
            <a:off x="6400800" y="2645956"/>
            <a:ext cx="6108192" cy="1815882"/>
          </a:xfrm>
          <a:prstGeom prst="rect">
            <a:avLst/>
          </a:prstGeom>
          <a:noFill/>
        </p:spPr>
        <p:txBody>
          <a:bodyPr wrap="square">
            <a:spAutoFit/>
          </a:bodyPr>
          <a:lstStyle/>
          <a:p>
            <a:r>
              <a:rPr lang="en-IN" sz="2800" b="1">
                <a:solidFill>
                  <a:srgbClr val="000000"/>
                </a:solidFill>
                <a:latin typeface="Work Sans" pitchFamily="2" charset="0"/>
              </a:rPr>
              <a:t>2.1 DQN Algorithm</a:t>
            </a:r>
          </a:p>
          <a:p>
            <a:pPr marL="457200" indent="-457200">
              <a:buFont typeface="Arial" panose="020B0604020202020204" pitchFamily="34" charset="0"/>
              <a:buChar char="•"/>
            </a:pPr>
            <a:r>
              <a:rPr lang="en-IN" sz="2800" b="1">
                <a:solidFill>
                  <a:srgbClr val="000000"/>
                </a:solidFill>
                <a:latin typeface="Work Sans" pitchFamily="2" charset="0"/>
              </a:rPr>
              <a:t>2.1.1 Forward Pass</a:t>
            </a:r>
          </a:p>
          <a:p>
            <a:pPr marL="457200" indent="-457200">
              <a:buFont typeface="Arial" panose="020B0604020202020204" pitchFamily="34" charset="0"/>
              <a:buChar char="•"/>
            </a:pPr>
            <a:r>
              <a:rPr lang="en-IN" sz="2800" b="1">
                <a:solidFill>
                  <a:srgbClr val="000000"/>
                </a:solidFill>
                <a:latin typeface="Work Sans" pitchFamily="2" charset="0"/>
              </a:rPr>
              <a:t>2.1.2 Experience Replay</a:t>
            </a:r>
          </a:p>
          <a:p>
            <a:pPr marL="457200" indent="-457200">
              <a:buFont typeface="Arial" panose="020B0604020202020204" pitchFamily="34" charset="0"/>
              <a:buChar char="•"/>
            </a:pPr>
            <a:r>
              <a:rPr lang="en-IN" sz="2800" b="1">
                <a:solidFill>
                  <a:srgbClr val="000000"/>
                </a:solidFill>
                <a:latin typeface="Work Sans" pitchFamily="2" charset="0"/>
              </a:rPr>
              <a:t>2.1.3 Backpropagation</a:t>
            </a:r>
            <a:endParaRPr lang="en-US" sz="2800" b="1">
              <a:solidFill>
                <a:srgbClr val="000000"/>
              </a:solidFill>
              <a:latin typeface="Work Sans" pitchFamily="2" charset="0"/>
            </a:endParaRPr>
          </a:p>
        </p:txBody>
      </p:sp>
    </p:spTree>
    <p:extLst>
      <p:ext uri="{BB962C8B-B14F-4D97-AF65-F5344CB8AC3E}">
        <p14:creationId xmlns:p14="http://schemas.microsoft.com/office/powerpoint/2010/main" val="3768209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6475-A050-1FF5-1F1D-B0BB1FDBB3C8}"/>
              </a:ext>
            </a:extLst>
          </p:cNvPr>
          <p:cNvSpPr>
            <a:spLocks noGrp="1"/>
          </p:cNvSpPr>
          <p:nvPr>
            <p:ph type="title"/>
          </p:nvPr>
        </p:nvSpPr>
        <p:spPr>
          <a:xfrm>
            <a:off x="207264" y="126658"/>
            <a:ext cx="10515600" cy="436064"/>
          </a:xfrm>
        </p:spPr>
        <p:txBody>
          <a:bodyPr>
            <a:normAutofit fontScale="90000"/>
          </a:bodyPr>
          <a:lstStyle/>
          <a:p>
            <a:r>
              <a:rPr lang="en-IN"/>
              <a:t>DQN</a:t>
            </a:r>
          </a:p>
        </p:txBody>
      </p:sp>
      <p:pic>
        <p:nvPicPr>
          <p:cNvPr id="7" name="Picture 6">
            <a:extLst>
              <a:ext uri="{FF2B5EF4-FFF2-40B4-BE49-F238E27FC236}">
                <a16:creationId xmlns:a16="http://schemas.microsoft.com/office/drawing/2014/main" id="{8E244434-9EB2-B869-C400-8FBDDF2B9F74}"/>
              </a:ext>
            </a:extLst>
          </p:cNvPr>
          <p:cNvPicPr>
            <a:picLocks noChangeAspect="1"/>
          </p:cNvPicPr>
          <p:nvPr/>
        </p:nvPicPr>
        <p:blipFill>
          <a:blip r:embed="rId2"/>
          <a:stretch>
            <a:fillRect/>
          </a:stretch>
        </p:blipFill>
        <p:spPr>
          <a:xfrm>
            <a:off x="1084313" y="4736592"/>
            <a:ext cx="495325" cy="998750"/>
          </a:xfrm>
          <a:prstGeom prst="rect">
            <a:avLst/>
          </a:prstGeom>
        </p:spPr>
      </p:pic>
      <p:pic>
        <p:nvPicPr>
          <p:cNvPr id="9" name="Picture 8">
            <a:extLst>
              <a:ext uri="{FF2B5EF4-FFF2-40B4-BE49-F238E27FC236}">
                <a16:creationId xmlns:a16="http://schemas.microsoft.com/office/drawing/2014/main" id="{09C99BF4-4490-15F4-32DF-755C0BCF20F4}"/>
              </a:ext>
            </a:extLst>
          </p:cNvPr>
          <p:cNvPicPr>
            <a:picLocks noChangeAspect="1"/>
          </p:cNvPicPr>
          <p:nvPr/>
        </p:nvPicPr>
        <p:blipFill>
          <a:blip r:embed="rId2"/>
          <a:stretch>
            <a:fillRect/>
          </a:stretch>
        </p:blipFill>
        <p:spPr>
          <a:xfrm>
            <a:off x="1636473" y="4804145"/>
            <a:ext cx="495325" cy="863644"/>
          </a:xfrm>
          <a:prstGeom prst="rect">
            <a:avLst/>
          </a:prstGeom>
        </p:spPr>
      </p:pic>
      <p:pic>
        <p:nvPicPr>
          <p:cNvPr id="11" name="Picture 10">
            <a:extLst>
              <a:ext uri="{FF2B5EF4-FFF2-40B4-BE49-F238E27FC236}">
                <a16:creationId xmlns:a16="http://schemas.microsoft.com/office/drawing/2014/main" id="{71614CDF-C0F8-0893-2367-51D0900B53DB}"/>
              </a:ext>
            </a:extLst>
          </p:cNvPr>
          <p:cNvPicPr>
            <a:picLocks noChangeAspect="1"/>
          </p:cNvPicPr>
          <p:nvPr/>
        </p:nvPicPr>
        <p:blipFill>
          <a:blip r:embed="rId3"/>
          <a:stretch>
            <a:fillRect/>
          </a:stretch>
        </p:blipFill>
        <p:spPr>
          <a:xfrm>
            <a:off x="-229646" y="751611"/>
            <a:ext cx="8819702" cy="5608232"/>
          </a:xfrm>
          <a:prstGeom prst="rect">
            <a:avLst/>
          </a:prstGeom>
        </p:spPr>
      </p:pic>
      <p:sp>
        <p:nvSpPr>
          <p:cNvPr id="14" name="TextBox 13">
            <a:extLst>
              <a:ext uri="{FF2B5EF4-FFF2-40B4-BE49-F238E27FC236}">
                <a16:creationId xmlns:a16="http://schemas.microsoft.com/office/drawing/2014/main" id="{34179EAB-F2B8-BA1B-0DB5-3A4DB074D5DE}"/>
              </a:ext>
            </a:extLst>
          </p:cNvPr>
          <p:cNvSpPr txBox="1"/>
          <p:nvPr/>
        </p:nvSpPr>
        <p:spPr>
          <a:xfrm>
            <a:off x="8303055" y="474345"/>
            <a:ext cx="3681681" cy="5909310"/>
          </a:xfrm>
          <a:prstGeom prst="rect">
            <a:avLst/>
          </a:prstGeom>
          <a:noFill/>
        </p:spPr>
        <p:txBody>
          <a:bodyPr wrap="square">
            <a:spAutoFit/>
          </a:bodyPr>
          <a:lstStyle/>
          <a:p>
            <a:pPr marL="285750" indent="-285750">
              <a:buFont typeface="Arial" panose="020B0604020202020204" pitchFamily="34" charset="0"/>
              <a:buChar char="•"/>
            </a:pPr>
            <a:r>
              <a:rPr lang="en-IN"/>
              <a:t>Environment → Q-Network: get state, predict Q-values.</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Q-Network → Environment: choose action (ε-greedy).</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Environment → Replay Buffer: store (</a:t>
            </a:r>
            <a:r>
              <a:rPr lang="en-IN" err="1"/>
              <a:t>s,a,r,s</a:t>
            </a:r>
            <a:r>
              <a:rPr lang="en-IN"/>
              <a:t>′).</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Replay Buffer → Q-Network: sample batch for learning.</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Target Network → Loss: compute stable target Q-values.</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Loss → Q-Network: backpropagate to update weights.</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Q-Network → Target Network: soft update weights.</a:t>
            </a:r>
          </a:p>
          <a:p>
            <a:endParaRPr lang="en-IN"/>
          </a:p>
        </p:txBody>
      </p:sp>
    </p:spTree>
    <p:extLst>
      <p:ext uri="{BB962C8B-B14F-4D97-AF65-F5344CB8AC3E}">
        <p14:creationId xmlns:p14="http://schemas.microsoft.com/office/powerpoint/2010/main" val="1360049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0E560-B3A7-6DD2-2061-D57DCABCD55B}"/>
              </a:ext>
            </a:extLst>
          </p:cNvPr>
          <p:cNvSpPr>
            <a:spLocks noGrp="1"/>
          </p:cNvSpPr>
          <p:nvPr>
            <p:ph type="title"/>
          </p:nvPr>
        </p:nvSpPr>
        <p:spPr>
          <a:xfrm>
            <a:off x="3500120" y="643746"/>
            <a:ext cx="10515600" cy="436064"/>
          </a:xfrm>
        </p:spPr>
        <p:txBody>
          <a:bodyPr>
            <a:normAutofit fontScale="90000"/>
          </a:bodyPr>
          <a:lstStyle/>
          <a:p>
            <a:r>
              <a:rPr lang="en-IN" b="1"/>
              <a:t>1.1.1: Q-Neural Networks</a:t>
            </a:r>
            <a:br>
              <a:rPr lang="en-IN" b="1"/>
            </a:br>
            <a:endParaRPr lang="en-IN"/>
          </a:p>
        </p:txBody>
      </p:sp>
      <p:sp>
        <p:nvSpPr>
          <p:cNvPr id="3" name="Content Placeholder 2">
            <a:extLst>
              <a:ext uri="{FF2B5EF4-FFF2-40B4-BE49-F238E27FC236}">
                <a16:creationId xmlns:a16="http://schemas.microsoft.com/office/drawing/2014/main" id="{0D2F6C5D-6A1A-20E0-3426-D3E24EE62FD1}"/>
              </a:ext>
            </a:extLst>
          </p:cNvPr>
          <p:cNvSpPr>
            <a:spLocks noGrp="1"/>
          </p:cNvSpPr>
          <p:nvPr>
            <p:ph idx="1"/>
          </p:nvPr>
        </p:nvSpPr>
        <p:spPr>
          <a:xfrm>
            <a:off x="838200" y="992777"/>
            <a:ext cx="10515600" cy="3871831"/>
          </a:xfrm>
        </p:spPr>
        <p:txBody>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688EAFB-4DC7-399E-F90E-6CC5E4CACE50}"/>
                  </a:ext>
                </a:extLst>
              </p:cNvPr>
              <p:cNvSpPr txBox="1"/>
              <p:nvPr/>
            </p:nvSpPr>
            <p:spPr>
              <a:xfrm>
                <a:off x="833628" y="1077195"/>
                <a:ext cx="10396728" cy="3785652"/>
              </a:xfrm>
              <a:prstGeom prst="rect">
                <a:avLst/>
              </a:prstGeom>
              <a:noFill/>
            </p:spPr>
            <p:txBody>
              <a:bodyPr wrap="square">
                <a:spAutoFit/>
              </a:bodyPr>
              <a:lstStyle/>
              <a:p>
                <a:pPr>
                  <a:buNone/>
                </a:pPr>
                <a:r>
                  <a:rPr lang="en-IN" sz="2400"/>
                  <a:t>A neural network acts as a </a:t>
                </a:r>
                <a:r>
                  <a:rPr lang="en-IN" sz="2400" b="1"/>
                  <a:t>function approximator</a:t>
                </a:r>
                <a:r>
                  <a:rPr lang="en-IN" sz="2400"/>
                  <a:t> for the Q-value function</a:t>
                </a:r>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𝑄</m:t>
                      </m:r>
                      <m:d>
                        <m:dPr>
                          <m:sepChr m:val=","/>
                          <m:ctrlPr>
                            <a:rPr lang="ar-AE" sz="2400" i="1">
                              <a:latin typeface="Cambria Math" panose="02040503050406030204" pitchFamily="18" charset="0"/>
                            </a:rPr>
                          </m:ctrlPr>
                        </m:dPr>
                        <m:e>
                          <m:r>
                            <a:rPr lang="ar-AE" sz="2400" i="1">
                              <a:latin typeface="Cambria Math" panose="02040503050406030204" pitchFamily="18" charset="0"/>
                            </a:rPr>
                            <m:t>𝑠</m:t>
                          </m:r>
                        </m:e>
                        <m:e>
                          <m:r>
                            <a:rPr lang="ar-AE" sz="2400" i="1">
                              <a:latin typeface="Cambria Math" panose="02040503050406030204" pitchFamily="18" charset="0"/>
                            </a:rPr>
                            <m:t>𝑎</m:t>
                          </m:r>
                        </m:e>
                      </m:d>
                      <m:r>
                        <a:rPr lang="ar-AE" sz="2400" i="0">
                          <a:latin typeface="Cambria Math" panose="02040503050406030204" pitchFamily="18" charset="0"/>
                        </a:rPr>
                        <m:t>≈</m:t>
                      </m:r>
                      <m:r>
                        <m:rPr>
                          <m:nor/>
                        </m:rPr>
                        <a:rPr lang="en-IN" sz="2400" b="0" i="1"/>
                        <m:t>expected</m:t>
                      </m:r>
                      <m:r>
                        <m:rPr>
                          <m:nor/>
                        </m:rPr>
                        <a:rPr lang="en-IN" sz="2400" b="0" i="1"/>
                        <m:t> </m:t>
                      </m:r>
                      <m:r>
                        <m:rPr>
                          <m:nor/>
                        </m:rPr>
                        <a:rPr lang="en-IN" sz="2400" b="0" i="1"/>
                        <m:t>future</m:t>
                      </m:r>
                      <m:r>
                        <m:rPr>
                          <m:nor/>
                        </m:rPr>
                        <a:rPr lang="en-IN" sz="2400" b="0" i="1"/>
                        <m:t> </m:t>
                      </m:r>
                      <m:r>
                        <m:rPr>
                          <m:nor/>
                        </m:rPr>
                        <a:rPr lang="en-IN" sz="2400" b="0" i="1"/>
                        <m:t>reward</m:t>
                      </m:r>
                      <m:r>
                        <m:rPr>
                          <m:nor/>
                        </m:rPr>
                        <a:rPr lang="en-IN" sz="2400" b="0" i="1"/>
                        <m:t> </m:t>
                      </m:r>
                      <m:r>
                        <m:rPr>
                          <m:nor/>
                        </m:rPr>
                        <a:rPr lang="en-IN" sz="2400" b="0" i="1"/>
                        <m:t>starting</m:t>
                      </m:r>
                      <m:r>
                        <m:rPr>
                          <m:nor/>
                        </m:rPr>
                        <a:rPr lang="en-IN" sz="2400" b="0" i="1"/>
                        <m:t> </m:t>
                      </m:r>
                      <m:r>
                        <m:rPr>
                          <m:nor/>
                        </m:rPr>
                        <a:rPr lang="en-IN" sz="2400" b="0" i="1"/>
                        <m:t>from</m:t>
                      </m:r>
                      <m:r>
                        <m:rPr>
                          <m:nor/>
                        </m:rPr>
                        <a:rPr lang="en-IN" sz="2400" b="0" i="1"/>
                        <m:t> </m:t>
                      </m:r>
                      <m:r>
                        <m:rPr>
                          <m:nor/>
                        </m:rPr>
                        <a:rPr lang="en-IN" sz="2400" b="0" i="1"/>
                        <m:t>state</m:t>
                      </m:r>
                      <m:r>
                        <m:rPr>
                          <m:nor/>
                        </m:rPr>
                        <a:rPr lang="en-IN" sz="2400" b="0" i="1"/>
                        <m:t> </m:t>
                      </m:r>
                      <m:r>
                        <a:rPr lang="en-IN" sz="2400" b="0" i="1">
                          <a:latin typeface="Cambria Math" panose="02040503050406030204" pitchFamily="18" charset="0"/>
                        </a:rPr>
                        <m:t>𝑠</m:t>
                      </m:r>
                      <m:r>
                        <a:rPr lang="en-IN" sz="2400" b="0" i="0">
                          <a:latin typeface="Cambria Math" panose="02040503050406030204" pitchFamily="18" charset="0"/>
                        </a:rPr>
                        <m:t>,</m:t>
                      </m:r>
                      <m:r>
                        <m:rPr>
                          <m:nor/>
                        </m:rPr>
                        <a:rPr lang="en-IN" sz="2400" b="0" i="1"/>
                        <m:t> </m:t>
                      </m:r>
                      <m:r>
                        <m:rPr>
                          <m:nor/>
                        </m:rPr>
                        <a:rPr lang="en-IN" sz="2400" b="0" i="1"/>
                        <m:t>taking</m:t>
                      </m:r>
                      <m:r>
                        <m:rPr>
                          <m:nor/>
                        </m:rPr>
                        <a:rPr lang="en-IN" sz="2400" b="0" i="1"/>
                        <m:t> </m:t>
                      </m:r>
                      <m:r>
                        <m:rPr>
                          <m:nor/>
                        </m:rPr>
                        <a:rPr lang="en-IN" sz="2400" b="0" i="1"/>
                        <m:t>action</m:t>
                      </m:r>
                      <m:r>
                        <m:rPr>
                          <m:nor/>
                        </m:rPr>
                        <a:rPr lang="en-IN" sz="2400" b="0" i="1"/>
                        <m:t> </m:t>
                      </m:r>
                      <m:r>
                        <a:rPr lang="en-IN" sz="2400" b="0" i="1">
                          <a:latin typeface="Cambria Math" panose="02040503050406030204" pitchFamily="18" charset="0"/>
                        </a:rPr>
                        <m:t>𝑎</m:t>
                      </m:r>
                      <m:r>
                        <a:rPr lang="en-IN" sz="2400" b="0" i="0">
                          <a:latin typeface="Cambria Math" panose="02040503050406030204" pitchFamily="18" charset="0"/>
                        </a:rPr>
                        <m:t>.</m:t>
                      </m:r>
                    </m:oMath>
                  </m:oMathPara>
                </a14:m>
                <a:endParaRPr lang="en-IN" sz="2400" b="0"/>
              </a:p>
              <a:p>
                <a:pPr>
                  <a:buNone/>
                </a:pPr>
                <a:r>
                  <a:rPr lang="en-IN" sz="2400"/>
                  <a:t>Instead of keeping a table of Q-values for every (state, action) pair (impossible for high-dimensional states), the network learns to </a:t>
                </a:r>
                <a:r>
                  <a:rPr lang="en-IN" sz="2400" b="1"/>
                  <a:t>predict Q-values</a:t>
                </a:r>
                <a:r>
                  <a:rPr lang="en-IN" sz="2400"/>
                  <a:t> directly from the raw state input (like images or sensor data).</a:t>
                </a:r>
              </a:p>
              <a:p>
                <a:pPr lvl="1"/>
                <a:r>
                  <a:rPr lang="en-IN" sz="2400" b="1"/>
                  <a:t>Why </a:t>
                </a:r>
              </a:p>
              <a:p>
                <a:pPr marL="800100" lvl="1" indent="-342900">
                  <a:buFont typeface="Arial" panose="020B0604020202020204" pitchFamily="34" charset="0"/>
                  <a:buChar char="•"/>
                </a:pPr>
                <a:r>
                  <a:rPr lang="en-IN" sz="2400"/>
                  <a:t>Real-world states are </a:t>
                </a:r>
                <a:r>
                  <a:rPr lang="en-IN" sz="2400" b="1"/>
                  <a:t>continuous and complex</a:t>
                </a:r>
                <a:r>
                  <a:rPr lang="en-IN" sz="2400"/>
                  <a:t> (e.g., images in Atari, robot positions).</a:t>
                </a:r>
              </a:p>
              <a:p>
                <a:pPr lvl="1">
                  <a:buFont typeface="Arial" panose="020B0604020202020204" pitchFamily="34" charset="0"/>
                  <a:buChar char="•"/>
                </a:pPr>
                <a:r>
                  <a:rPr lang="en-IN" sz="2400"/>
                  <a:t>Neural nets can </a:t>
                </a:r>
                <a:r>
                  <a:rPr lang="en-IN" sz="2400" b="1"/>
                  <a:t>generalize</a:t>
                </a:r>
                <a:r>
                  <a:rPr lang="en-IN" sz="2400"/>
                  <a:t> — learn Q-values for unseen states that look similar.</a:t>
                </a:r>
              </a:p>
            </p:txBody>
          </p:sp>
        </mc:Choice>
        <mc:Fallback xmlns="">
          <p:sp>
            <p:nvSpPr>
              <p:cNvPr id="5" name="TextBox 4">
                <a:extLst>
                  <a:ext uri="{FF2B5EF4-FFF2-40B4-BE49-F238E27FC236}">
                    <a16:creationId xmlns:a16="http://schemas.microsoft.com/office/drawing/2014/main" id="{B688EAFB-4DC7-399E-F90E-6CC5E4CACE50}"/>
                  </a:ext>
                </a:extLst>
              </p:cNvPr>
              <p:cNvSpPr txBox="1">
                <a:spLocks noRot="1" noChangeAspect="1" noMove="1" noResize="1" noEditPoints="1" noAdjustHandles="1" noChangeArrowheads="1" noChangeShapeType="1" noTextEdit="1"/>
              </p:cNvSpPr>
              <p:nvPr/>
            </p:nvSpPr>
            <p:spPr>
              <a:xfrm>
                <a:off x="833628" y="1077195"/>
                <a:ext cx="10396728" cy="3785652"/>
              </a:xfrm>
              <a:prstGeom prst="rect">
                <a:avLst/>
              </a:prstGeom>
              <a:blipFill>
                <a:blip r:embed="rId2"/>
                <a:stretch>
                  <a:fillRect l="-938" t="-1288" r="-587" b="-2738"/>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E88617F-51FF-3D4F-CD41-D5A8907058CA}"/>
              </a:ext>
            </a:extLst>
          </p:cNvPr>
          <p:cNvSpPr txBox="1"/>
          <p:nvPr/>
        </p:nvSpPr>
        <p:spPr>
          <a:xfrm>
            <a:off x="1563624" y="5126559"/>
            <a:ext cx="8805672" cy="923330"/>
          </a:xfrm>
          <a:prstGeom prst="rect">
            <a:avLst/>
          </a:prstGeom>
          <a:noFill/>
        </p:spPr>
        <p:txBody>
          <a:bodyPr wrap="square">
            <a:spAutoFit/>
          </a:bodyPr>
          <a:lstStyle/>
          <a:p>
            <a:pPr>
              <a:buNone/>
            </a:pPr>
            <a:r>
              <a:rPr lang="en-IN" sz="1800" b="1"/>
              <a:t>Analogy:</a:t>
            </a:r>
            <a:br>
              <a:rPr lang="en-IN" sz="1800"/>
            </a:br>
            <a:r>
              <a:rPr lang="en-IN" sz="1800"/>
              <a:t>Think of it like replacing a giant lookup table with a </a:t>
            </a:r>
            <a:r>
              <a:rPr lang="en-IN" sz="1800" i="1"/>
              <a:t>smart function</a:t>
            </a:r>
            <a:r>
              <a:rPr lang="en-IN" sz="1800"/>
              <a:t> that can fill in the gaps between known points.</a:t>
            </a:r>
          </a:p>
        </p:txBody>
      </p:sp>
    </p:spTree>
    <p:extLst>
      <p:ext uri="{BB962C8B-B14F-4D97-AF65-F5344CB8AC3E}">
        <p14:creationId xmlns:p14="http://schemas.microsoft.com/office/powerpoint/2010/main" val="314400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7DDFC-B00A-962B-640A-52208362BBFE}"/>
              </a:ext>
            </a:extLst>
          </p:cNvPr>
          <p:cNvSpPr>
            <a:spLocks noGrp="1"/>
          </p:cNvSpPr>
          <p:nvPr>
            <p:ph type="title"/>
          </p:nvPr>
        </p:nvSpPr>
        <p:spPr>
          <a:xfrm>
            <a:off x="3261360" y="99955"/>
            <a:ext cx="10515600" cy="436064"/>
          </a:xfrm>
        </p:spPr>
        <p:txBody>
          <a:bodyPr>
            <a:normAutofit fontScale="90000"/>
          </a:bodyPr>
          <a:lstStyle/>
          <a:p>
            <a:r>
              <a:rPr lang="en-IN" sz="4000" b="1"/>
              <a:t>1.1.2 Experience Replay</a:t>
            </a:r>
          </a:p>
        </p:txBody>
      </p:sp>
      <p:sp>
        <p:nvSpPr>
          <p:cNvPr id="5" name="TextBox 4">
            <a:extLst>
              <a:ext uri="{FF2B5EF4-FFF2-40B4-BE49-F238E27FC236}">
                <a16:creationId xmlns:a16="http://schemas.microsoft.com/office/drawing/2014/main" id="{CB103D60-7BC0-52E2-A775-A8886815E76E}"/>
              </a:ext>
            </a:extLst>
          </p:cNvPr>
          <p:cNvSpPr txBox="1"/>
          <p:nvPr/>
        </p:nvSpPr>
        <p:spPr>
          <a:xfrm>
            <a:off x="5576824" y="524425"/>
            <a:ext cx="6108192" cy="369332"/>
          </a:xfrm>
          <a:prstGeom prst="rect">
            <a:avLst/>
          </a:prstGeom>
          <a:noFill/>
        </p:spPr>
        <p:txBody>
          <a:bodyPr wrap="square">
            <a:spAutoFit/>
          </a:bodyPr>
          <a:lstStyle/>
          <a:p>
            <a:pPr>
              <a:buNone/>
            </a:pPr>
            <a:r>
              <a:rPr lang="en-US"/>
              <a:t>This module gives DQN stability and data efficiency.</a:t>
            </a:r>
          </a:p>
        </p:txBody>
      </p:sp>
      <p:sp>
        <p:nvSpPr>
          <p:cNvPr id="7" name="TextBox 6">
            <a:extLst>
              <a:ext uri="{FF2B5EF4-FFF2-40B4-BE49-F238E27FC236}">
                <a16:creationId xmlns:a16="http://schemas.microsoft.com/office/drawing/2014/main" id="{102BA8B5-ADC6-EFB5-EA3C-66248CED8E70}"/>
              </a:ext>
            </a:extLst>
          </p:cNvPr>
          <p:cNvSpPr txBox="1"/>
          <p:nvPr/>
        </p:nvSpPr>
        <p:spPr>
          <a:xfrm>
            <a:off x="243840" y="867921"/>
            <a:ext cx="11853672" cy="646331"/>
          </a:xfrm>
          <a:prstGeom prst="rect">
            <a:avLst/>
          </a:prstGeom>
          <a:solidFill>
            <a:schemeClr val="accent6">
              <a:lumMod val="20000"/>
              <a:lumOff val="80000"/>
            </a:schemeClr>
          </a:solidFill>
        </p:spPr>
        <p:txBody>
          <a:bodyPr wrap="square">
            <a:spAutoFit/>
          </a:bodyPr>
          <a:lstStyle/>
          <a:p>
            <a:r>
              <a:rPr lang="en-US">
                <a:solidFill>
                  <a:srgbClr val="2A2A2A"/>
                </a:solidFill>
                <a:latin typeface="Work Sans" pitchFamily="2" charset="0"/>
              </a:rPr>
              <a:t>A</a:t>
            </a:r>
            <a:r>
              <a:rPr lang="en-US" b="0" i="0">
                <a:solidFill>
                  <a:srgbClr val="2A2A2A"/>
                </a:solidFill>
                <a:effectLst/>
                <a:latin typeface="Work Sans" pitchFamily="2" charset="0"/>
              </a:rPr>
              <a:t>gent’s "diary." It stores the agent’s experiences (state, action, reward, next state, done) over time, like how you might write down what happens to you each day.</a:t>
            </a:r>
            <a:endParaRPr lang="en-IN"/>
          </a:p>
        </p:txBody>
      </p:sp>
      <p:sp>
        <p:nvSpPr>
          <p:cNvPr id="9" name="TextBox 8">
            <a:extLst>
              <a:ext uri="{FF2B5EF4-FFF2-40B4-BE49-F238E27FC236}">
                <a16:creationId xmlns:a16="http://schemas.microsoft.com/office/drawing/2014/main" id="{6F222AB1-FF97-31B9-DA12-F4890F68CCFB}"/>
              </a:ext>
            </a:extLst>
          </p:cNvPr>
          <p:cNvSpPr txBox="1"/>
          <p:nvPr/>
        </p:nvSpPr>
        <p:spPr>
          <a:xfrm>
            <a:off x="1757680" y="1979784"/>
            <a:ext cx="11704320" cy="646331"/>
          </a:xfrm>
          <a:prstGeom prst="rect">
            <a:avLst/>
          </a:prstGeom>
          <a:noFill/>
        </p:spPr>
        <p:txBody>
          <a:bodyPr wrap="square">
            <a:spAutoFit/>
          </a:bodyPr>
          <a:lstStyle/>
          <a:p>
            <a:pPr>
              <a:buNone/>
            </a:pPr>
            <a:endParaRPr lang="en-IN"/>
          </a:p>
          <a:p>
            <a:pPr>
              <a:buNone/>
            </a:pPr>
            <a:endParaRPr lang="ar-AE" b="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CCD8241-E3FB-48F2-BC62-2A5AEF1110A6}"/>
                  </a:ext>
                </a:extLst>
              </p:cNvPr>
              <p:cNvSpPr txBox="1"/>
              <p:nvPr/>
            </p:nvSpPr>
            <p:spPr>
              <a:xfrm>
                <a:off x="243840" y="1557558"/>
                <a:ext cx="12234672" cy="1431161"/>
              </a:xfrm>
              <a:prstGeom prst="rect">
                <a:avLst/>
              </a:prstGeom>
              <a:noFill/>
            </p:spPr>
            <p:txBody>
              <a:bodyPr wrap="square">
                <a:spAutoFit/>
              </a:bodyPr>
              <a:lstStyle/>
              <a:p>
                <a:r>
                  <a:rPr lang="en-IN" sz="2100" b="1"/>
                  <a:t>1.1.2.1 Memory Buffer </a:t>
                </a:r>
                <a:r>
                  <a:rPr lang="en-IN"/>
                  <a:t>:</a:t>
                </a:r>
                <a:r>
                  <a:rPr lang="en-IN" sz="2100">
                    <a:solidFill>
                      <a:srgbClr val="2A2A2A"/>
                    </a:solidFill>
                    <a:latin typeface="Work Sans" pitchFamily="2" charset="0"/>
                    <a:ea typeface="+mj-ea"/>
                    <a:cs typeface="+mj-cs"/>
                  </a:rPr>
                  <a:t>The buffer lets the agent remember past experiences and reuse them many times → better sample efficiency.</a:t>
                </a:r>
                <a:r>
                  <a:rPr lang="en-IN" sz="2400"/>
                  <a:t> A </a:t>
                </a:r>
                <a:r>
                  <a:rPr lang="en-IN" sz="2400" i="1"/>
                  <a:t>storage</a:t>
                </a:r>
                <a:r>
                  <a:rPr lang="en-IN" sz="2400"/>
                  <a:t> (like a queue) that records the agent’s experiences as tuples:</a:t>
                </a:r>
                <a:r>
                  <a:rPr lang="ar-AE" sz="2400"/>
                  <a:t> </a:t>
                </a:r>
                <a14:m>
                  <m:oMath xmlns:m="http://schemas.openxmlformats.org/officeDocument/2006/math">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𝑡</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𝑟</m:t>
                            </m:r>
                          </m:e>
                          <m:sub>
                            <m:r>
                              <a:rPr lang="ar-AE" sz="2400" i="1">
                                <a:latin typeface="Cambria Math" panose="02040503050406030204" pitchFamily="18" charset="0"/>
                              </a:rPr>
                              <m:t>𝑡</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r>
                              <a:rPr lang="ar-AE" sz="2400">
                                <a:latin typeface="Cambria Math" panose="02040503050406030204" pitchFamily="18" charset="0"/>
                              </a:rPr>
                              <m:t>+</m:t>
                            </m:r>
                            <m:r>
                              <a:rPr lang="ar-AE" sz="2400">
                                <a:latin typeface="Cambria Math" panose="02040503050406030204" pitchFamily="18" charset="0"/>
                              </a:rPr>
                              <m:t>1</m:t>
                            </m:r>
                          </m:sub>
                        </m:sSub>
                      </m:e>
                      <m:e>
                        <m:r>
                          <m:rPr>
                            <m:nor/>
                          </m:rPr>
                          <a:rPr lang="en-IN" sz="2400" i="1">
                            <a:latin typeface="Cambria Math" panose="02040503050406030204" pitchFamily="18" charset="0"/>
                          </a:rPr>
                          <m:t>done</m:t>
                        </m:r>
                      </m:e>
                    </m:d>
                  </m:oMath>
                </a14:m>
                <a:endParaRPr lang="en-IN" sz="2100">
                  <a:solidFill>
                    <a:srgbClr val="2A2A2A"/>
                  </a:solidFill>
                  <a:latin typeface="Work Sans" pitchFamily="2" charset="0"/>
                  <a:ea typeface="+mj-ea"/>
                  <a:cs typeface="+mj-cs"/>
                </a:endParaRPr>
              </a:p>
              <a:p>
                <a:endParaRPr lang="en-IN"/>
              </a:p>
            </p:txBody>
          </p:sp>
        </mc:Choice>
        <mc:Fallback xmlns="">
          <p:sp>
            <p:nvSpPr>
              <p:cNvPr id="12" name="TextBox 11">
                <a:extLst>
                  <a:ext uri="{FF2B5EF4-FFF2-40B4-BE49-F238E27FC236}">
                    <a16:creationId xmlns:a16="http://schemas.microsoft.com/office/drawing/2014/main" id="{FCCD8241-E3FB-48F2-BC62-2A5AEF1110A6}"/>
                  </a:ext>
                </a:extLst>
              </p:cNvPr>
              <p:cNvSpPr txBox="1">
                <a:spLocks noRot="1" noChangeAspect="1" noMove="1" noResize="1" noEditPoints="1" noAdjustHandles="1" noChangeArrowheads="1" noChangeShapeType="1" noTextEdit="1"/>
              </p:cNvSpPr>
              <p:nvPr/>
            </p:nvSpPr>
            <p:spPr>
              <a:xfrm>
                <a:off x="243840" y="1557558"/>
                <a:ext cx="12234672" cy="1431161"/>
              </a:xfrm>
              <a:prstGeom prst="rect">
                <a:avLst/>
              </a:prstGeom>
              <a:blipFill>
                <a:blip r:embed="rId2"/>
                <a:stretch>
                  <a:fillRect l="-598" t="-2991"/>
                </a:stretch>
              </a:blipFill>
            </p:spPr>
            <p:txBody>
              <a:bodyPr/>
              <a:lstStyle/>
              <a:p>
                <a:r>
                  <a:rPr lang="en-US">
                    <a:noFill/>
                  </a:rPr>
                  <a:t> </a:t>
                </a:r>
              </a:p>
            </p:txBody>
          </p:sp>
        </mc:Fallback>
      </mc:AlternateContent>
      <p:sp>
        <p:nvSpPr>
          <p:cNvPr id="13" name="Title 1">
            <a:extLst>
              <a:ext uri="{FF2B5EF4-FFF2-40B4-BE49-F238E27FC236}">
                <a16:creationId xmlns:a16="http://schemas.microsoft.com/office/drawing/2014/main" id="{72FA25B4-CA12-146E-5A30-7CD8F2B4262E}"/>
              </a:ext>
            </a:extLst>
          </p:cNvPr>
          <p:cNvSpPr txBox="1">
            <a:spLocks/>
          </p:cNvSpPr>
          <p:nvPr/>
        </p:nvSpPr>
        <p:spPr>
          <a:xfrm>
            <a:off x="243840" y="2768982"/>
            <a:ext cx="11993880" cy="853213"/>
          </a:xfrm>
          <a:prstGeom prst="rect">
            <a:avLst/>
          </a:prstGeom>
        </p:spPr>
        <p:txBody>
          <a:bodyPr vert="horz" lIns="91440" tIns="45720" rIns="91440" bIns="45720" rtlCol="0" anchor="ctr">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a:latin typeface="+mn-lt"/>
                <a:ea typeface="+mn-ea"/>
                <a:cs typeface="+mn-cs"/>
              </a:rPr>
              <a:t>1.1.2.2  Random Sampling- </a:t>
            </a:r>
            <a:r>
              <a:rPr lang="en-US" sz="4000">
                <a:solidFill>
                  <a:srgbClr val="2A2A2A"/>
                </a:solidFill>
                <a:latin typeface="Work Sans" pitchFamily="2" charset="0"/>
              </a:rPr>
              <a:t>During training, the agent flips through random pages of its diary to learn from past experiences. This breaks the sequence of events, helping the agent learn more robustly by preventing it from overfitting to the order of experiences.</a:t>
            </a:r>
            <a:endParaRPr lang="en-IN" sz="4000"/>
          </a:p>
          <a:p>
            <a:endParaRPr lang="en-IN" sz="1800" b="1">
              <a:latin typeface="+mn-lt"/>
              <a:ea typeface="+mn-ea"/>
              <a:cs typeface="+mn-cs"/>
            </a:endParaRPr>
          </a:p>
        </p:txBody>
      </p:sp>
      <p:sp>
        <p:nvSpPr>
          <p:cNvPr id="17" name="TextBox 16">
            <a:extLst>
              <a:ext uri="{FF2B5EF4-FFF2-40B4-BE49-F238E27FC236}">
                <a16:creationId xmlns:a16="http://schemas.microsoft.com/office/drawing/2014/main" id="{C70163AF-0B6A-6964-F7C7-05270C81FF48}"/>
              </a:ext>
            </a:extLst>
          </p:cNvPr>
          <p:cNvSpPr txBox="1"/>
          <p:nvPr/>
        </p:nvSpPr>
        <p:spPr>
          <a:xfrm>
            <a:off x="0" y="3932615"/>
            <a:ext cx="12097512" cy="923330"/>
          </a:xfrm>
          <a:prstGeom prst="rect">
            <a:avLst/>
          </a:prstGeom>
          <a:solidFill>
            <a:schemeClr val="accent6">
              <a:lumMod val="20000"/>
              <a:lumOff val="80000"/>
            </a:schemeClr>
          </a:solidFill>
        </p:spPr>
        <p:txBody>
          <a:bodyPr wrap="square">
            <a:spAutoFit/>
          </a:bodyPr>
          <a:lstStyle/>
          <a:p>
            <a:r>
              <a:rPr lang="en-US" b="1" i="1">
                <a:solidFill>
                  <a:srgbClr val="2A2A2A"/>
                </a:solidFill>
                <a:effectLst/>
                <a:latin typeface="Work Sans" pitchFamily="2" charset="0"/>
              </a:rPr>
              <a:t>Target network</a:t>
            </a:r>
            <a:r>
              <a:rPr lang="en-US" b="0" i="0">
                <a:solidFill>
                  <a:srgbClr val="2A2A2A"/>
                </a:solidFill>
                <a:effectLst/>
                <a:latin typeface="Work Sans" pitchFamily="2" charset="0"/>
              </a:rPr>
              <a:t> is a separate neural network that is used to compute the target Q-values for training. It is identical in architecture to the main network but has frozen weights that are periodically updated to match the main network’s weights. </a:t>
            </a:r>
            <a:endParaRPr lang="en-IN"/>
          </a:p>
        </p:txBody>
      </p:sp>
      <p:sp>
        <p:nvSpPr>
          <p:cNvPr id="19" name="TextBox 18">
            <a:extLst>
              <a:ext uri="{FF2B5EF4-FFF2-40B4-BE49-F238E27FC236}">
                <a16:creationId xmlns:a16="http://schemas.microsoft.com/office/drawing/2014/main" id="{452FDB74-FC8B-7AC2-2CB8-63D7238C85DE}"/>
              </a:ext>
            </a:extLst>
          </p:cNvPr>
          <p:cNvSpPr txBox="1"/>
          <p:nvPr/>
        </p:nvSpPr>
        <p:spPr>
          <a:xfrm>
            <a:off x="158496" y="5071563"/>
            <a:ext cx="12024360" cy="923330"/>
          </a:xfrm>
          <a:prstGeom prst="rect">
            <a:avLst/>
          </a:prstGeom>
          <a:noFill/>
        </p:spPr>
        <p:txBody>
          <a:bodyPr wrap="square">
            <a:spAutoFit/>
          </a:bodyPr>
          <a:lstStyle/>
          <a:p>
            <a:r>
              <a:rPr lang="en-US" b="0" i="0">
                <a:solidFill>
                  <a:srgbClr val="2A2A2A"/>
                </a:solidFill>
                <a:effectLst/>
                <a:latin typeface="Work Sans" pitchFamily="2" charset="0"/>
              </a:rPr>
              <a:t>Think of this as a "</a:t>
            </a:r>
            <a:r>
              <a:rPr lang="en-US" b="0" i="1">
                <a:solidFill>
                  <a:srgbClr val="2A2A2A"/>
                </a:solidFill>
                <a:effectLst/>
                <a:latin typeface="Work Sans" pitchFamily="2" charset="0"/>
              </a:rPr>
              <a:t>stable guidebook</a:t>
            </a:r>
            <a:r>
              <a:rPr lang="en-US" b="0" i="0">
                <a:solidFill>
                  <a:srgbClr val="2A2A2A"/>
                </a:solidFill>
                <a:effectLst/>
                <a:latin typeface="Work Sans" pitchFamily="2" charset="0"/>
              </a:rPr>
              <a:t>" for the agent. While the main network is constantly learning and updating, the target network provides stable Q-values for training. It’s like having a reliable, periodically updated manual to refer to, which helps keep learning stable and consistent.</a:t>
            </a:r>
            <a:endParaRPr lang="en-IN"/>
          </a:p>
        </p:txBody>
      </p:sp>
      <p:sp>
        <p:nvSpPr>
          <p:cNvPr id="20" name="Title 1">
            <a:extLst>
              <a:ext uri="{FF2B5EF4-FFF2-40B4-BE49-F238E27FC236}">
                <a16:creationId xmlns:a16="http://schemas.microsoft.com/office/drawing/2014/main" id="{62A9EC51-E2AE-55D6-4316-91525FE8623C}"/>
              </a:ext>
            </a:extLst>
          </p:cNvPr>
          <p:cNvSpPr txBox="1">
            <a:spLocks/>
          </p:cNvSpPr>
          <p:nvPr/>
        </p:nvSpPr>
        <p:spPr>
          <a:xfrm>
            <a:off x="3972560" y="3496551"/>
            <a:ext cx="10515600" cy="436064"/>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a:t>1.1.3 Target Network</a:t>
            </a:r>
          </a:p>
        </p:txBody>
      </p:sp>
    </p:spTree>
    <p:extLst>
      <p:ext uri="{BB962C8B-B14F-4D97-AF65-F5344CB8AC3E}">
        <p14:creationId xmlns:p14="http://schemas.microsoft.com/office/powerpoint/2010/main" val="1136544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3F542-0D86-D838-3FF1-7E34F6BDE9E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C9652AA-05E2-221C-9A8C-734B9756938B}"/>
              </a:ext>
            </a:extLst>
          </p:cNvPr>
          <p:cNvSpPr>
            <a:spLocks noGrp="1"/>
          </p:cNvSpPr>
          <p:nvPr>
            <p:ph idx="1"/>
          </p:nvPr>
        </p:nvSpPr>
        <p:spPr/>
        <p:txBody>
          <a:bodyPr/>
          <a:lstStyle/>
          <a:p>
            <a:endParaRPr lang="en-IN"/>
          </a:p>
        </p:txBody>
      </p:sp>
      <p:sp>
        <p:nvSpPr>
          <p:cNvPr id="7" name="TextBox 6">
            <a:extLst>
              <a:ext uri="{FF2B5EF4-FFF2-40B4-BE49-F238E27FC236}">
                <a16:creationId xmlns:a16="http://schemas.microsoft.com/office/drawing/2014/main" id="{5EC54157-882E-C092-EE64-923A63CA8DBF}"/>
              </a:ext>
            </a:extLst>
          </p:cNvPr>
          <p:cNvSpPr txBox="1"/>
          <p:nvPr/>
        </p:nvSpPr>
        <p:spPr>
          <a:xfrm>
            <a:off x="393192" y="5578633"/>
            <a:ext cx="6108192" cy="646331"/>
          </a:xfrm>
          <a:prstGeom prst="rect">
            <a:avLst/>
          </a:prstGeom>
          <a:noFill/>
        </p:spPr>
        <p:txBody>
          <a:bodyPr wrap="square">
            <a:spAutoFit/>
          </a:bodyPr>
          <a:lstStyle/>
          <a:p>
            <a:r>
              <a:rPr lang="en-IN"/>
              <a:t>https://towardsdatascience.com/reinforcement-learning-from-scratch-deep-q-networks-0a8d33ce165b/</a:t>
            </a:r>
          </a:p>
        </p:txBody>
      </p:sp>
    </p:spTree>
    <p:extLst>
      <p:ext uri="{BB962C8B-B14F-4D97-AF65-F5344CB8AC3E}">
        <p14:creationId xmlns:p14="http://schemas.microsoft.com/office/powerpoint/2010/main" val="274164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6EB86-E9E4-A46F-7276-A15D5B4D6E22}"/>
              </a:ext>
            </a:extLst>
          </p:cNvPr>
          <p:cNvSpPr>
            <a:spLocks noGrp="1"/>
          </p:cNvSpPr>
          <p:nvPr>
            <p:ph type="title"/>
          </p:nvPr>
        </p:nvSpPr>
        <p:spPr/>
        <p:txBody>
          <a:bodyPr>
            <a:normAutofit fontScale="90000"/>
          </a:bodyPr>
          <a:lstStyle/>
          <a:p>
            <a:r>
              <a:rPr lang="en-IN"/>
              <a:t>DQN Algorithm</a:t>
            </a:r>
          </a:p>
        </p:txBody>
      </p:sp>
      <p:sp>
        <p:nvSpPr>
          <p:cNvPr id="7" name="TextBox 6">
            <a:extLst>
              <a:ext uri="{FF2B5EF4-FFF2-40B4-BE49-F238E27FC236}">
                <a16:creationId xmlns:a16="http://schemas.microsoft.com/office/drawing/2014/main" id="{0558E3D0-78BC-B630-E0A7-84E481BE9923}"/>
              </a:ext>
            </a:extLst>
          </p:cNvPr>
          <p:cNvSpPr txBox="1"/>
          <p:nvPr/>
        </p:nvSpPr>
        <p:spPr>
          <a:xfrm>
            <a:off x="6181344" y="-9778"/>
            <a:ext cx="6108192" cy="1354217"/>
          </a:xfrm>
          <a:prstGeom prst="rect">
            <a:avLst/>
          </a:prstGeom>
          <a:noFill/>
        </p:spPr>
        <p:txBody>
          <a:bodyPr wrap="square">
            <a:spAutoFit/>
          </a:bodyPr>
          <a:lstStyle/>
          <a:p>
            <a:r>
              <a:rPr lang="en-IN" sz="3200" b="1">
                <a:solidFill>
                  <a:srgbClr val="C00000"/>
                </a:solidFill>
              </a:rPr>
              <a:t>Environment → Q-Network: get state, predict Q-values.</a:t>
            </a:r>
          </a:p>
          <a:p>
            <a:pPr marL="285750" indent="-285750">
              <a:buFont typeface="Arial" panose="020B0604020202020204" pitchFamily="34" charset="0"/>
              <a:buChar char="•"/>
            </a:pPr>
            <a:endParaRPr lang="en-I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234E11-DCC9-4AF7-CD73-58B5E502D9A5}"/>
                  </a:ext>
                </a:extLst>
              </p:cNvPr>
              <p:cNvSpPr txBox="1"/>
              <p:nvPr/>
            </p:nvSpPr>
            <p:spPr>
              <a:xfrm>
                <a:off x="757428" y="836280"/>
                <a:ext cx="11532108" cy="1815882"/>
              </a:xfrm>
              <a:prstGeom prst="rect">
                <a:avLst/>
              </a:prstGeom>
              <a:noFill/>
            </p:spPr>
            <p:txBody>
              <a:bodyPr wrap="square">
                <a:spAutoFit/>
              </a:bodyPr>
              <a:lstStyle/>
              <a:p>
                <a:pPr>
                  <a:buNone/>
                </a:pPr>
                <a:r>
                  <a:rPr lang="en-IN" sz="2800" b="1"/>
                  <a:t>1.Start with the Environment</a:t>
                </a:r>
              </a:p>
              <a:p>
                <a:pPr>
                  <a:buFont typeface="Arial" panose="020B0604020202020204" pitchFamily="34" charset="0"/>
                  <a:buChar char="•"/>
                </a:pPr>
                <a:r>
                  <a:rPr lang="en-IN" sz="2800"/>
                  <a:t>The </a:t>
                </a:r>
                <a:r>
                  <a:rPr lang="en-IN" sz="2800" b="1"/>
                  <a:t>environment</a:t>
                </a:r>
                <a:r>
                  <a:rPr lang="en-IN" sz="2800"/>
                  <a:t> represents the task — for example, a game, a robot, or a control problem.</a:t>
                </a:r>
              </a:p>
              <a:p>
                <a:pPr>
                  <a:buFont typeface="Arial" panose="020B0604020202020204" pitchFamily="34" charset="0"/>
                  <a:buChar char="•"/>
                </a:pPr>
                <a:r>
                  <a:rPr lang="en-IN" sz="2800"/>
                  <a:t>It provides the </a:t>
                </a:r>
                <a:r>
                  <a:rPr lang="en-IN" sz="2800" b="1"/>
                  <a:t>current state</a:t>
                </a:r>
                <a:r>
                  <a:rPr lang="en-IN" sz="2800"/>
                  <a:t> </a:t>
                </a:r>
                <a14:m>
                  <m:oMath xmlns:m="http://schemas.openxmlformats.org/officeDocument/2006/math">
                    <m:sSub>
                      <m:sSubPr>
                        <m:ctrlPr>
                          <a:rPr lang="ar-AE" sz="2800" i="1">
                            <a:latin typeface="Cambria Math" panose="02040503050406030204" pitchFamily="18" charset="0"/>
                          </a:rPr>
                        </m:ctrlPr>
                      </m:sSubPr>
                      <m:e>
                        <m:r>
                          <a:rPr lang="en-IN" sz="2800" b="0" i="1" smtClean="0">
                            <a:latin typeface="Cambria Math" panose="02040503050406030204" pitchFamily="18" charset="0"/>
                          </a:rPr>
                          <m:t>(</m:t>
                        </m:r>
                        <m:r>
                          <a:rPr lang="ar-AE" sz="2800" i="1">
                            <a:latin typeface="Cambria Math" panose="02040503050406030204" pitchFamily="18" charset="0"/>
                          </a:rPr>
                          <m:t>𝑠</m:t>
                        </m:r>
                      </m:e>
                      <m:sub>
                        <m:r>
                          <a:rPr lang="ar-AE" sz="2800" i="1">
                            <a:latin typeface="Cambria Math" panose="02040503050406030204" pitchFamily="18" charset="0"/>
                          </a:rPr>
                          <m:t>𝑡</m:t>
                        </m:r>
                      </m:sub>
                    </m:sSub>
                    <m:r>
                      <a:rPr lang="en-IN" sz="2800" b="0" i="0" smtClean="0">
                        <a:latin typeface="Cambria Math" panose="02040503050406030204" pitchFamily="18" charset="0"/>
                      </a:rPr>
                      <m:t>), </m:t>
                    </m:r>
                  </m:oMath>
                </a14:m>
                <a:r>
                  <a:rPr lang="en-IN" sz="2800"/>
                  <a:t>the situation at this moment.</a:t>
                </a:r>
              </a:p>
            </p:txBody>
          </p:sp>
        </mc:Choice>
        <mc:Fallback xmlns="">
          <p:sp>
            <p:nvSpPr>
              <p:cNvPr id="9" name="TextBox 8">
                <a:extLst>
                  <a:ext uri="{FF2B5EF4-FFF2-40B4-BE49-F238E27FC236}">
                    <a16:creationId xmlns:a16="http://schemas.microsoft.com/office/drawing/2014/main" id="{7F234E11-DCC9-4AF7-CD73-58B5E502D9A5}"/>
                  </a:ext>
                </a:extLst>
              </p:cNvPr>
              <p:cNvSpPr txBox="1">
                <a:spLocks noRot="1" noChangeAspect="1" noMove="1" noResize="1" noEditPoints="1" noAdjustHandles="1" noChangeArrowheads="1" noChangeShapeType="1" noTextEdit="1"/>
              </p:cNvSpPr>
              <p:nvPr/>
            </p:nvSpPr>
            <p:spPr>
              <a:xfrm>
                <a:off x="757428" y="836280"/>
                <a:ext cx="11532108" cy="1815882"/>
              </a:xfrm>
              <a:prstGeom prst="rect">
                <a:avLst/>
              </a:prstGeom>
              <a:blipFill>
                <a:blip r:embed="rId3"/>
                <a:stretch>
                  <a:fillRect l="-1057" t="-3020" b="-8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2985423-3FEF-EDEB-10BC-307A0A2B0CB5}"/>
                  </a:ext>
                </a:extLst>
              </p:cNvPr>
              <p:cNvSpPr txBox="1"/>
              <p:nvPr/>
            </p:nvSpPr>
            <p:spPr>
              <a:xfrm>
                <a:off x="417576" y="2723206"/>
                <a:ext cx="11963400" cy="400110"/>
              </a:xfrm>
              <a:prstGeom prst="rect">
                <a:avLst/>
              </a:prstGeom>
              <a:noFill/>
            </p:spPr>
            <p:txBody>
              <a:bodyPr wrap="square">
                <a:spAutoFit/>
              </a:bodyPr>
              <a:lstStyle/>
              <a:p>
                <a:pPr>
                  <a:buNone/>
                </a:pPr>
                <a:r>
                  <a:rPr lang="en-IN" sz="2000"/>
                  <a:t>At each time step, the environment gives the current state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𝑡</m:t>
                        </m:r>
                      </m:sub>
                    </m:sSub>
                  </m:oMath>
                </a14:m>
                <a:r>
                  <a:rPr lang="ar-AE" sz="2000"/>
                  <a:t>. </a:t>
                </a:r>
                <a:r>
                  <a:rPr lang="en-IN" sz="2000"/>
                  <a:t>The agent feeds this state into the Q-Network.”</a:t>
                </a:r>
              </a:p>
            </p:txBody>
          </p:sp>
        </mc:Choice>
        <mc:Fallback xmlns="">
          <p:sp>
            <p:nvSpPr>
              <p:cNvPr id="11" name="TextBox 10">
                <a:extLst>
                  <a:ext uri="{FF2B5EF4-FFF2-40B4-BE49-F238E27FC236}">
                    <a16:creationId xmlns:a16="http://schemas.microsoft.com/office/drawing/2014/main" id="{12985423-3FEF-EDEB-10BC-307A0A2B0CB5}"/>
                  </a:ext>
                </a:extLst>
              </p:cNvPr>
              <p:cNvSpPr txBox="1">
                <a:spLocks noRot="1" noChangeAspect="1" noMove="1" noResize="1" noEditPoints="1" noAdjustHandles="1" noChangeArrowheads="1" noChangeShapeType="1" noTextEdit="1"/>
              </p:cNvSpPr>
              <p:nvPr/>
            </p:nvSpPr>
            <p:spPr>
              <a:xfrm>
                <a:off x="417576" y="2723206"/>
                <a:ext cx="11963400" cy="400110"/>
              </a:xfrm>
              <a:prstGeom prst="rect">
                <a:avLst/>
              </a:prstGeom>
              <a:blipFill>
                <a:blip r:embed="rId4"/>
                <a:stretch>
                  <a:fillRect l="-561" t="-10769"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258E48C-5F7B-9FE5-5093-266225DCCF38}"/>
                  </a:ext>
                </a:extLst>
              </p:cNvPr>
              <p:cNvSpPr txBox="1"/>
              <p:nvPr/>
            </p:nvSpPr>
            <p:spPr>
              <a:xfrm>
                <a:off x="2013204" y="3421624"/>
                <a:ext cx="8165592" cy="2308324"/>
              </a:xfrm>
              <a:prstGeom prst="rect">
                <a:avLst/>
              </a:prstGeom>
              <a:noFill/>
              <a:ln w="50800">
                <a:solidFill>
                  <a:schemeClr val="accent1"/>
                </a:solidFill>
              </a:ln>
            </p:spPr>
            <p:txBody>
              <a:bodyPr wrap="square">
                <a:spAutoFit/>
              </a:bodyPr>
              <a:lstStyle/>
              <a:p>
                <a:pPr>
                  <a:buNone/>
                </a:pPr>
                <a:r>
                  <a:rPr lang="en-IN"/>
                  <a:t>At time step </a:t>
                </a:r>
                <a14:m>
                  <m:oMath xmlns:m="http://schemas.openxmlformats.org/officeDocument/2006/math">
                    <m:r>
                      <a:rPr lang="en-IN" i="1">
                        <a:latin typeface="Cambria Math" panose="02040503050406030204" pitchFamily="18" charset="0"/>
                      </a:rPr>
                      <m:t>𝑡</m:t>
                    </m:r>
                  </m:oMath>
                </a14:m>
                <a:r>
                  <a:rPr lang="en-IN"/>
                  <a:t>:</a:t>
                </a:r>
              </a:p>
              <a:p>
                <a:pPr>
                  <a:buFont typeface="Arial" panose="020B0604020202020204" pitchFamily="34" charset="0"/>
                  <a:buChar char="•"/>
                </a:pPr>
                <a:r>
                  <a:rPr lang="en-IN"/>
                  <a:t>The environment provides the </a:t>
                </a:r>
                <a:r>
                  <a:rPr lang="en-IN" b="1"/>
                  <a:t>current state</a:t>
                </a:r>
                <a:r>
                  <a:rPr lang="en-IN"/>
                  <a:t>:</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r>
                        <a:rPr lang="ar-AE" i="0">
                          <a:latin typeface="Cambria Math" panose="02040503050406030204" pitchFamily="18" charset="0"/>
                        </a:rPr>
                        <m:t>∈</m:t>
                      </m:r>
                      <m:r>
                        <a:rPr lang="ar-AE" i="0">
                          <a:latin typeface="Cambria Math" panose="02040503050406030204" pitchFamily="18" charset="0"/>
                        </a:rPr>
                        <m:t>𝒮</m:t>
                      </m:r>
                    </m:oMath>
                  </m:oMathPara>
                </a14:m>
                <a:endParaRPr lang="ar-AE"/>
              </a:p>
              <a:p>
                <a:pPr>
                  <a:buFont typeface="Arial" panose="020B0604020202020204" pitchFamily="34" charset="0"/>
                  <a:buChar char="•"/>
                </a:pPr>
                <a:r>
                  <a:rPr lang="en-IN"/>
                  <a:t>The Q-network (parameterized by weights </a:t>
                </a:r>
                <a14:m>
                  <m:oMath xmlns:m="http://schemas.openxmlformats.org/officeDocument/2006/math">
                    <m:r>
                      <a:rPr lang="en-IN" i="1">
                        <a:latin typeface="Cambria Math" panose="02040503050406030204" pitchFamily="18" charset="0"/>
                      </a:rPr>
                      <m:t>𝜃</m:t>
                    </m:r>
                  </m:oMath>
                </a14:m>
                <a:r>
                  <a:rPr lang="en-IN"/>
                  <a:t>) predicts Q-values for all possible actions: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e>
                          <m:r>
                            <a:rPr lang="ar-AE" i="1">
                              <a:latin typeface="Cambria Math" panose="02040503050406030204" pitchFamily="18" charset="0"/>
                            </a:rPr>
                            <m:t>𝑎</m:t>
                          </m:r>
                        </m:e>
                      </m:d>
                      <m:r>
                        <a:rPr lang="ar-AE" i="0">
                          <a:latin typeface="Cambria Math" panose="02040503050406030204" pitchFamily="18" charset="0"/>
                        </a:rPr>
                        <m:t> </m:t>
                      </m:r>
                      <m:r>
                        <m:rPr>
                          <m:nor/>
                        </m:rPr>
                        <a:rPr lang="en-IN" b="0" i="1">
                          <a:latin typeface="Cambria Math" panose="02040503050406030204" pitchFamily="18" charset="0"/>
                        </a:rPr>
                        <m:t>for</m:t>
                      </m:r>
                      <m:r>
                        <m:rPr>
                          <m:nor/>
                        </m:rPr>
                        <a:rPr lang="en-IN" b="0" i="1">
                          <a:latin typeface="Cambria Math" panose="02040503050406030204" pitchFamily="18" charset="0"/>
                        </a:rPr>
                        <m:t> </m:t>
                      </m:r>
                      <m:r>
                        <m:rPr>
                          <m:nor/>
                        </m:rPr>
                        <a:rPr lang="en-IN" b="0" i="1">
                          <a:latin typeface="Cambria Math" panose="02040503050406030204" pitchFamily="18" charset="0"/>
                        </a:rPr>
                        <m:t>each</m:t>
                      </m:r>
                      <m:r>
                        <m:rPr>
                          <m:nor/>
                        </m:rPr>
                        <a:rPr lang="en-IN" b="0" i="1">
                          <a:latin typeface="Cambria Math" panose="02040503050406030204" pitchFamily="18" charset="0"/>
                        </a:rPr>
                        <m:t> </m:t>
                      </m:r>
                      <m:r>
                        <a:rPr lang="en-IN" b="0" i="1">
                          <a:latin typeface="Cambria Math" panose="02040503050406030204" pitchFamily="18" charset="0"/>
                        </a:rPr>
                        <m:t>𝑎</m:t>
                      </m:r>
                      <m:r>
                        <a:rPr lang="en-IN" b="0" i="0">
                          <a:latin typeface="Cambria Math" panose="02040503050406030204" pitchFamily="18" charset="0"/>
                        </a:rPr>
                        <m:t>∈</m:t>
                      </m:r>
                      <m:r>
                        <a:rPr lang="en-IN" b="0" i="0">
                          <a:latin typeface="Cambria Math" panose="02040503050406030204" pitchFamily="18" charset="0"/>
                        </a:rPr>
                        <m:t>𝒜</m:t>
                      </m:r>
                    </m:oMath>
                  </m:oMathPara>
                </a14:m>
                <a:endParaRPr lang="en-IN" b="0"/>
              </a:p>
              <a:p>
                <a:pPr>
                  <a:buNone/>
                </a:pPr>
                <a:r>
                  <a:rPr lang="en-IN"/>
                  <a:t>If there are </a:t>
                </a:r>
                <a14:m>
                  <m:oMath xmlns:m="http://schemas.openxmlformats.org/officeDocument/2006/math">
                    <m:r>
                      <a:rPr lang="en-IN" i="1">
                        <a:latin typeface="Cambria Math" panose="02040503050406030204" pitchFamily="18" charset="0"/>
                      </a:rPr>
                      <m:t>𝑛</m:t>
                    </m:r>
                  </m:oMath>
                </a14:m>
                <a:r>
                  <a:rPr lang="en-IN"/>
                  <a:t> actions, output vector:</a:t>
                </a:r>
              </a:p>
              <a:p>
                <a:pPr>
                  <a:buNone/>
                </a:pPr>
                <a14:m>
                  <m:oMathPara xmlns:m="http://schemas.openxmlformats.org/officeDocument/2006/math">
                    <m:oMathParaPr>
                      <m:jc m:val="centerGroup"/>
                    </m:oMathParaPr>
                    <m:oMath xmlns:m="http://schemas.openxmlformats.org/officeDocument/2006/math">
                      <m:sSub>
                        <m:sSubPr>
                          <m:ctrlPr>
                            <a:rPr lang="ar-AE" b="1" i="1">
                              <a:latin typeface="Cambria Math" panose="02040503050406030204" pitchFamily="18" charset="0"/>
                            </a:rPr>
                          </m:ctrlPr>
                        </m:sSubPr>
                        <m:e>
                          <m:r>
                            <a:rPr lang="ar-AE" b="1">
                              <a:latin typeface="Cambria Math" panose="02040503050406030204" pitchFamily="18" charset="0"/>
                            </a:rPr>
                            <m:t>𝐐</m:t>
                          </m:r>
                        </m:e>
                        <m:sub>
                          <m:r>
                            <a:rPr lang="ar-AE" b="0" i="1">
                              <a:latin typeface="Cambria Math" panose="02040503050406030204" pitchFamily="18" charset="0"/>
                            </a:rPr>
                            <m:t>𝜃</m:t>
                          </m:r>
                        </m:sub>
                      </m:sSub>
                      <m:d>
                        <m:dPr>
                          <m:ctrlPr>
                            <a:rPr lang="ar-AE" b="1" i="1">
                              <a:latin typeface="Cambria Math" panose="02040503050406030204" pitchFamily="18" charset="0"/>
                            </a:rPr>
                          </m:ctrlPr>
                        </m:dPr>
                        <m:e>
                          <m:sSub>
                            <m:sSubPr>
                              <m:ctrlPr>
                                <a:rPr lang="ar-AE" b="1" i="1">
                                  <a:latin typeface="Cambria Math" panose="02040503050406030204" pitchFamily="18" charset="0"/>
                                </a:rPr>
                              </m:ctrlPr>
                            </m:sSubPr>
                            <m:e>
                              <m:r>
                                <a:rPr lang="ar-AE" b="0" i="1">
                                  <a:latin typeface="Cambria Math" panose="02040503050406030204" pitchFamily="18" charset="0"/>
                                </a:rPr>
                                <m:t>𝑠</m:t>
                              </m:r>
                            </m:e>
                            <m:sub>
                              <m:r>
                                <a:rPr lang="ar-AE" b="0" i="1">
                                  <a:latin typeface="Cambria Math" panose="02040503050406030204" pitchFamily="18" charset="0"/>
                                </a:rPr>
                                <m:t>𝑡</m:t>
                              </m:r>
                            </m:sub>
                          </m:sSub>
                        </m:e>
                      </m:d>
                      <m:r>
                        <a:rPr lang="ar-AE" b="0" i="0">
                          <a:latin typeface="Cambria Math" panose="02040503050406030204" pitchFamily="18" charset="0"/>
                        </a:rPr>
                        <m:t>=</m:t>
                      </m:r>
                      <m:d>
                        <m:dPr>
                          <m:begChr m:val="["/>
                          <m:endChr m:val="]"/>
                          <m:sepChr m:val=","/>
                          <m:ctrlPr>
                            <a:rPr lang="ar-AE" b="0" i="1">
                              <a:latin typeface="Cambria Math" panose="02040503050406030204" pitchFamily="18" charset="0"/>
                            </a:rPr>
                          </m:ctrlPr>
                        </m:dPr>
                        <m:e>
                          <m:sSub>
                            <m:sSubPr>
                              <m:ctrlPr>
                                <a:rPr lang="ar-AE" b="0" i="1">
                                  <a:latin typeface="Cambria Math" panose="02040503050406030204" pitchFamily="18" charset="0"/>
                                </a:rPr>
                              </m:ctrlPr>
                            </m:sSubPr>
                            <m:e>
                              <m:r>
                                <a:rPr lang="ar-AE" b="0" i="1">
                                  <a:latin typeface="Cambria Math" panose="02040503050406030204" pitchFamily="18" charset="0"/>
                                </a:rPr>
                                <m:t>𝑄</m:t>
                              </m:r>
                            </m:e>
                            <m:sub>
                              <m:r>
                                <a:rPr lang="ar-AE" b="0" i="1">
                                  <a:latin typeface="Cambria Math" panose="02040503050406030204" pitchFamily="18" charset="0"/>
                                </a:rPr>
                                <m:t>𝜃</m:t>
                              </m:r>
                            </m:sub>
                          </m:sSub>
                        </m:e>
                        <m:e>
                          <m:d>
                            <m:dPr>
                              <m:sepChr m:val=","/>
                              <m:ctrlPr>
                                <a:rPr lang="ar-AE" b="0" i="1">
                                  <a:latin typeface="Cambria Math" panose="02040503050406030204" pitchFamily="18" charset="0"/>
                                </a:rPr>
                              </m:ctrlPr>
                            </m:dPr>
                            <m:e>
                              <m:sSub>
                                <m:sSubPr>
                                  <m:ctrlPr>
                                    <a:rPr lang="ar-AE" b="0" i="1">
                                      <a:latin typeface="Cambria Math" panose="02040503050406030204" pitchFamily="18" charset="0"/>
                                    </a:rPr>
                                  </m:ctrlPr>
                                </m:sSubPr>
                                <m:e>
                                  <m:r>
                                    <a:rPr lang="ar-AE" b="0" i="1">
                                      <a:latin typeface="Cambria Math" panose="02040503050406030204" pitchFamily="18" charset="0"/>
                                    </a:rPr>
                                    <m:t>𝑠</m:t>
                                  </m:r>
                                </m:e>
                                <m:sub>
                                  <m:r>
                                    <a:rPr lang="ar-AE" b="0" i="1">
                                      <a:latin typeface="Cambria Math" panose="02040503050406030204" pitchFamily="18" charset="0"/>
                                    </a:rPr>
                                    <m:t>𝑡</m:t>
                                  </m:r>
                                </m:sub>
                              </m:sSub>
                            </m:e>
                            <m:e>
                              <m:sSub>
                                <m:sSubPr>
                                  <m:ctrlPr>
                                    <a:rPr lang="ar-AE" b="0" i="1">
                                      <a:latin typeface="Cambria Math" panose="02040503050406030204" pitchFamily="18" charset="0"/>
                                    </a:rPr>
                                  </m:ctrlPr>
                                </m:sSubPr>
                                <m:e>
                                  <m:r>
                                    <a:rPr lang="ar-AE" b="0" i="1">
                                      <a:latin typeface="Cambria Math" panose="02040503050406030204" pitchFamily="18" charset="0"/>
                                    </a:rPr>
                                    <m:t>𝑎</m:t>
                                  </m:r>
                                </m:e>
                                <m:sub>
                                  <m:r>
                                    <a:rPr lang="ar-AE" b="0" i="0">
                                      <a:latin typeface="Cambria Math" panose="02040503050406030204" pitchFamily="18" charset="0"/>
                                    </a:rPr>
                                    <m:t>1</m:t>
                                  </m:r>
                                </m:sub>
                              </m:sSub>
                            </m:e>
                          </m:d>
                        </m:e>
                        <m:e>
                          <m:sSub>
                            <m:sSubPr>
                              <m:ctrlPr>
                                <a:rPr lang="ar-AE" b="0" i="1">
                                  <a:latin typeface="Cambria Math" panose="02040503050406030204" pitchFamily="18" charset="0"/>
                                </a:rPr>
                              </m:ctrlPr>
                            </m:sSubPr>
                            <m:e>
                              <m:r>
                                <a:rPr lang="ar-AE" b="0" i="1">
                                  <a:latin typeface="Cambria Math" panose="02040503050406030204" pitchFamily="18" charset="0"/>
                                </a:rPr>
                                <m:t>𝑄</m:t>
                              </m:r>
                            </m:e>
                            <m:sub>
                              <m:r>
                                <a:rPr lang="ar-AE" b="0" i="1">
                                  <a:latin typeface="Cambria Math" panose="02040503050406030204" pitchFamily="18" charset="0"/>
                                </a:rPr>
                                <m:t>𝜃</m:t>
                              </m:r>
                            </m:sub>
                          </m:sSub>
                        </m:e>
                        <m:e>
                          <m:d>
                            <m:dPr>
                              <m:sepChr m:val=","/>
                              <m:ctrlPr>
                                <a:rPr lang="ar-AE" b="0" i="1">
                                  <a:latin typeface="Cambria Math" panose="02040503050406030204" pitchFamily="18" charset="0"/>
                                </a:rPr>
                              </m:ctrlPr>
                            </m:dPr>
                            <m:e>
                              <m:sSub>
                                <m:sSubPr>
                                  <m:ctrlPr>
                                    <a:rPr lang="ar-AE" b="0" i="1">
                                      <a:latin typeface="Cambria Math" panose="02040503050406030204" pitchFamily="18" charset="0"/>
                                    </a:rPr>
                                  </m:ctrlPr>
                                </m:sSubPr>
                                <m:e>
                                  <m:r>
                                    <a:rPr lang="ar-AE" b="0" i="1">
                                      <a:latin typeface="Cambria Math" panose="02040503050406030204" pitchFamily="18" charset="0"/>
                                    </a:rPr>
                                    <m:t>𝑠</m:t>
                                  </m:r>
                                </m:e>
                                <m:sub>
                                  <m:r>
                                    <a:rPr lang="ar-AE" b="0" i="1">
                                      <a:latin typeface="Cambria Math" panose="02040503050406030204" pitchFamily="18" charset="0"/>
                                    </a:rPr>
                                    <m:t>𝑡</m:t>
                                  </m:r>
                                </m:sub>
                              </m:sSub>
                            </m:e>
                            <m:e>
                              <m:sSub>
                                <m:sSubPr>
                                  <m:ctrlPr>
                                    <a:rPr lang="ar-AE" b="0" i="1">
                                      <a:latin typeface="Cambria Math" panose="02040503050406030204" pitchFamily="18" charset="0"/>
                                    </a:rPr>
                                  </m:ctrlPr>
                                </m:sSubPr>
                                <m:e>
                                  <m:r>
                                    <a:rPr lang="ar-AE" b="0" i="1">
                                      <a:latin typeface="Cambria Math" panose="02040503050406030204" pitchFamily="18" charset="0"/>
                                    </a:rPr>
                                    <m:t>𝑎</m:t>
                                  </m:r>
                                </m:e>
                                <m:sub>
                                  <m:r>
                                    <a:rPr lang="ar-AE" b="0" i="0">
                                      <a:latin typeface="Cambria Math" panose="02040503050406030204" pitchFamily="18" charset="0"/>
                                    </a:rPr>
                                    <m:t>2</m:t>
                                  </m:r>
                                </m:sub>
                              </m:sSub>
                            </m:e>
                          </m:d>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𝑄</m:t>
                              </m:r>
                            </m:e>
                            <m:sub>
                              <m:r>
                                <a:rPr lang="ar-AE" b="0" i="1">
                                  <a:latin typeface="Cambria Math" panose="02040503050406030204" pitchFamily="18" charset="0"/>
                                </a:rPr>
                                <m:t>𝜃</m:t>
                              </m:r>
                            </m:sub>
                          </m:sSub>
                          <m:d>
                            <m:dPr>
                              <m:sepChr m:val=","/>
                              <m:ctrlPr>
                                <a:rPr lang="ar-AE" b="0" i="1">
                                  <a:latin typeface="Cambria Math" panose="02040503050406030204" pitchFamily="18" charset="0"/>
                                </a:rPr>
                              </m:ctrlPr>
                            </m:dPr>
                            <m:e>
                              <m:sSub>
                                <m:sSubPr>
                                  <m:ctrlPr>
                                    <a:rPr lang="ar-AE" b="0" i="1">
                                      <a:latin typeface="Cambria Math" panose="02040503050406030204" pitchFamily="18" charset="0"/>
                                    </a:rPr>
                                  </m:ctrlPr>
                                </m:sSubPr>
                                <m:e>
                                  <m:r>
                                    <a:rPr lang="ar-AE" b="0" i="1">
                                      <a:latin typeface="Cambria Math" panose="02040503050406030204" pitchFamily="18" charset="0"/>
                                    </a:rPr>
                                    <m:t>𝑠</m:t>
                                  </m:r>
                                </m:e>
                                <m:sub>
                                  <m:r>
                                    <a:rPr lang="ar-AE" b="0" i="1">
                                      <a:latin typeface="Cambria Math" panose="02040503050406030204" pitchFamily="18" charset="0"/>
                                    </a:rPr>
                                    <m:t>𝑡</m:t>
                                  </m:r>
                                </m:sub>
                              </m:sSub>
                            </m:e>
                            <m:e>
                              <m:sSub>
                                <m:sSubPr>
                                  <m:ctrlPr>
                                    <a:rPr lang="ar-AE" b="0" i="1">
                                      <a:latin typeface="Cambria Math" panose="02040503050406030204" pitchFamily="18" charset="0"/>
                                    </a:rPr>
                                  </m:ctrlPr>
                                </m:sSubPr>
                                <m:e>
                                  <m:r>
                                    <a:rPr lang="ar-AE" b="0" i="1">
                                      <a:latin typeface="Cambria Math" panose="02040503050406030204" pitchFamily="18" charset="0"/>
                                    </a:rPr>
                                    <m:t>𝑎</m:t>
                                  </m:r>
                                </m:e>
                                <m:sub>
                                  <m:r>
                                    <a:rPr lang="ar-AE" b="0" i="1">
                                      <a:latin typeface="Cambria Math" panose="02040503050406030204" pitchFamily="18" charset="0"/>
                                    </a:rPr>
                                    <m:t>𝑛</m:t>
                                  </m:r>
                                </m:sub>
                              </m:sSub>
                            </m:e>
                          </m:d>
                        </m:e>
                      </m:d>
                    </m:oMath>
                  </m:oMathPara>
                </a14:m>
                <a:endParaRPr lang="ar-AE" b="0"/>
              </a:p>
            </p:txBody>
          </p:sp>
        </mc:Choice>
        <mc:Fallback xmlns="">
          <p:sp>
            <p:nvSpPr>
              <p:cNvPr id="13" name="TextBox 12">
                <a:extLst>
                  <a:ext uri="{FF2B5EF4-FFF2-40B4-BE49-F238E27FC236}">
                    <a16:creationId xmlns:a16="http://schemas.microsoft.com/office/drawing/2014/main" id="{A258E48C-5F7B-9FE5-5093-266225DCCF38}"/>
                  </a:ext>
                </a:extLst>
              </p:cNvPr>
              <p:cNvSpPr txBox="1">
                <a:spLocks noRot="1" noChangeAspect="1" noMove="1" noResize="1" noEditPoints="1" noAdjustHandles="1" noChangeArrowheads="1" noChangeShapeType="1" noTextEdit="1"/>
              </p:cNvSpPr>
              <p:nvPr/>
            </p:nvSpPr>
            <p:spPr>
              <a:xfrm>
                <a:off x="2013204" y="3421624"/>
                <a:ext cx="8165592" cy="2308324"/>
              </a:xfrm>
              <a:prstGeom prst="rect">
                <a:avLst/>
              </a:prstGeom>
              <a:blipFill>
                <a:blip r:embed="rId5"/>
                <a:stretch>
                  <a:fillRect l="-297" t="-258"/>
                </a:stretch>
              </a:blipFill>
              <a:ln w="50800">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3491928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B21A49-9A34-8CD4-4192-CC6DFA205856}"/>
              </a:ext>
            </a:extLst>
          </p:cNvPr>
          <p:cNvSpPr>
            <a:spLocks noGrp="1"/>
          </p:cNvSpPr>
          <p:nvPr>
            <p:ph idx="1"/>
          </p:nvPr>
        </p:nvSpPr>
        <p:spPr>
          <a:xfrm>
            <a:off x="201168" y="992777"/>
            <a:ext cx="11841480" cy="5184186"/>
          </a:xfrm>
        </p:spPr>
        <p:txBody>
          <a:bodyPr/>
          <a:lstStyle/>
          <a:p>
            <a:pPr marL="0" indent="0">
              <a:buNone/>
            </a:pPr>
            <a:r>
              <a:rPr lang="en-IN" b="1"/>
              <a:t>2.Q-Network (Forward Pass)</a:t>
            </a:r>
          </a:p>
          <a:p>
            <a:endParaRPr lang="en-IN"/>
          </a:p>
        </p:txBody>
      </p:sp>
      <p:sp>
        <p:nvSpPr>
          <p:cNvPr id="4" name="Title 1">
            <a:extLst>
              <a:ext uri="{FF2B5EF4-FFF2-40B4-BE49-F238E27FC236}">
                <a16:creationId xmlns:a16="http://schemas.microsoft.com/office/drawing/2014/main" id="{FEF9AC1D-2247-BD2A-1E60-A0A270C4DBDA}"/>
              </a:ext>
            </a:extLst>
          </p:cNvPr>
          <p:cNvSpPr txBox="1">
            <a:spLocks/>
          </p:cNvSpPr>
          <p:nvPr/>
        </p:nvSpPr>
        <p:spPr>
          <a:xfrm>
            <a:off x="140208" y="134422"/>
            <a:ext cx="10515600" cy="436064"/>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t>DQN Algorithm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A301785-6DE4-AD5B-4E4D-3EB774542F53}"/>
                  </a:ext>
                </a:extLst>
              </p:cNvPr>
              <p:cNvSpPr txBox="1"/>
              <p:nvPr/>
            </p:nvSpPr>
            <p:spPr>
              <a:xfrm>
                <a:off x="685800" y="1834924"/>
                <a:ext cx="10820400" cy="2052870"/>
              </a:xfrm>
              <a:prstGeom prst="rect">
                <a:avLst/>
              </a:prstGeom>
              <a:noFill/>
            </p:spPr>
            <p:txBody>
              <a:bodyPr wrap="square">
                <a:spAutoFit/>
              </a:bodyPr>
              <a:lstStyle/>
              <a:p>
                <a:pPr>
                  <a:buFont typeface="Arial" panose="020B0604020202020204" pitchFamily="34" charset="0"/>
                  <a:buChar char="•"/>
                </a:pPr>
                <a:r>
                  <a:rPr lang="en-IN" sz="2400"/>
                  <a:t>The </a:t>
                </a:r>
                <a:r>
                  <a:rPr lang="en-IN" sz="2400" b="1"/>
                  <a:t>Q-Network</a:t>
                </a:r>
                <a:r>
                  <a:rPr lang="en-IN" sz="2400"/>
                  <a:t> takes the state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sub>
                    </m:sSub>
                  </m:oMath>
                </a14:m>
                <a:r>
                  <a:rPr lang="en-IN" sz="2400"/>
                  <a:t>and predicts Q-values for </a:t>
                </a:r>
                <a:r>
                  <a:rPr lang="en-IN" sz="2400" i="1"/>
                  <a:t>all possible actions</a:t>
                </a:r>
                <a:r>
                  <a:rPr lang="en-IN" sz="2400"/>
                  <a:t>:</a:t>
                </a:r>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𝑄</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0">
                                  <a:latin typeface="Cambria Math" panose="02040503050406030204" pitchFamily="18" charset="0"/>
                                </a:rPr>
                                <m:t>1</m:t>
                              </m:r>
                            </m:sub>
                          </m:sSub>
                        </m:e>
                      </m:d>
                      <m:r>
                        <a:rPr lang="ar-AE" sz="2400" i="0">
                          <a:latin typeface="Cambria Math" panose="02040503050406030204" pitchFamily="18" charset="0"/>
                        </a:rPr>
                        <m:t>,</m:t>
                      </m:r>
                      <m:r>
                        <a:rPr lang="ar-AE" sz="2400" i="1">
                          <a:latin typeface="Cambria Math" panose="02040503050406030204" pitchFamily="18" charset="0"/>
                        </a:rPr>
                        <m:t>𝑄</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0">
                                  <a:latin typeface="Cambria Math" panose="02040503050406030204" pitchFamily="18" charset="0"/>
                                </a:rPr>
                                <m:t>2</m:t>
                              </m:r>
                            </m:sub>
                          </m:sSub>
                        </m:e>
                      </m:d>
                      <m:r>
                        <a:rPr lang="ar-AE" sz="2400" i="0">
                          <a:latin typeface="Cambria Math" panose="02040503050406030204" pitchFamily="18" charset="0"/>
                        </a:rPr>
                        <m:t>,…,</m:t>
                      </m:r>
                      <m:r>
                        <a:rPr lang="ar-AE" sz="2400" i="1">
                          <a:latin typeface="Cambria Math" panose="02040503050406030204" pitchFamily="18" charset="0"/>
                        </a:rPr>
                        <m:t>𝑄</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𝑛</m:t>
                              </m:r>
                            </m:sub>
                          </m:sSub>
                        </m:e>
                      </m:d>
                    </m:oMath>
                  </m:oMathPara>
                </a14:m>
                <a:endParaRPr lang="ar-AE" sz="2400"/>
              </a:p>
              <a:p>
                <a:pPr>
                  <a:buFont typeface="Arial" panose="020B0604020202020204" pitchFamily="34" charset="0"/>
                  <a:buChar char="•"/>
                </a:pPr>
                <a:r>
                  <a:rPr lang="en-IN" sz="2400"/>
                  <a:t>The agent then picks an action:</a:t>
                </a:r>
              </a:p>
              <a:p>
                <a:pPr>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𝑡</m:t>
                          </m:r>
                        </m:sub>
                      </m:sSub>
                      <m:r>
                        <a:rPr lang="ar-AE" sz="2400" i="0">
                          <a:latin typeface="Cambria Math" panose="02040503050406030204" pitchFamily="18" charset="0"/>
                        </a:rPr>
                        <m:t>=</m:t>
                      </m:r>
                      <m:func>
                        <m:funcPr>
                          <m:ctrlPr>
                            <a:rPr lang="ar-AE" sz="2400" i="1">
                              <a:latin typeface="Cambria Math" panose="02040503050406030204" pitchFamily="18" charset="0"/>
                            </a:rPr>
                          </m:ctrlPr>
                        </m:funcPr>
                        <m:fName>
                          <m:r>
                            <m:rPr>
                              <m:sty m:val="p"/>
                            </m:rPr>
                            <a:rPr lang="en-IN" sz="2400" i="0">
                              <a:latin typeface="Cambria Math" panose="02040503050406030204" pitchFamily="18" charset="0"/>
                            </a:rPr>
                            <m:t>arg</m:t>
                          </m:r>
                        </m:fName>
                        <m:e>
                          <m:limLow>
                            <m:limLowPr>
                              <m:ctrlPr>
                                <a:rPr lang="ar-AE" sz="2400" i="1">
                                  <a:latin typeface="Cambria Math" panose="02040503050406030204" pitchFamily="18" charset="0"/>
                                </a:rPr>
                              </m:ctrlPr>
                            </m:limLowPr>
                            <m:e>
                              <m:func>
                                <m:funcPr>
                                  <m:ctrlPr>
                                    <a:rPr lang="ar-AE" sz="2400" i="1">
                                      <a:latin typeface="Cambria Math" panose="02040503050406030204" pitchFamily="18" charset="0"/>
                                    </a:rPr>
                                  </m:ctrlPr>
                                </m:funcPr>
                                <m:fName>
                                  <m:r>
                                    <m:rPr>
                                      <m:sty m:val="p"/>
                                    </m:rPr>
                                    <a:rPr lang="en-IN" sz="2400" i="0">
                                      <a:latin typeface="Cambria Math" panose="02040503050406030204" pitchFamily="18" charset="0"/>
                                    </a:rPr>
                                    <m:t>max</m:t>
                                  </m:r>
                                </m:fName>
                                <m:e/>
                              </m:func>
                            </m:e>
                            <m:lim>
                              <m:r>
                                <a:rPr lang="ar-AE" sz="2400" i="1">
                                  <a:latin typeface="Cambria Math" panose="02040503050406030204" pitchFamily="18" charset="0"/>
                                </a:rPr>
                                <m:t>𝑎</m:t>
                              </m:r>
                            </m:lim>
                          </m:limLow>
                        </m:e>
                      </m:func>
                      <m:r>
                        <a:rPr lang="ar-AE" sz="2400" i="1">
                          <a:latin typeface="Cambria Math" panose="02040503050406030204" pitchFamily="18" charset="0"/>
                        </a:rPr>
                        <m:t>𝑄</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sub>
                          </m:sSub>
                        </m:e>
                        <m:e>
                          <m:r>
                            <a:rPr lang="ar-AE" sz="2400" i="1">
                              <a:latin typeface="Cambria Math" panose="02040503050406030204" pitchFamily="18" charset="0"/>
                            </a:rPr>
                            <m:t>𝑎</m:t>
                          </m:r>
                        </m:e>
                        <m:e>
                          <m:r>
                            <a:rPr lang="ar-AE" sz="2400" i="1">
                              <a:latin typeface="Cambria Math" panose="02040503050406030204" pitchFamily="18" charset="0"/>
                            </a:rPr>
                            <m:t>𝜃</m:t>
                          </m:r>
                        </m:e>
                      </m:d>
                    </m:oMath>
                  </m:oMathPara>
                </a14:m>
                <a:endParaRPr lang="ar-AE" sz="2400"/>
              </a:p>
              <a:p>
                <a:r>
                  <a:rPr lang="en-IN" sz="2400"/>
                  <a:t>or occasionally a random action for exploration).</a:t>
                </a:r>
              </a:p>
            </p:txBody>
          </p:sp>
        </mc:Choice>
        <mc:Fallback xmlns="">
          <p:sp>
            <p:nvSpPr>
              <p:cNvPr id="6" name="TextBox 5">
                <a:extLst>
                  <a:ext uri="{FF2B5EF4-FFF2-40B4-BE49-F238E27FC236}">
                    <a16:creationId xmlns:a16="http://schemas.microsoft.com/office/drawing/2014/main" id="{2A301785-6DE4-AD5B-4E4D-3EB774542F53}"/>
                  </a:ext>
                </a:extLst>
              </p:cNvPr>
              <p:cNvSpPr txBox="1">
                <a:spLocks noRot="1" noChangeAspect="1" noMove="1" noResize="1" noEditPoints="1" noAdjustHandles="1" noChangeArrowheads="1" noChangeShapeType="1" noTextEdit="1"/>
              </p:cNvSpPr>
              <p:nvPr/>
            </p:nvSpPr>
            <p:spPr>
              <a:xfrm>
                <a:off x="685800" y="1834924"/>
                <a:ext cx="10820400" cy="2052870"/>
              </a:xfrm>
              <a:prstGeom prst="rect">
                <a:avLst/>
              </a:prstGeom>
              <a:blipFill>
                <a:blip r:embed="rId2"/>
                <a:stretch>
                  <a:fillRect l="-901" t="-2374" b="-563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2F211DF-D079-1956-4AC7-F7D0207186B7}"/>
              </a:ext>
            </a:extLst>
          </p:cNvPr>
          <p:cNvSpPr txBox="1"/>
          <p:nvPr/>
        </p:nvSpPr>
        <p:spPr>
          <a:xfrm>
            <a:off x="6330696" y="20073"/>
            <a:ext cx="6108192" cy="1077218"/>
          </a:xfrm>
          <a:prstGeom prst="rect">
            <a:avLst/>
          </a:prstGeom>
          <a:noFill/>
        </p:spPr>
        <p:txBody>
          <a:bodyPr wrap="square">
            <a:spAutoFit/>
          </a:bodyPr>
          <a:lstStyle/>
          <a:p>
            <a:r>
              <a:rPr lang="en-US" sz="3200" b="1">
                <a:solidFill>
                  <a:srgbClr val="C00000"/>
                </a:solidFill>
              </a:rPr>
              <a:t>Q-Network → Environment: Choose action (ε-greedy policy)</a:t>
            </a:r>
            <a:endParaRPr lang="en-IN" sz="3200" b="1">
              <a:solidFill>
                <a:srgbClr val="C00000"/>
              </a:solidFill>
            </a:endParaRPr>
          </a:p>
        </p:txBody>
      </p:sp>
      <p:pic>
        <p:nvPicPr>
          <p:cNvPr id="10" name="Picture 9">
            <a:extLst>
              <a:ext uri="{FF2B5EF4-FFF2-40B4-BE49-F238E27FC236}">
                <a16:creationId xmlns:a16="http://schemas.microsoft.com/office/drawing/2014/main" id="{1BEFC12E-C97B-5397-E5FF-1A5D68B4BD8F}"/>
              </a:ext>
            </a:extLst>
          </p:cNvPr>
          <p:cNvPicPr>
            <a:picLocks noChangeAspect="1"/>
          </p:cNvPicPr>
          <p:nvPr/>
        </p:nvPicPr>
        <p:blipFill>
          <a:blip r:embed="rId3"/>
          <a:stretch>
            <a:fillRect/>
          </a:stretch>
        </p:blipFill>
        <p:spPr>
          <a:xfrm>
            <a:off x="2982626" y="3887794"/>
            <a:ext cx="7048017" cy="1130570"/>
          </a:xfrm>
          <a:prstGeom prst="rect">
            <a:avLst/>
          </a:prstGeom>
        </p:spPr>
      </p:pic>
      <p:sp>
        <p:nvSpPr>
          <p:cNvPr id="12" name="TextBox 11">
            <a:extLst>
              <a:ext uri="{FF2B5EF4-FFF2-40B4-BE49-F238E27FC236}">
                <a16:creationId xmlns:a16="http://schemas.microsoft.com/office/drawing/2014/main" id="{1C5B620A-6DD7-2864-0B65-D6FA7FC0E2C7}"/>
              </a:ext>
            </a:extLst>
          </p:cNvPr>
          <p:cNvSpPr txBox="1"/>
          <p:nvPr/>
        </p:nvSpPr>
        <p:spPr>
          <a:xfrm>
            <a:off x="502920" y="5440655"/>
            <a:ext cx="11841480" cy="369332"/>
          </a:xfrm>
          <a:prstGeom prst="rect">
            <a:avLst/>
          </a:prstGeom>
          <a:noFill/>
        </p:spPr>
        <p:txBody>
          <a:bodyPr wrap="square">
            <a:spAutoFit/>
          </a:bodyPr>
          <a:lstStyle/>
          <a:p>
            <a:pPr>
              <a:buNone/>
            </a:pPr>
            <a:r>
              <a:rPr lang="ar-AE"/>
              <a:t>“</a:t>
            </a:r>
            <a:r>
              <a:rPr lang="en-IN"/>
              <a:t>The network tells the agent how good each action might be. The agent picks the best one—or explores sometimes.”</a:t>
            </a:r>
          </a:p>
        </p:txBody>
      </p:sp>
    </p:spTree>
    <p:extLst>
      <p:ext uri="{BB962C8B-B14F-4D97-AF65-F5344CB8AC3E}">
        <p14:creationId xmlns:p14="http://schemas.microsoft.com/office/powerpoint/2010/main" val="1964707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451A9-8176-6F25-DA84-FEE03324B03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E5B32C5-E1D8-3091-D3C9-6BBBD297CBEB}"/>
              </a:ext>
            </a:extLst>
          </p:cNvPr>
          <p:cNvSpPr>
            <a:spLocks noGrp="1"/>
          </p:cNvSpPr>
          <p:nvPr>
            <p:ph idx="1"/>
          </p:nvPr>
        </p:nvSpPr>
        <p:spPr/>
        <p:txBody>
          <a:bodyPr/>
          <a:lstStyle/>
          <a:p>
            <a:pPr marL="0" indent="0">
              <a:buNone/>
            </a:pPr>
            <a:r>
              <a:rPr lang="en-IN" b="1"/>
              <a:t>3.Environment Returns Reward and Next State</a:t>
            </a:r>
          </a:p>
          <a:p>
            <a:endParaRPr lang="en-IN"/>
          </a:p>
        </p:txBody>
      </p:sp>
      <p:sp>
        <p:nvSpPr>
          <p:cNvPr id="6" name="Title 1">
            <a:extLst>
              <a:ext uri="{FF2B5EF4-FFF2-40B4-BE49-F238E27FC236}">
                <a16:creationId xmlns:a16="http://schemas.microsoft.com/office/drawing/2014/main" id="{BA547B5E-A6C9-76EE-C97E-FA6E6EBCC856}"/>
              </a:ext>
            </a:extLst>
          </p:cNvPr>
          <p:cNvSpPr txBox="1">
            <a:spLocks/>
          </p:cNvSpPr>
          <p:nvPr/>
        </p:nvSpPr>
        <p:spPr>
          <a:xfrm>
            <a:off x="140208" y="134422"/>
            <a:ext cx="10515600" cy="4360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a:t>DQN Algorithm</a:t>
            </a:r>
          </a:p>
        </p:txBody>
      </p:sp>
      <p:sp>
        <p:nvSpPr>
          <p:cNvPr id="8" name="TextBox 7">
            <a:extLst>
              <a:ext uri="{FF2B5EF4-FFF2-40B4-BE49-F238E27FC236}">
                <a16:creationId xmlns:a16="http://schemas.microsoft.com/office/drawing/2014/main" id="{230543F9-8213-4DE1-A9A4-FA6EA7210D6D}"/>
              </a:ext>
            </a:extLst>
          </p:cNvPr>
          <p:cNvSpPr txBox="1"/>
          <p:nvPr/>
        </p:nvSpPr>
        <p:spPr>
          <a:xfrm>
            <a:off x="6803136" y="-57643"/>
            <a:ext cx="6108192" cy="1077218"/>
          </a:xfrm>
          <a:prstGeom prst="rect">
            <a:avLst/>
          </a:prstGeom>
          <a:noFill/>
        </p:spPr>
        <p:txBody>
          <a:bodyPr wrap="square">
            <a:spAutoFit/>
          </a:bodyPr>
          <a:lstStyle/>
          <a:p>
            <a:r>
              <a:rPr lang="en-US" sz="3200" b="1">
                <a:solidFill>
                  <a:srgbClr val="C00000"/>
                </a:solidFill>
              </a:rPr>
              <a:t>Environment → Replay Buffer: Store transition (s, a, r, s′)</a:t>
            </a:r>
            <a:endParaRPr lang="en-IN" sz="3200" b="1">
              <a:solidFill>
                <a:srgbClr val="C00000"/>
              </a:solidFill>
            </a:endParaRPr>
          </a:p>
        </p:txBody>
      </p:sp>
      <p:sp>
        <p:nvSpPr>
          <p:cNvPr id="10" name="TextBox 9">
            <a:extLst>
              <a:ext uri="{FF2B5EF4-FFF2-40B4-BE49-F238E27FC236}">
                <a16:creationId xmlns:a16="http://schemas.microsoft.com/office/drawing/2014/main" id="{24696EA4-1F62-1804-BD14-E8682607BA27}"/>
              </a:ext>
            </a:extLst>
          </p:cNvPr>
          <p:cNvSpPr txBox="1"/>
          <p:nvPr/>
        </p:nvSpPr>
        <p:spPr>
          <a:xfrm>
            <a:off x="737616" y="5680557"/>
            <a:ext cx="12621768" cy="369332"/>
          </a:xfrm>
          <a:prstGeom prst="rect">
            <a:avLst/>
          </a:prstGeom>
          <a:noFill/>
        </p:spPr>
        <p:txBody>
          <a:bodyPr wrap="square">
            <a:spAutoFit/>
          </a:bodyPr>
          <a:lstStyle/>
          <a:p>
            <a:r>
              <a:rPr lang="en-IN"/>
              <a:t>The environment reacts, giving a reward and next state. We record this experience as one data sample.”</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A18AA45-7E82-42DB-13E7-EEAECD7493D4}"/>
                  </a:ext>
                </a:extLst>
              </p:cNvPr>
              <p:cNvSpPr txBox="1"/>
              <p:nvPr/>
            </p:nvSpPr>
            <p:spPr>
              <a:xfrm>
                <a:off x="1375410" y="1815155"/>
                <a:ext cx="9441180" cy="3539430"/>
              </a:xfrm>
              <a:prstGeom prst="rect">
                <a:avLst/>
              </a:prstGeom>
              <a:noFill/>
            </p:spPr>
            <p:txBody>
              <a:bodyPr wrap="square">
                <a:spAutoFit/>
              </a:bodyPr>
              <a:lstStyle/>
              <a:p>
                <a:pPr>
                  <a:buNone/>
                </a:pPr>
                <a:r>
                  <a:rPr lang="en-IN" sz="2800"/>
                  <a:t>After executing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𝑎</m:t>
                        </m:r>
                      </m:e>
                      <m:sub>
                        <m:r>
                          <a:rPr lang="ar-AE" sz="2800" i="1">
                            <a:latin typeface="Cambria Math" panose="02040503050406030204" pitchFamily="18" charset="0"/>
                          </a:rPr>
                          <m:t>𝑡</m:t>
                        </m:r>
                      </m:sub>
                    </m:sSub>
                  </m:oMath>
                </a14:m>
                <a:r>
                  <a:rPr lang="ar-AE" sz="2800"/>
                  <a:t>, </a:t>
                </a:r>
                <a:r>
                  <a:rPr lang="en-IN" sz="2800"/>
                  <a:t>the environment returns:</a:t>
                </a:r>
              </a:p>
              <a:p>
                <a:pPr lvl="1">
                  <a:buFont typeface="Arial" panose="020B0604020202020204" pitchFamily="34" charset="0"/>
                  <a:buChar char="•"/>
                </a:pPr>
                <a:r>
                  <a:rPr lang="en-IN" sz="2800"/>
                  <a:t>A </a:t>
                </a:r>
                <a:r>
                  <a:rPr lang="en-IN" sz="2800" b="1"/>
                  <a:t>reward</a:t>
                </a:r>
                <a:r>
                  <a:rPr lang="en-IN" sz="2800"/>
                  <a:t>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𝑟</m:t>
                        </m:r>
                      </m:e>
                      <m:sub>
                        <m:r>
                          <a:rPr lang="ar-AE" sz="2800" i="1">
                            <a:latin typeface="Cambria Math" panose="02040503050406030204" pitchFamily="18" charset="0"/>
                          </a:rPr>
                          <m:t>𝑡</m:t>
                        </m:r>
                      </m:sub>
                    </m:sSub>
                  </m:oMath>
                </a14:m>
                <a:r>
                  <a:rPr lang="ar-AE" sz="2800"/>
                  <a:t>,</a:t>
                </a:r>
              </a:p>
              <a:p>
                <a:pPr lvl="1">
                  <a:buFont typeface="Arial" panose="020B0604020202020204" pitchFamily="34" charset="0"/>
                  <a:buChar char="•"/>
                </a:pPr>
                <a:r>
                  <a:rPr lang="en-IN" sz="2800"/>
                  <a:t>The </a:t>
                </a:r>
                <a:r>
                  <a:rPr lang="en-IN" sz="2800" b="1"/>
                  <a:t>next state</a:t>
                </a:r>
                <a:r>
                  <a:rPr lang="en-IN" sz="2800"/>
                  <a:t>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𝑠</m:t>
                        </m:r>
                      </m:e>
                      <m:sub>
                        <m:r>
                          <a:rPr lang="ar-AE" sz="2800" i="1">
                            <a:latin typeface="Cambria Math" panose="02040503050406030204" pitchFamily="18" charset="0"/>
                          </a:rPr>
                          <m:t>𝑡</m:t>
                        </m:r>
                        <m:r>
                          <a:rPr lang="ar-AE" sz="2800" i="0">
                            <a:latin typeface="Cambria Math" panose="02040503050406030204" pitchFamily="18" charset="0"/>
                          </a:rPr>
                          <m:t>+</m:t>
                        </m:r>
                        <m:r>
                          <a:rPr lang="ar-AE" sz="2800" i="0">
                            <a:latin typeface="Cambria Math" panose="02040503050406030204" pitchFamily="18" charset="0"/>
                          </a:rPr>
                          <m:t>1</m:t>
                        </m:r>
                      </m:sub>
                    </m:sSub>
                  </m:oMath>
                </a14:m>
                <a:r>
                  <a:rPr lang="ar-AE" sz="2800"/>
                  <a:t>,</a:t>
                </a:r>
              </a:p>
              <a:p>
                <a:pPr lvl="1">
                  <a:buFont typeface="Arial" panose="020B0604020202020204" pitchFamily="34" charset="0"/>
                  <a:buChar char="•"/>
                </a:pPr>
                <a:r>
                  <a:rPr lang="en-IN" sz="2800"/>
                  <a:t>A </a:t>
                </a:r>
                <a:r>
                  <a:rPr lang="en-IN" sz="2800" b="1"/>
                  <a:t>done flag</a:t>
                </a:r>
                <a:r>
                  <a:rPr lang="en-IN" sz="2800"/>
                  <a:t>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𝑑</m:t>
                        </m:r>
                      </m:e>
                      <m:sub>
                        <m:r>
                          <a:rPr lang="ar-AE" sz="2800" i="1">
                            <a:latin typeface="Cambria Math" panose="02040503050406030204" pitchFamily="18" charset="0"/>
                          </a:rPr>
                          <m:t>𝑡</m:t>
                        </m:r>
                      </m:sub>
                    </m:sSub>
                    <m:r>
                      <a:rPr lang="ar-AE" sz="2800" i="0">
                        <a:latin typeface="Cambria Math" panose="02040503050406030204" pitchFamily="18" charset="0"/>
                      </a:rPr>
                      <m:t>∈</m:t>
                    </m:r>
                    <m:d>
                      <m:dPr>
                        <m:begChr m:val="{"/>
                        <m:endChr m:val="}"/>
                        <m:sepChr m:val=","/>
                        <m:ctrlPr>
                          <a:rPr lang="ar-AE" sz="2800" i="1">
                            <a:latin typeface="Cambria Math" panose="02040503050406030204" pitchFamily="18" charset="0"/>
                          </a:rPr>
                        </m:ctrlPr>
                      </m:dPr>
                      <m:e>
                        <m:r>
                          <a:rPr lang="ar-AE" sz="2800" i="0">
                            <a:latin typeface="Cambria Math" panose="02040503050406030204" pitchFamily="18" charset="0"/>
                          </a:rPr>
                          <m:t>0</m:t>
                        </m:r>
                      </m:e>
                      <m:e>
                        <m:r>
                          <a:rPr lang="ar-AE" sz="2800" i="0">
                            <a:latin typeface="Cambria Math" panose="02040503050406030204" pitchFamily="18" charset="0"/>
                          </a:rPr>
                          <m:t>1</m:t>
                        </m:r>
                      </m:e>
                    </m:d>
                  </m:oMath>
                </a14:m>
                <a:r>
                  <a:rPr lang="ar-AE" sz="2800"/>
                  <a:t>(</a:t>
                </a:r>
                <a:r>
                  <a:rPr lang="en-IN" sz="2800"/>
                  <a:t>(</a:t>
                </a:r>
                <a:r>
                  <a:rPr lang="ar-AE" sz="2800"/>
                  <a:t>1</a:t>
                </a:r>
                <a:r>
                  <a:rPr lang="en-IN" sz="2800"/>
                  <a:t> if episode ended).</a:t>
                </a:r>
              </a:p>
              <a:p>
                <a:pPr>
                  <a:buNone/>
                </a:pPr>
                <a:r>
                  <a:rPr lang="en-IN" sz="2800"/>
                  <a:t>The agent stores this </a:t>
                </a:r>
                <a:r>
                  <a:rPr lang="en-IN" sz="2800" b="1"/>
                  <a:t>experience tuple</a:t>
                </a:r>
                <a:r>
                  <a:rPr lang="en-IN" sz="2800"/>
                  <a:t> in the replay buffer </a:t>
                </a:r>
                <a14:m>
                  <m:oMath xmlns:m="http://schemas.openxmlformats.org/officeDocument/2006/math">
                    <m:r>
                      <a:rPr lang="en-IN" sz="2800">
                        <a:latin typeface="Cambria Math" panose="02040503050406030204" pitchFamily="18" charset="0"/>
                      </a:rPr>
                      <m:t>𝒟</m:t>
                    </m:r>
                  </m:oMath>
                </a14:m>
                <a:r>
                  <a:rPr lang="en-IN" sz="2800"/>
                  <a:t>:</a:t>
                </a:r>
              </a:p>
              <a:p>
                <a:pPr>
                  <a:buNone/>
                </a:pPr>
                <a14:m>
                  <m:oMathPara xmlns:m="http://schemas.openxmlformats.org/officeDocument/2006/math">
                    <m:oMathParaPr>
                      <m:jc m:val="centerGroup"/>
                    </m:oMathParaPr>
                    <m:oMath xmlns:m="http://schemas.openxmlformats.org/officeDocument/2006/math">
                      <m:r>
                        <a:rPr lang="en-IN" sz="2800">
                          <a:latin typeface="Cambria Math" panose="02040503050406030204" pitchFamily="18" charset="0"/>
                        </a:rPr>
                        <m:t>𝒟</m:t>
                      </m:r>
                      <m:r>
                        <a:rPr lang="en-IN" sz="2800" i="0">
                          <a:latin typeface="Cambria Math" panose="02040503050406030204" pitchFamily="18" charset="0"/>
                        </a:rPr>
                        <m:t>←</m:t>
                      </m:r>
                      <m:r>
                        <a:rPr lang="en-IN" sz="2800" i="0">
                          <a:latin typeface="Cambria Math" panose="02040503050406030204" pitchFamily="18" charset="0"/>
                        </a:rPr>
                        <m:t>𝒟</m:t>
                      </m:r>
                      <m:r>
                        <a:rPr lang="en-IN" sz="2800" i="0">
                          <a:latin typeface="Cambria Math" panose="02040503050406030204" pitchFamily="18" charset="0"/>
                        </a:rPr>
                        <m:t>∪</m:t>
                      </m:r>
                      <m:d>
                        <m:dPr>
                          <m:begChr m:val="{"/>
                          <m:endChr m:val="}"/>
                          <m:ctrlPr>
                            <a:rPr lang="ar-AE" sz="2800" i="1">
                              <a:latin typeface="Cambria Math" panose="02040503050406030204" pitchFamily="18" charset="0"/>
                            </a:rPr>
                          </m:ctrlPr>
                        </m:dPr>
                        <m:e>
                          <m:d>
                            <m:dPr>
                              <m:sepChr m:val=","/>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𝑠</m:t>
                                  </m:r>
                                </m:e>
                                <m:sub>
                                  <m:r>
                                    <a:rPr lang="ar-AE" sz="2800" i="1">
                                      <a:latin typeface="Cambria Math" panose="02040503050406030204" pitchFamily="18" charset="0"/>
                                    </a:rPr>
                                    <m:t>𝑡</m:t>
                                  </m:r>
                                </m:sub>
                              </m:sSub>
                            </m:e>
                            <m:e>
                              <m:sSub>
                                <m:sSubPr>
                                  <m:ctrlPr>
                                    <a:rPr lang="ar-AE" sz="2800" i="1">
                                      <a:latin typeface="Cambria Math" panose="02040503050406030204" pitchFamily="18" charset="0"/>
                                    </a:rPr>
                                  </m:ctrlPr>
                                </m:sSubPr>
                                <m:e>
                                  <m:r>
                                    <a:rPr lang="ar-AE" sz="2800" i="1">
                                      <a:latin typeface="Cambria Math" panose="02040503050406030204" pitchFamily="18" charset="0"/>
                                    </a:rPr>
                                    <m:t>𝑎</m:t>
                                  </m:r>
                                </m:e>
                                <m:sub>
                                  <m:r>
                                    <a:rPr lang="ar-AE" sz="2800" i="1">
                                      <a:latin typeface="Cambria Math" panose="02040503050406030204" pitchFamily="18" charset="0"/>
                                    </a:rPr>
                                    <m:t>𝑡</m:t>
                                  </m:r>
                                </m:sub>
                              </m:sSub>
                            </m:e>
                            <m:e>
                              <m:sSub>
                                <m:sSubPr>
                                  <m:ctrlPr>
                                    <a:rPr lang="ar-AE" sz="2800" i="1">
                                      <a:latin typeface="Cambria Math" panose="02040503050406030204" pitchFamily="18" charset="0"/>
                                    </a:rPr>
                                  </m:ctrlPr>
                                </m:sSubPr>
                                <m:e>
                                  <m:r>
                                    <a:rPr lang="ar-AE" sz="2800" i="1">
                                      <a:latin typeface="Cambria Math" panose="02040503050406030204" pitchFamily="18" charset="0"/>
                                    </a:rPr>
                                    <m:t>𝑟</m:t>
                                  </m:r>
                                </m:e>
                                <m:sub>
                                  <m:r>
                                    <a:rPr lang="ar-AE" sz="2800" i="1">
                                      <a:latin typeface="Cambria Math" panose="02040503050406030204" pitchFamily="18" charset="0"/>
                                    </a:rPr>
                                    <m:t>𝑡</m:t>
                                  </m:r>
                                </m:sub>
                              </m:sSub>
                            </m:e>
                            <m:e>
                              <m:sSub>
                                <m:sSubPr>
                                  <m:ctrlPr>
                                    <a:rPr lang="ar-AE" sz="2800" i="1">
                                      <a:latin typeface="Cambria Math" panose="02040503050406030204" pitchFamily="18" charset="0"/>
                                    </a:rPr>
                                  </m:ctrlPr>
                                </m:sSubPr>
                                <m:e>
                                  <m:r>
                                    <a:rPr lang="ar-AE" sz="2800" i="1">
                                      <a:latin typeface="Cambria Math" panose="02040503050406030204" pitchFamily="18" charset="0"/>
                                    </a:rPr>
                                    <m:t>𝑠</m:t>
                                  </m:r>
                                </m:e>
                                <m:sub>
                                  <m:r>
                                    <a:rPr lang="ar-AE" sz="2800" i="1">
                                      <a:latin typeface="Cambria Math" panose="02040503050406030204" pitchFamily="18" charset="0"/>
                                    </a:rPr>
                                    <m:t>𝑡</m:t>
                                  </m:r>
                                  <m:r>
                                    <a:rPr lang="ar-AE" sz="2800" i="0">
                                      <a:latin typeface="Cambria Math" panose="02040503050406030204" pitchFamily="18" charset="0"/>
                                    </a:rPr>
                                    <m:t>+</m:t>
                                  </m:r>
                                  <m:r>
                                    <a:rPr lang="ar-AE" sz="2800" i="0">
                                      <a:latin typeface="Cambria Math" panose="02040503050406030204" pitchFamily="18" charset="0"/>
                                    </a:rPr>
                                    <m:t>1</m:t>
                                  </m:r>
                                </m:sub>
                              </m:sSub>
                            </m:e>
                            <m:e>
                              <m:sSub>
                                <m:sSubPr>
                                  <m:ctrlPr>
                                    <a:rPr lang="ar-AE" sz="2800" i="1">
                                      <a:latin typeface="Cambria Math" panose="02040503050406030204" pitchFamily="18" charset="0"/>
                                    </a:rPr>
                                  </m:ctrlPr>
                                </m:sSubPr>
                                <m:e>
                                  <m:r>
                                    <a:rPr lang="ar-AE" sz="2800" i="1">
                                      <a:latin typeface="Cambria Math" panose="02040503050406030204" pitchFamily="18" charset="0"/>
                                    </a:rPr>
                                    <m:t>𝑑</m:t>
                                  </m:r>
                                </m:e>
                                <m:sub>
                                  <m:r>
                                    <a:rPr lang="ar-AE" sz="2800" i="1">
                                      <a:latin typeface="Cambria Math" panose="02040503050406030204" pitchFamily="18" charset="0"/>
                                    </a:rPr>
                                    <m:t>𝑡</m:t>
                                  </m:r>
                                </m:sub>
                              </m:sSub>
                            </m:e>
                          </m:d>
                        </m:e>
                      </m:d>
                    </m:oMath>
                  </m:oMathPara>
                </a14:m>
                <a:endParaRPr lang="ar-AE" sz="2800"/>
              </a:p>
              <a:p>
                <a:pPr>
                  <a:buNone/>
                </a:pPr>
                <a:r>
                  <a:rPr lang="en-IN" sz="2800"/>
                  <a:t>This builds a dataset of transitions the agent can learn from later.</a:t>
                </a:r>
              </a:p>
            </p:txBody>
          </p:sp>
        </mc:Choice>
        <mc:Fallback xmlns="">
          <p:sp>
            <p:nvSpPr>
              <p:cNvPr id="12" name="TextBox 11">
                <a:extLst>
                  <a:ext uri="{FF2B5EF4-FFF2-40B4-BE49-F238E27FC236}">
                    <a16:creationId xmlns:a16="http://schemas.microsoft.com/office/drawing/2014/main" id="{7A18AA45-7E82-42DB-13E7-EEAECD7493D4}"/>
                  </a:ext>
                </a:extLst>
              </p:cNvPr>
              <p:cNvSpPr txBox="1">
                <a:spLocks noRot="1" noChangeAspect="1" noMove="1" noResize="1" noEditPoints="1" noAdjustHandles="1" noChangeArrowheads="1" noChangeShapeType="1" noTextEdit="1"/>
              </p:cNvSpPr>
              <p:nvPr/>
            </p:nvSpPr>
            <p:spPr>
              <a:xfrm>
                <a:off x="1375410" y="1815155"/>
                <a:ext cx="9441180" cy="3539430"/>
              </a:xfrm>
              <a:prstGeom prst="rect">
                <a:avLst/>
              </a:prstGeom>
              <a:blipFill>
                <a:blip r:embed="rId2"/>
                <a:stretch>
                  <a:fillRect l="-1357" t="-2241" b="-4138"/>
                </a:stretch>
              </a:blipFill>
            </p:spPr>
            <p:txBody>
              <a:bodyPr/>
              <a:lstStyle/>
              <a:p>
                <a:r>
                  <a:rPr lang="en-US">
                    <a:noFill/>
                  </a:rPr>
                  <a:t> </a:t>
                </a:r>
              </a:p>
            </p:txBody>
          </p:sp>
        </mc:Fallback>
      </mc:AlternateContent>
    </p:spTree>
    <p:extLst>
      <p:ext uri="{BB962C8B-B14F-4D97-AF65-F5344CB8AC3E}">
        <p14:creationId xmlns:p14="http://schemas.microsoft.com/office/powerpoint/2010/main" val="1951750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D9A00-72B3-6B21-0F4C-DD1FA09DB4AC}"/>
              </a:ext>
            </a:extLst>
          </p:cNvPr>
          <p:cNvSpPr>
            <a:spLocks noGrp="1"/>
          </p:cNvSpPr>
          <p:nvPr>
            <p:ph type="title"/>
          </p:nvPr>
        </p:nvSpPr>
        <p:spPr>
          <a:xfrm>
            <a:off x="152400" y="193693"/>
            <a:ext cx="10515600" cy="436064"/>
          </a:xfrm>
        </p:spPr>
        <p:txBody>
          <a:bodyPr>
            <a:normAutofit fontScale="90000"/>
          </a:bodyPr>
          <a:lstStyle/>
          <a:p>
            <a:r>
              <a:rPr lang="en-IN"/>
              <a:t>DQN Algorithm </a:t>
            </a:r>
          </a:p>
        </p:txBody>
      </p:sp>
      <p:sp>
        <p:nvSpPr>
          <p:cNvPr id="3" name="Content Placeholder 2">
            <a:extLst>
              <a:ext uri="{FF2B5EF4-FFF2-40B4-BE49-F238E27FC236}">
                <a16:creationId xmlns:a16="http://schemas.microsoft.com/office/drawing/2014/main" id="{245BC149-2E2E-0FD4-BA9C-3ACAFBC57B8E}"/>
              </a:ext>
            </a:extLst>
          </p:cNvPr>
          <p:cNvSpPr>
            <a:spLocks noGrp="1"/>
          </p:cNvSpPr>
          <p:nvPr>
            <p:ph idx="1"/>
          </p:nvPr>
        </p:nvSpPr>
        <p:spPr>
          <a:xfrm>
            <a:off x="481584" y="801182"/>
            <a:ext cx="10515600" cy="5184186"/>
          </a:xfrm>
        </p:spPr>
        <p:txBody>
          <a:bodyPr/>
          <a:lstStyle/>
          <a:p>
            <a:pPr marL="0" indent="0">
              <a:buNone/>
            </a:pPr>
            <a:r>
              <a:rPr lang="en-US"/>
              <a:t>4.Replay Buffer → Q-Network: Sample batch for learning</a:t>
            </a:r>
            <a:endParaRPr lang="en-IN"/>
          </a:p>
          <a:p>
            <a:endParaRPr lang="en-IN"/>
          </a:p>
        </p:txBody>
      </p:sp>
      <p:sp>
        <p:nvSpPr>
          <p:cNvPr id="5" name="TextBox 4">
            <a:extLst>
              <a:ext uri="{FF2B5EF4-FFF2-40B4-BE49-F238E27FC236}">
                <a16:creationId xmlns:a16="http://schemas.microsoft.com/office/drawing/2014/main" id="{7780D587-D23B-500F-9998-5A8ED4F8570A}"/>
              </a:ext>
            </a:extLst>
          </p:cNvPr>
          <p:cNvSpPr txBox="1"/>
          <p:nvPr/>
        </p:nvSpPr>
        <p:spPr>
          <a:xfrm>
            <a:off x="1240536" y="1762517"/>
            <a:ext cx="9756648" cy="923330"/>
          </a:xfrm>
          <a:prstGeom prst="rect">
            <a:avLst/>
          </a:prstGeom>
          <a:noFill/>
          <a:ln w="28575">
            <a:solidFill>
              <a:schemeClr val="accent1"/>
            </a:solidFill>
          </a:ln>
        </p:spPr>
        <p:txBody>
          <a:bodyPr wrap="square">
            <a:spAutoFit/>
          </a:bodyPr>
          <a:lstStyle/>
          <a:p>
            <a:pPr>
              <a:buNone/>
            </a:pPr>
            <a:r>
              <a:rPr lang="en-IN" b="1"/>
              <a:t>Store in Replay Buffer (Experience Replay)</a:t>
            </a:r>
          </a:p>
          <a:p>
            <a:pPr lvl="1">
              <a:buFont typeface="Arial" panose="020B0604020202020204" pitchFamily="34" charset="0"/>
              <a:buChar char="•"/>
            </a:pPr>
            <a:r>
              <a:rPr lang="en-IN"/>
              <a:t> the agent will </a:t>
            </a:r>
            <a:r>
              <a:rPr lang="en-IN" b="1"/>
              <a:t>sample random mini-batches</a:t>
            </a:r>
            <a:r>
              <a:rPr lang="en-IN"/>
              <a:t> from this buffer to learn from multiple past experiences.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9DA9AC-9786-505C-39D9-49B148F4C108}"/>
                  </a:ext>
                </a:extLst>
              </p:cNvPr>
              <p:cNvSpPr txBox="1"/>
              <p:nvPr/>
            </p:nvSpPr>
            <p:spPr>
              <a:xfrm>
                <a:off x="838200" y="3420029"/>
                <a:ext cx="10826496" cy="1655261"/>
              </a:xfrm>
              <a:prstGeom prst="rect">
                <a:avLst/>
              </a:prstGeom>
              <a:noFill/>
            </p:spPr>
            <p:txBody>
              <a:bodyPr wrap="square">
                <a:spAutoFit/>
              </a:bodyPr>
              <a:lstStyle/>
              <a:p>
                <a:pPr>
                  <a:buNone/>
                </a:pPr>
                <a:r>
                  <a:rPr lang="en-IN" sz="2400"/>
                  <a:t>To perform a learning update:</a:t>
                </a:r>
              </a:p>
              <a:p>
                <a:pPr>
                  <a:buFont typeface="Arial" panose="020B0604020202020204" pitchFamily="34" charset="0"/>
                  <a:buChar char="•"/>
                </a:pPr>
                <a:r>
                  <a:rPr lang="en-IN" sz="2400"/>
                  <a:t>Randomly sample a </a:t>
                </a:r>
                <a:r>
                  <a:rPr lang="en-IN" sz="2400" b="1"/>
                  <a:t>mini-batch</a:t>
                </a:r>
                <a:r>
                  <a:rPr lang="en-IN" sz="2400"/>
                  <a:t> of </a:t>
                </a:r>
                <a14:m>
                  <m:oMath xmlns:m="http://schemas.openxmlformats.org/officeDocument/2006/math">
                    <m:r>
                      <a:rPr lang="en-IN" sz="2400" i="1">
                        <a:latin typeface="Cambria Math" panose="02040503050406030204" pitchFamily="18" charset="0"/>
                      </a:rPr>
                      <m:t>𝐵</m:t>
                    </m:r>
                  </m:oMath>
                </a14:m>
                <a:r>
                  <a:rPr lang="en-IN" sz="2400"/>
                  <a:t>transitions:</a:t>
                </a:r>
              </a:p>
              <a:p>
                <a:pPr>
                  <a:buNone/>
                </a:pPr>
                <a14:m>
                  <m:oMathPara xmlns:m="http://schemas.openxmlformats.org/officeDocument/2006/math">
                    <m:oMathParaPr>
                      <m:jc m:val="centerGroup"/>
                    </m:oMathParaPr>
                    <m:oMath xmlns:m="http://schemas.openxmlformats.org/officeDocument/2006/math">
                      <m:d>
                        <m:dPr>
                          <m:begChr m:val="{"/>
                          <m:endChr m:val=""/>
                          <m:ctrlPr>
                            <a:rPr lang="ar-AE" sz="2400" i="1">
                              <a:latin typeface="Cambria Math" panose="02040503050406030204" pitchFamily="18" charset="0"/>
                            </a:rPr>
                          </m:ctrlPr>
                        </m:dPr>
                        <m:e>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𝑖</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𝑖</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𝑟</m:t>
                                  </m:r>
                                </m:e>
                                <m:sub>
                                  <m:r>
                                    <a:rPr lang="ar-AE" sz="2400" i="1">
                                      <a:latin typeface="Cambria Math" panose="02040503050406030204" pitchFamily="18" charset="0"/>
                                    </a:rPr>
                                    <m:t>𝑖</m:t>
                                  </m:r>
                                </m:sub>
                              </m:sSub>
                            </m:e>
                            <m:e>
                              <m:sSubSup>
                                <m:sSubSupPr>
                                  <m:ctrlPr>
                                    <a:rPr lang="ar-AE" sz="2400" i="1">
                                      <a:latin typeface="Cambria Math" panose="02040503050406030204" pitchFamily="18" charset="0"/>
                                    </a:rPr>
                                  </m:ctrlPr>
                                </m:sSubSupPr>
                                <m:e>
                                  <m:r>
                                    <a:rPr lang="ar-AE" sz="2400" i="1">
                                      <a:latin typeface="Cambria Math" panose="02040503050406030204" pitchFamily="18" charset="0"/>
                                    </a:rPr>
                                    <m:t>𝑠</m:t>
                                  </m:r>
                                </m:e>
                                <m:sub>
                                  <m:r>
                                    <a:rPr lang="ar-AE" sz="2400" i="1">
                                      <a:latin typeface="Cambria Math" panose="02040503050406030204" pitchFamily="18" charset="0"/>
                                    </a:rPr>
                                    <m:t>𝑖</m:t>
                                  </m:r>
                                </m:sub>
                                <m:sup>
                                  <m:r>
                                    <a:rPr lang="ar-AE" sz="2400" i="0">
                                      <a:latin typeface="Cambria Math" panose="02040503050406030204" pitchFamily="18" charset="0"/>
                                    </a:rPr>
                                    <m:t>′</m:t>
                                  </m:r>
                                </m:sup>
                              </m:sSubSup>
                            </m:e>
                            <m:e>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i="1">
                                      <a:latin typeface="Cambria Math" panose="02040503050406030204" pitchFamily="18" charset="0"/>
                                    </a:rPr>
                                    <m:t>𝑖</m:t>
                                  </m:r>
                                </m:sub>
                              </m:sSub>
                            </m:e>
                          </m:d>
                          <m:sSubSup>
                            <m:sSubSupPr>
                              <m:ctrlPr>
                                <a:rPr lang="ar-AE" sz="2400" i="1">
                                  <a:latin typeface="Cambria Math" panose="02040503050406030204" pitchFamily="18" charset="0"/>
                                </a:rPr>
                              </m:ctrlPr>
                            </m:sSubSupPr>
                            <m:e>
                              <m:d>
                                <m:dPr>
                                  <m:begChr m:val=""/>
                                  <m:endChr m:val=""/>
                                  <m:ctrlPr>
                                    <a:rPr lang="ar-AE" sz="2400" i="1">
                                      <a:latin typeface="Cambria Math" panose="02040503050406030204" pitchFamily="18" charset="0"/>
                                    </a:rPr>
                                  </m:ctrlPr>
                                </m:dPr>
                                <m:e>
                                  <m:r>
                                    <a:rPr lang="ar-AE" sz="2400" i="0">
                                      <a:latin typeface="Cambria Math" panose="02040503050406030204" pitchFamily="18" charset="0"/>
                                    </a:rPr>
                                    <m:t>}</m:t>
                                  </m:r>
                                </m:e>
                              </m:d>
                            </m:e>
                            <m:sub>
                              <m:r>
                                <a:rPr lang="ar-AE" sz="2400" i="1">
                                  <a:latin typeface="Cambria Math" panose="02040503050406030204" pitchFamily="18" charset="0"/>
                                </a:rPr>
                                <m:t>𝑖</m:t>
                              </m:r>
                              <m:r>
                                <a:rPr lang="ar-AE" sz="2400" i="0">
                                  <a:latin typeface="Cambria Math" panose="02040503050406030204" pitchFamily="18" charset="0"/>
                                </a:rPr>
                                <m:t>=</m:t>
                              </m:r>
                              <m:r>
                                <a:rPr lang="ar-AE" sz="2400" i="0">
                                  <a:latin typeface="Cambria Math" panose="02040503050406030204" pitchFamily="18" charset="0"/>
                                </a:rPr>
                                <m:t>1</m:t>
                              </m:r>
                            </m:sub>
                            <m:sup>
                              <m:r>
                                <a:rPr lang="ar-AE" sz="2400" i="1">
                                  <a:latin typeface="Cambria Math" panose="02040503050406030204" pitchFamily="18" charset="0"/>
                                </a:rPr>
                                <m:t>𝐵</m:t>
                              </m:r>
                            </m:sup>
                          </m:sSubSup>
                          <m:r>
                            <a:rPr lang="ar-AE" sz="2400" i="0">
                              <a:latin typeface="Cambria Math" panose="02040503050406030204" pitchFamily="18" charset="0"/>
                            </a:rPr>
                            <m:t>∼</m:t>
                          </m:r>
                          <m:r>
                            <a:rPr lang="ar-AE" sz="2400" i="0">
                              <a:latin typeface="Cambria Math" panose="02040503050406030204" pitchFamily="18" charset="0"/>
                            </a:rPr>
                            <m:t>𝒟</m:t>
                          </m:r>
                        </m:e>
                      </m:d>
                    </m:oMath>
                  </m:oMathPara>
                </a14:m>
                <a:endParaRPr lang="ar-AE" sz="2400"/>
              </a:p>
              <a:p>
                <a:pPr>
                  <a:buNone/>
                </a:pPr>
                <a:r>
                  <a:rPr lang="en-IN" sz="2400"/>
                  <a:t>This ensures training examples are </a:t>
                </a:r>
                <a:r>
                  <a:rPr lang="en-IN" sz="2400" b="1"/>
                  <a:t>uncorrelated</a:t>
                </a:r>
                <a:r>
                  <a:rPr lang="en-IN" sz="2400"/>
                  <a:t>, which stabilizes gradient updates.</a:t>
                </a:r>
              </a:p>
            </p:txBody>
          </p:sp>
        </mc:Choice>
        <mc:Fallback xmlns="">
          <p:sp>
            <p:nvSpPr>
              <p:cNvPr id="9" name="TextBox 8">
                <a:extLst>
                  <a:ext uri="{FF2B5EF4-FFF2-40B4-BE49-F238E27FC236}">
                    <a16:creationId xmlns:a16="http://schemas.microsoft.com/office/drawing/2014/main" id="{B49DA9AC-9786-505C-39D9-49B148F4C108}"/>
                  </a:ext>
                </a:extLst>
              </p:cNvPr>
              <p:cNvSpPr txBox="1">
                <a:spLocks noRot="1" noChangeAspect="1" noMove="1" noResize="1" noEditPoints="1" noAdjustHandles="1" noChangeArrowheads="1" noChangeShapeType="1" noTextEdit="1"/>
              </p:cNvSpPr>
              <p:nvPr/>
            </p:nvSpPr>
            <p:spPr>
              <a:xfrm>
                <a:off x="838200" y="3420029"/>
                <a:ext cx="10826496" cy="1655261"/>
              </a:xfrm>
              <a:prstGeom prst="rect">
                <a:avLst/>
              </a:prstGeom>
              <a:blipFill>
                <a:blip r:embed="rId2"/>
                <a:stretch>
                  <a:fillRect l="-901" t="-2941" b="-735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11684032-3049-1E21-950D-1FA2467C568F}"/>
              </a:ext>
            </a:extLst>
          </p:cNvPr>
          <p:cNvSpPr txBox="1"/>
          <p:nvPr/>
        </p:nvSpPr>
        <p:spPr>
          <a:xfrm>
            <a:off x="274320" y="5493841"/>
            <a:ext cx="11503152" cy="369332"/>
          </a:xfrm>
          <a:prstGeom prst="rect">
            <a:avLst/>
          </a:prstGeom>
          <a:noFill/>
        </p:spPr>
        <p:txBody>
          <a:bodyPr wrap="square">
            <a:spAutoFit/>
          </a:bodyPr>
          <a:lstStyle/>
          <a:p>
            <a:pPr>
              <a:buNone/>
            </a:pPr>
            <a:r>
              <a:rPr lang="en-IN"/>
              <a:t>“The replay buffer is like the agent’s memory — it stores what just happened and keeps thousands of past experiences.”</a:t>
            </a:r>
          </a:p>
        </p:txBody>
      </p:sp>
      <p:sp>
        <p:nvSpPr>
          <p:cNvPr id="13" name="TextBox 12">
            <a:extLst>
              <a:ext uri="{FF2B5EF4-FFF2-40B4-BE49-F238E27FC236}">
                <a16:creationId xmlns:a16="http://schemas.microsoft.com/office/drawing/2014/main" id="{DAF96244-72E9-5FAE-22B8-58BADDF26B02}"/>
              </a:ext>
            </a:extLst>
          </p:cNvPr>
          <p:cNvSpPr txBox="1"/>
          <p:nvPr/>
        </p:nvSpPr>
        <p:spPr>
          <a:xfrm>
            <a:off x="6620256" y="119338"/>
            <a:ext cx="6108192" cy="584775"/>
          </a:xfrm>
          <a:prstGeom prst="rect">
            <a:avLst/>
          </a:prstGeom>
          <a:noFill/>
        </p:spPr>
        <p:txBody>
          <a:bodyPr wrap="square">
            <a:spAutoFit/>
          </a:bodyPr>
          <a:lstStyle/>
          <a:p>
            <a:r>
              <a:rPr lang="en-US" sz="3200" b="1">
                <a:solidFill>
                  <a:srgbClr val="C00000"/>
                </a:solidFill>
              </a:rPr>
              <a:t>Replay Buffer → Q-Network</a:t>
            </a:r>
            <a:endParaRPr lang="en-IN" sz="3200" b="1">
              <a:solidFill>
                <a:srgbClr val="C00000"/>
              </a:solidFill>
            </a:endParaRPr>
          </a:p>
        </p:txBody>
      </p:sp>
    </p:spTree>
    <p:extLst>
      <p:ext uri="{BB962C8B-B14F-4D97-AF65-F5344CB8AC3E}">
        <p14:creationId xmlns:p14="http://schemas.microsoft.com/office/powerpoint/2010/main" val="1760229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1D23C-6910-55FC-030F-B614982D21E1}"/>
              </a:ext>
            </a:extLst>
          </p:cNvPr>
          <p:cNvSpPr>
            <a:spLocks noGrp="1"/>
          </p:cNvSpPr>
          <p:nvPr>
            <p:ph type="title"/>
          </p:nvPr>
        </p:nvSpPr>
        <p:spPr>
          <a:xfrm>
            <a:off x="0" y="538378"/>
            <a:ext cx="10515600" cy="436064"/>
          </a:xfrm>
        </p:spPr>
        <p:txBody>
          <a:bodyPr>
            <a:normAutofit fontScale="90000"/>
          </a:bodyPr>
          <a:lstStyle/>
          <a:p>
            <a:r>
              <a:rPr lang="en-IN"/>
              <a:t>Q -Network and Target Network</a:t>
            </a:r>
          </a:p>
        </p:txBody>
      </p:sp>
      <p:sp>
        <p:nvSpPr>
          <p:cNvPr id="3" name="Content Placeholder 2">
            <a:extLst>
              <a:ext uri="{FF2B5EF4-FFF2-40B4-BE49-F238E27FC236}">
                <a16:creationId xmlns:a16="http://schemas.microsoft.com/office/drawing/2014/main" id="{F7A27B35-2AE9-41EF-1E65-E298228E024D}"/>
              </a:ext>
            </a:extLst>
          </p:cNvPr>
          <p:cNvSpPr>
            <a:spLocks noGrp="1"/>
          </p:cNvSpPr>
          <p:nvPr>
            <p:ph idx="1"/>
          </p:nvPr>
        </p:nvSpPr>
        <p:spPr/>
        <p:txBody>
          <a:bodyPr/>
          <a:lstStyle/>
          <a:p>
            <a:endParaRPr lang="en-IN"/>
          </a:p>
        </p:txBody>
      </p:sp>
      <p:sp>
        <p:nvSpPr>
          <p:cNvPr id="7" name="TextBox 6">
            <a:extLst>
              <a:ext uri="{FF2B5EF4-FFF2-40B4-BE49-F238E27FC236}">
                <a16:creationId xmlns:a16="http://schemas.microsoft.com/office/drawing/2014/main" id="{D1121613-7783-4018-83D6-60212A49F539}"/>
              </a:ext>
            </a:extLst>
          </p:cNvPr>
          <p:cNvSpPr txBox="1"/>
          <p:nvPr/>
        </p:nvSpPr>
        <p:spPr>
          <a:xfrm>
            <a:off x="2447925" y="1075848"/>
            <a:ext cx="6910387" cy="1200329"/>
          </a:xfrm>
          <a:prstGeom prst="rect">
            <a:avLst/>
          </a:prstGeom>
          <a:solidFill>
            <a:schemeClr val="accent5">
              <a:lumMod val="20000"/>
              <a:lumOff val="80000"/>
            </a:schemeClr>
          </a:solidFill>
        </p:spPr>
        <p:txBody>
          <a:bodyPr wrap="square">
            <a:spAutoFit/>
          </a:bodyPr>
          <a:lstStyle/>
          <a:p>
            <a:r>
              <a:rPr lang="en-US"/>
              <a:t>The </a:t>
            </a:r>
            <a:r>
              <a:rPr lang="en-US" b="1"/>
              <a:t>Q-network</a:t>
            </a:r>
            <a:r>
              <a:rPr lang="en-US"/>
              <a:t> predicts the </a:t>
            </a:r>
            <a:r>
              <a:rPr lang="en-US" i="1"/>
              <a:t>current</a:t>
            </a:r>
            <a:r>
              <a:rPr lang="en-US"/>
              <a:t> action’s value.</a:t>
            </a:r>
            <a:br>
              <a:rPr lang="en-US"/>
            </a:br>
            <a:r>
              <a:rPr lang="en-US"/>
              <a:t>The </a:t>
            </a:r>
            <a:r>
              <a:rPr lang="en-US" b="1"/>
              <a:t>target network</a:t>
            </a:r>
            <a:r>
              <a:rPr lang="en-US"/>
              <a:t> predicts the </a:t>
            </a:r>
            <a:r>
              <a:rPr lang="en-US" i="1"/>
              <a:t>next state’s</a:t>
            </a:r>
            <a:r>
              <a:rPr lang="en-US"/>
              <a:t> best possible value.</a:t>
            </a:r>
            <a:br>
              <a:rPr lang="en-US"/>
            </a:br>
            <a:r>
              <a:rPr lang="en-US"/>
              <a:t>The agent learns by adjusting the Q-network until its current predictions match these stable target estimates.</a:t>
            </a:r>
            <a:endParaRPr lang="en-IN"/>
          </a:p>
        </p:txBody>
      </p:sp>
      <p:sp>
        <p:nvSpPr>
          <p:cNvPr id="9" name="TextBox 8">
            <a:extLst>
              <a:ext uri="{FF2B5EF4-FFF2-40B4-BE49-F238E27FC236}">
                <a16:creationId xmlns:a16="http://schemas.microsoft.com/office/drawing/2014/main" id="{99F95E5A-41B3-1272-DB5F-257506134164}"/>
              </a:ext>
            </a:extLst>
          </p:cNvPr>
          <p:cNvSpPr txBox="1"/>
          <p:nvPr/>
        </p:nvSpPr>
        <p:spPr>
          <a:xfrm>
            <a:off x="1023557" y="2703076"/>
            <a:ext cx="10394251" cy="3046988"/>
          </a:xfrm>
          <a:prstGeom prst="rect">
            <a:avLst/>
          </a:prstGeom>
          <a:noFill/>
          <a:ln w="53975">
            <a:solidFill>
              <a:schemeClr val="accent1"/>
            </a:solidFill>
          </a:ln>
        </p:spPr>
        <p:txBody>
          <a:bodyPr wrap="square">
            <a:spAutoFit/>
          </a:bodyPr>
          <a:lstStyle/>
          <a:p>
            <a:pPr>
              <a:buNone/>
            </a:pPr>
            <a:r>
              <a:rPr lang="en-US" sz="2400"/>
              <a:t>Imagine you have:</a:t>
            </a:r>
          </a:p>
          <a:p>
            <a:pPr lvl="1">
              <a:buFont typeface="Arial" panose="020B0604020202020204" pitchFamily="34" charset="0"/>
              <a:buChar char="•"/>
            </a:pPr>
            <a:r>
              <a:rPr lang="en-US" sz="2400"/>
              <a:t>A </a:t>
            </a:r>
            <a:r>
              <a:rPr lang="en-US" sz="2400" b="1"/>
              <a:t>student</a:t>
            </a:r>
            <a:r>
              <a:rPr lang="en-US" sz="2400"/>
              <a:t>  — trying to learn correct answers.</a:t>
            </a:r>
          </a:p>
          <a:p>
            <a:pPr lvl="1">
              <a:buFont typeface="Arial" panose="020B0604020202020204" pitchFamily="34" charset="0"/>
              <a:buChar char="•"/>
            </a:pPr>
            <a:r>
              <a:rPr lang="en-US" sz="2400"/>
              <a:t>A </a:t>
            </a:r>
            <a:r>
              <a:rPr lang="en-US" sz="2400" b="1"/>
              <a:t>teacher</a:t>
            </a:r>
            <a:r>
              <a:rPr lang="en-US" sz="2400"/>
              <a:t>  — who already has some knowledge but isn’t perfect either.</a:t>
            </a:r>
          </a:p>
          <a:p>
            <a:pPr>
              <a:buFont typeface="Arial" panose="020B0604020202020204" pitchFamily="34" charset="0"/>
              <a:buChar char="•"/>
            </a:pPr>
            <a:r>
              <a:rPr lang="en-US" sz="2400"/>
              <a:t>A </a:t>
            </a:r>
            <a:r>
              <a:rPr lang="en-US" sz="2400" b="1"/>
              <a:t>textbook of examples</a:t>
            </a:r>
            <a:r>
              <a:rPr lang="en-US" sz="2400"/>
              <a:t>  — this is the </a:t>
            </a:r>
            <a:r>
              <a:rPr lang="en-US" sz="2400" b="1"/>
              <a:t>Replay Buffer</a:t>
            </a:r>
            <a:r>
              <a:rPr lang="en-US" sz="2400"/>
              <a:t>, storing past experiences.</a:t>
            </a:r>
          </a:p>
          <a:p>
            <a:pPr>
              <a:buNone/>
            </a:pPr>
            <a:r>
              <a:rPr lang="en-US" sz="2400"/>
              <a:t>Now, the </a:t>
            </a:r>
            <a:r>
              <a:rPr lang="en-US" sz="2400" b="1"/>
              <a:t>student</a:t>
            </a:r>
            <a:r>
              <a:rPr lang="en-US" sz="2400"/>
              <a:t> and </a:t>
            </a:r>
            <a:r>
              <a:rPr lang="en-US" sz="2400" b="1"/>
              <a:t>teacher</a:t>
            </a:r>
            <a:r>
              <a:rPr lang="en-US" sz="2400"/>
              <a:t> both have copies of the same notes (the neural network parameters), but:</a:t>
            </a:r>
          </a:p>
          <a:p>
            <a:pPr lvl="1">
              <a:buFont typeface="Arial" panose="020B0604020202020204" pitchFamily="34" charset="0"/>
              <a:buChar char="•"/>
            </a:pPr>
            <a:r>
              <a:rPr lang="en-US" sz="2400"/>
              <a:t>The </a:t>
            </a:r>
            <a:r>
              <a:rPr lang="en-US" sz="2400" b="1"/>
              <a:t>student</a:t>
            </a:r>
            <a:r>
              <a:rPr lang="en-US" sz="2400"/>
              <a:t> updates their notes every day (fast learner),</a:t>
            </a:r>
          </a:p>
          <a:p>
            <a:pPr lvl="1">
              <a:buFont typeface="Arial" panose="020B0604020202020204" pitchFamily="34" charset="0"/>
              <a:buChar char="•"/>
            </a:pPr>
            <a:r>
              <a:rPr lang="en-US" sz="2400"/>
              <a:t>The </a:t>
            </a:r>
            <a:r>
              <a:rPr lang="en-US" sz="2400" b="1"/>
              <a:t>teacher</a:t>
            </a:r>
            <a:r>
              <a:rPr lang="en-US" sz="2400"/>
              <a:t> updates theirs only occasionally (slower, more stable).</a:t>
            </a:r>
          </a:p>
        </p:txBody>
      </p:sp>
      <p:pic>
        <p:nvPicPr>
          <p:cNvPr id="4" name="Picture 3">
            <a:extLst>
              <a:ext uri="{FF2B5EF4-FFF2-40B4-BE49-F238E27FC236}">
                <a16:creationId xmlns:a16="http://schemas.microsoft.com/office/drawing/2014/main" id="{5B968F34-B75C-2277-66E1-5E800F1264A2}"/>
              </a:ext>
            </a:extLst>
          </p:cNvPr>
          <p:cNvPicPr>
            <a:picLocks noChangeAspect="1"/>
          </p:cNvPicPr>
          <p:nvPr/>
        </p:nvPicPr>
        <p:blipFill>
          <a:blip r:embed="rId2"/>
          <a:stretch>
            <a:fillRect/>
          </a:stretch>
        </p:blipFill>
        <p:spPr>
          <a:xfrm>
            <a:off x="6096000" y="36374"/>
            <a:ext cx="6059652" cy="577110"/>
          </a:xfrm>
          <a:prstGeom prst="rect">
            <a:avLst/>
          </a:prstGeom>
        </p:spPr>
      </p:pic>
      <p:sp>
        <p:nvSpPr>
          <p:cNvPr id="6" name="TextBox 5">
            <a:extLst>
              <a:ext uri="{FF2B5EF4-FFF2-40B4-BE49-F238E27FC236}">
                <a16:creationId xmlns:a16="http://schemas.microsoft.com/office/drawing/2014/main" id="{8FED4343-7648-C2EE-F361-BFE925E21265}"/>
              </a:ext>
            </a:extLst>
          </p:cNvPr>
          <p:cNvSpPr txBox="1"/>
          <p:nvPr/>
        </p:nvSpPr>
        <p:spPr>
          <a:xfrm>
            <a:off x="10007600" y="447153"/>
            <a:ext cx="788999" cy="369332"/>
          </a:xfrm>
          <a:prstGeom prst="rect">
            <a:avLst/>
          </a:prstGeom>
          <a:noFill/>
        </p:spPr>
        <p:txBody>
          <a:bodyPr wrap="none" rtlCol="0">
            <a:spAutoFit/>
          </a:bodyPr>
          <a:lstStyle/>
          <a:p>
            <a:r>
              <a:rPr lang="en-IN"/>
              <a:t>Target</a:t>
            </a:r>
          </a:p>
        </p:txBody>
      </p:sp>
    </p:spTree>
    <p:extLst>
      <p:ext uri="{BB962C8B-B14F-4D97-AF65-F5344CB8AC3E}">
        <p14:creationId xmlns:p14="http://schemas.microsoft.com/office/powerpoint/2010/main" val="253873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695E2-1617-0786-F7D7-4EA8955CDFA6}"/>
              </a:ext>
            </a:extLst>
          </p:cNvPr>
          <p:cNvSpPr>
            <a:spLocks noGrp="1"/>
          </p:cNvSpPr>
          <p:nvPr>
            <p:ph type="title"/>
          </p:nvPr>
        </p:nvSpPr>
        <p:spPr/>
        <p:txBody>
          <a:bodyPr>
            <a:normAutofit fontScale="90000"/>
          </a:bodyPr>
          <a:lstStyle/>
          <a:p>
            <a:r>
              <a:rPr lang="en-IN"/>
              <a:t>DQN Algorithm</a:t>
            </a:r>
            <a:br>
              <a:rPr lang="en-IN"/>
            </a:br>
            <a:endParaRPr lang="en-IN"/>
          </a:p>
        </p:txBody>
      </p:sp>
      <p:sp>
        <p:nvSpPr>
          <p:cNvPr id="3" name="Content Placeholder 2">
            <a:extLst>
              <a:ext uri="{FF2B5EF4-FFF2-40B4-BE49-F238E27FC236}">
                <a16:creationId xmlns:a16="http://schemas.microsoft.com/office/drawing/2014/main" id="{75A04812-99DF-AAD0-C475-B1233885DD91}"/>
              </a:ext>
            </a:extLst>
          </p:cNvPr>
          <p:cNvSpPr>
            <a:spLocks noGrp="1"/>
          </p:cNvSpPr>
          <p:nvPr>
            <p:ph idx="1"/>
          </p:nvPr>
        </p:nvSpPr>
        <p:spPr/>
        <p:txBody>
          <a:bodyPr/>
          <a:lstStyle/>
          <a:p>
            <a:pPr marL="0" indent="0">
              <a:buNone/>
            </a:pPr>
            <a:r>
              <a:rPr lang="en-US"/>
              <a:t>5.Target Network → Loss: Compute stable target Q-values</a:t>
            </a:r>
            <a:endParaRPr lang="en-IN"/>
          </a:p>
          <a:p>
            <a:endParaRPr lang="en-IN"/>
          </a:p>
        </p:txBody>
      </p:sp>
      <p:sp>
        <p:nvSpPr>
          <p:cNvPr id="9" name="TextBox 8">
            <a:extLst>
              <a:ext uri="{FF2B5EF4-FFF2-40B4-BE49-F238E27FC236}">
                <a16:creationId xmlns:a16="http://schemas.microsoft.com/office/drawing/2014/main" id="{52EEDA2B-8B19-3C04-73BB-DA935BD9175B}"/>
              </a:ext>
            </a:extLst>
          </p:cNvPr>
          <p:cNvSpPr txBox="1"/>
          <p:nvPr/>
        </p:nvSpPr>
        <p:spPr>
          <a:xfrm>
            <a:off x="8174736" y="342986"/>
            <a:ext cx="6108192" cy="584775"/>
          </a:xfrm>
          <a:prstGeom prst="rect">
            <a:avLst/>
          </a:prstGeom>
          <a:noFill/>
        </p:spPr>
        <p:txBody>
          <a:bodyPr wrap="square">
            <a:spAutoFit/>
          </a:bodyPr>
          <a:lstStyle/>
          <a:p>
            <a:r>
              <a:rPr lang="en-US" sz="3200" b="1">
                <a:solidFill>
                  <a:srgbClr val="C00000"/>
                </a:solidFill>
              </a:rPr>
              <a:t>Target Network → Loss</a:t>
            </a:r>
            <a:endParaRPr lang="en-IN" sz="3200" b="1">
              <a:solidFill>
                <a:srgbClr val="C00000"/>
              </a:solidFill>
            </a:endParaRPr>
          </a:p>
        </p:txBody>
      </p:sp>
      <p:sp>
        <p:nvSpPr>
          <p:cNvPr id="11" name="TextBox 10">
            <a:extLst>
              <a:ext uri="{FF2B5EF4-FFF2-40B4-BE49-F238E27FC236}">
                <a16:creationId xmlns:a16="http://schemas.microsoft.com/office/drawing/2014/main" id="{4B150050-2F77-AB1F-F5C7-BA821A9E7F96}"/>
              </a:ext>
            </a:extLst>
          </p:cNvPr>
          <p:cNvSpPr txBox="1"/>
          <p:nvPr/>
        </p:nvSpPr>
        <p:spPr>
          <a:xfrm>
            <a:off x="729234" y="5495891"/>
            <a:ext cx="11121390" cy="369332"/>
          </a:xfrm>
          <a:prstGeom prst="rect">
            <a:avLst/>
          </a:prstGeom>
          <a:noFill/>
        </p:spPr>
        <p:txBody>
          <a:bodyPr wrap="square">
            <a:spAutoFit/>
          </a:bodyPr>
          <a:lstStyle/>
          <a:p>
            <a:r>
              <a:rPr lang="en-IN"/>
              <a:t>We don’t let the same network update both sides of the equation. The target network gives us a stable reference.”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B9EDDDD-0127-EFC4-0A61-BF69151AEB51}"/>
                  </a:ext>
                </a:extLst>
              </p:cNvPr>
              <p:cNvSpPr txBox="1"/>
              <p:nvPr/>
            </p:nvSpPr>
            <p:spPr>
              <a:xfrm>
                <a:off x="1424178" y="1812019"/>
                <a:ext cx="10426446" cy="3233962"/>
              </a:xfrm>
              <a:prstGeom prst="rect">
                <a:avLst/>
              </a:prstGeom>
              <a:noFill/>
            </p:spPr>
            <p:txBody>
              <a:bodyPr wrap="square">
                <a:spAutoFit/>
              </a:bodyPr>
              <a:lstStyle/>
              <a:p>
                <a:pPr>
                  <a:buNone/>
                </a:pPr>
                <a:r>
                  <a:rPr lang="en-IN"/>
                  <a:t>The </a:t>
                </a:r>
                <a:r>
                  <a:rPr lang="en-IN" b="1"/>
                  <a:t>target network</a:t>
                </a:r>
                <a:r>
                  <a:rPr lang="en-IN"/>
                  <a:t> (with parameters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oMath>
                </a14:m>
                <a:r>
                  <a:rPr lang="ar-AE"/>
                  <a:t>) </a:t>
                </a:r>
                <a:r>
                  <a:rPr lang="en-IN"/>
                  <a:t>is used to compute the </a:t>
                </a:r>
                <a:r>
                  <a:rPr lang="en-IN" b="1"/>
                  <a:t>bootstrapped target</a:t>
                </a:r>
                <a:r>
                  <a:rPr lang="en-IN"/>
                  <a:t> for each sampled transition.</a:t>
                </a:r>
              </a:p>
              <a:p>
                <a:pPr>
                  <a:buNone/>
                </a:pPr>
                <a:r>
                  <a:rPr lang="en-IN"/>
                  <a:t>For each sample </a:t>
                </a:r>
                <a14:m>
                  <m:oMath xmlns:m="http://schemas.openxmlformats.org/officeDocument/2006/math">
                    <m:r>
                      <a:rPr lang="en-IN" i="1">
                        <a:latin typeface="Cambria Math" panose="02040503050406030204" pitchFamily="18" charset="0"/>
                      </a:rPr>
                      <m:t>𝑖</m:t>
                    </m:r>
                  </m:oMath>
                </a14:m>
                <a:r>
                  <a:rPr lang="en-IN"/>
                  <a:t>:</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𝑖</m:t>
                          </m:r>
                        </m:sub>
                      </m:sSub>
                      <m:r>
                        <a:rPr lang="ar-AE" i="0">
                          <a:latin typeface="Cambria Math" panose="02040503050406030204" pitchFamily="18" charset="0"/>
                        </a:rPr>
                        <m:t>+</m:t>
                      </m:r>
                      <m:r>
                        <a:rPr lang="ar-AE" i="1">
                          <a:latin typeface="Cambria Math" panose="02040503050406030204" pitchFamily="18" charset="0"/>
                        </a:rPr>
                        <m:t>𝛾</m:t>
                      </m:r>
                      <m:d>
                        <m:dPr>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i="1">
                                  <a:latin typeface="Cambria Math" panose="02040503050406030204" pitchFamily="18" charset="0"/>
                                </a:rPr>
                                <m:t>𝑖</m:t>
                              </m:r>
                            </m:sub>
                          </m:sSub>
                        </m:e>
                      </m:d>
                      <m:limLow>
                        <m:limLowPr>
                          <m:ctrlPr>
                            <a:rPr lang="ar-AE" i="1">
                              <a:latin typeface="Cambria Math" panose="02040503050406030204" pitchFamily="18" charset="0"/>
                            </a:rPr>
                          </m:ctrlPr>
                        </m:limLowPr>
                        <m:e>
                          <m:func>
                            <m:funcPr>
                              <m:ctrlPr>
                                <a:rPr lang="ar-AE" i="1">
                                  <a:latin typeface="Cambria Math" panose="02040503050406030204" pitchFamily="18" charset="0"/>
                                </a:rPr>
                              </m:ctrlPr>
                            </m:funcPr>
                            <m:fName>
                              <m:r>
                                <m:rPr>
                                  <m:sty m:val="p"/>
                                </m:rPr>
                                <a:rPr lang="en-IN" i="0">
                                  <a:latin typeface="Cambria Math" panose="02040503050406030204" pitchFamily="18" charset="0"/>
                                </a:rPr>
                                <m:t>max</m:t>
                              </m:r>
                            </m:fName>
                            <m:e/>
                          </m:func>
                        </m:e>
                        <m:lim>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lim>
                      </m:limLow>
                      <m:sSub>
                        <m:sSubPr>
                          <m:ctrlPr>
                            <a:rPr lang="ar-AE" i="1">
                              <a:latin typeface="Cambria Math" panose="02040503050406030204" pitchFamily="18" charset="0"/>
                            </a:rPr>
                          </m:ctrlPr>
                        </m:sSubPr>
                        <m:e>
                          <m:r>
                            <a:rPr lang="ar-AE" i="1">
                              <a:latin typeface="Cambria Math" panose="02040503050406030204" pitchFamily="18" charset="0"/>
                            </a:rPr>
                            <m:t>𝑄</m:t>
                          </m:r>
                        </m:e>
                        <m:sub>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sub>
                      </m:sSub>
                      <m:d>
                        <m:dPr>
                          <m:sepChr m:val=","/>
                          <m:ctrlPr>
                            <a:rPr lang="ar-AE" i="1">
                              <a:latin typeface="Cambria Math" panose="02040503050406030204" pitchFamily="18" charset="0"/>
                            </a:rPr>
                          </m:ctrlPr>
                        </m:dPr>
                        <m:e>
                          <m:sSubSup>
                            <m:sSubSupPr>
                              <m:ctrlPr>
                                <a:rPr lang="ar-AE" i="1">
                                  <a:latin typeface="Cambria Math" panose="02040503050406030204" pitchFamily="18" charset="0"/>
                                </a:rPr>
                              </m:ctrlPr>
                            </m:sSubSupPr>
                            <m:e>
                              <m:r>
                                <a:rPr lang="ar-AE" i="1">
                                  <a:latin typeface="Cambria Math" panose="02040503050406030204" pitchFamily="18" charset="0"/>
                                </a:rPr>
                                <m:t>𝑠</m:t>
                              </m:r>
                            </m:e>
                            <m:sub>
                              <m:r>
                                <a:rPr lang="ar-AE" i="1">
                                  <a:latin typeface="Cambria Math" panose="02040503050406030204" pitchFamily="18" charset="0"/>
                                </a:rPr>
                                <m:t>𝑖</m:t>
                              </m:r>
                            </m:sub>
                            <m:sup>
                              <m:r>
                                <a:rPr lang="ar-AE" i="0">
                                  <a:latin typeface="Cambria Math" panose="02040503050406030204" pitchFamily="18" charset="0"/>
                                </a:rPr>
                                <m:t>′</m:t>
                              </m:r>
                            </m:sup>
                          </m:sSubSup>
                        </m:e>
                        <m:e>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e>
                      </m:d>
                    </m:oMath>
                  </m:oMathPara>
                </a14:m>
                <a:endParaRPr lang="ar-AE"/>
              </a:p>
              <a:p>
                <a:pPr>
                  <a:buNone/>
                </a:pPr>
                <a:r>
                  <a:rPr lang="en-IN"/>
                  <a:t>This is the </a:t>
                </a:r>
                <a:r>
                  <a:rPr lang="en-IN" b="1"/>
                  <a:t>Bellman target</a:t>
                </a:r>
                <a:r>
                  <a:rPr lang="en-IN"/>
                  <a:t> — the estimate of the “true” Q-value if we followed the optimal policy.</a:t>
                </a:r>
              </a:p>
              <a:p>
                <a:pPr>
                  <a:buNone/>
                </a:pPr>
                <a:r>
                  <a:rPr lang="en-IN"/>
                  <a:t>Here:</a:t>
                </a:r>
              </a:p>
              <a:p>
                <a:pPr lvl="1">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𝑖</m:t>
                        </m:r>
                      </m:sub>
                    </m:sSub>
                  </m:oMath>
                </a14:m>
                <a:r>
                  <a:rPr lang="ar-AE"/>
                  <a:t>: </a:t>
                </a:r>
                <a:r>
                  <a:rPr lang="en-IN"/>
                  <a:t>immediate reward</a:t>
                </a:r>
              </a:p>
              <a:p>
                <a:pPr lvl="1">
                  <a:buFont typeface="Arial" panose="020B0604020202020204" pitchFamily="34" charset="0"/>
                  <a:buChar char="•"/>
                </a:pPr>
                <a14:m>
                  <m:oMath xmlns:m="http://schemas.openxmlformats.org/officeDocument/2006/math">
                    <m:r>
                      <a:rPr lang="en-IN" i="1">
                        <a:latin typeface="Cambria Math" panose="02040503050406030204" pitchFamily="18" charset="0"/>
                      </a:rPr>
                      <m:t>𝛾</m:t>
                    </m:r>
                  </m:oMath>
                </a14:m>
                <a:r>
                  <a:rPr lang="en-IN"/>
                  <a:t>: discount factor</a:t>
                </a:r>
              </a:p>
              <a:p>
                <a:pPr lvl="1">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𝑄</m:t>
                        </m:r>
                      </m:e>
                      <m:sub>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sub>
                    </m:sSub>
                  </m:oMath>
                </a14:m>
                <a:r>
                  <a:rPr lang="ar-AE"/>
                  <a:t>: </a:t>
                </a:r>
                <a:r>
                  <a:rPr lang="en-IN"/>
                  <a:t>target network (frozen or slowly updated copy of Q)</a:t>
                </a:r>
              </a:p>
              <a:p>
                <a:pPr>
                  <a:buNone/>
                </a:pPr>
                <a:r>
                  <a:rPr lang="en-IN"/>
                  <a:t>Then, the </a:t>
                </a:r>
                <a:r>
                  <a:rPr lang="en-IN" b="1"/>
                  <a:t>temporal difference (TD) error</a:t>
                </a:r>
                <a:r>
                  <a:rPr lang="en-IN"/>
                  <a:t> for that transition is: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𝛿</m:t>
                          </m:r>
                        </m:e>
                        <m:sub>
                          <m:r>
                            <a:rPr lang="ar-AE" i="1">
                              <a:latin typeface="Cambria Math" panose="02040503050406030204" pitchFamily="18" charset="0"/>
                            </a:rPr>
                            <m:t>𝑖</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𝑖</m:t>
                              </m:r>
                            </m:sub>
                          </m:sSub>
                        </m:e>
                        <m:e>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𝑖</m:t>
                              </m:r>
                            </m:sub>
                          </m:sSub>
                        </m:e>
                      </m:d>
                    </m:oMath>
                  </m:oMathPara>
                </a14:m>
                <a:endParaRPr lang="ar-AE"/>
              </a:p>
            </p:txBody>
          </p:sp>
        </mc:Choice>
        <mc:Fallback xmlns="">
          <p:sp>
            <p:nvSpPr>
              <p:cNvPr id="13" name="TextBox 12">
                <a:extLst>
                  <a:ext uri="{FF2B5EF4-FFF2-40B4-BE49-F238E27FC236}">
                    <a16:creationId xmlns:a16="http://schemas.microsoft.com/office/drawing/2014/main" id="{CB9EDDDD-0127-EFC4-0A61-BF69151AEB51}"/>
                  </a:ext>
                </a:extLst>
              </p:cNvPr>
              <p:cNvSpPr txBox="1">
                <a:spLocks noRot="1" noChangeAspect="1" noMove="1" noResize="1" noEditPoints="1" noAdjustHandles="1" noChangeArrowheads="1" noChangeShapeType="1" noTextEdit="1"/>
              </p:cNvSpPr>
              <p:nvPr/>
            </p:nvSpPr>
            <p:spPr>
              <a:xfrm>
                <a:off x="1424178" y="1812019"/>
                <a:ext cx="10426446" cy="3233962"/>
              </a:xfrm>
              <a:prstGeom prst="rect">
                <a:avLst/>
              </a:prstGeom>
              <a:blipFill>
                <a:blip r:embed="rId2"/>
                <a:stretch>
                  <a:fillRect l="-526" t="-1130" b="-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647DB89-3308-B68C-06BB-437D7733143D}"/>
                  </a:ext>
                </a:extLst>
              </p:cNvPr>
              <p:cNvSpPr txBox="1"/>
              <p:nvPr/>
            </p:nvSpPr>
            <p:spPr>
              <a:xfrm>
                <a:off x="8749855" y="2225211"/>
                <a:ext cx="6379845" cy="369332"/>
              </a:xfrm>
              <a:prstGeom prst="rect">
                <a:avLst/>
              </a:prstGeom>
              <a:noFill/>
            </p:spPr>
            <p:txBody>
              <a:bodyPr wrap="square">
                <a:spAutoFit/>
              </a:bodyPr>
              <a:lstStyle/>
              <a:p>
                <a:r>
                  <a:rPr lang="en-IN"/>
                  <a:t>If the episode ends →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i="1">
                            <a:latin typeface="Cambria Math" panose="02040503050406030204" pitchFamily="18" charset="0"/>
                          </a:rPr>
                          <m:t>𝑡</m:t>
                        </m:r>
                      </m:sub>
                    </m:sSub>
                    <m:r>
                      <a:rPr lang="ar-AE" i="0">
                        <a:latin typeface="Cambria Math" panose="02040503050406030204" pitchFamily="18" charset="0"/>
                      </a:rPr>
                      <m:t>=</m:t>
                    </m:r>
                    <m:r>
                      <a:rPr lang="ar-AE" i="0">
                        <a:latin typeface="Cambria Math" panose="02040503050406030204" pitchFamily="18" charset="0"/>
                      </a:rPr>
                      <m:t>1</m:t>
                    </m:r>
                    <m:r>
                      <a:rPr lang="en-IN" b="0" i="0" smtClean="0">
                        <a:latin typeface="Cambria Math" panose="02040503050406030204" pitchFamily="18" charset="0"/>
                      </a:rPr>
                      <m:t> </m:t>
                    </m:r>
                    <m:r>
                      <m:rPr>
                        <m:sty m:val="p"/>
                      </m:rPr>
                      <a:rPr lang="en-IN" b="0" i="0" smtClean="0">
                        <a:latin typeface="Cambria Math" panose="02040503050406030204" pitchFamily="18" charset="0"/>
                      </a:rPr>
                      <m:t>else</m:t>
                    </m:r>
                    <m:r>
                      <a:rPr lang="en-IN" b="0" i="0" smtClean="0">
                        <a:latin typeface="Cambria Math" panose="02040503050406030204" pitchFamily="18" charset="0"/>
                      </a:rPr>
                      <m:t> </m:t>
                    </m:r>
                    <m:r>
                      <a:rPr lang="en-IN" b="0" i="0" smtClean="0">
                        <a:latin typeface="Cambria Math" panose="02040503050406030204" pitchFamily="18" charset="0"/>
                      </a:rPr>
                      <m:t>0</m:t>
                    </m:r>
                  </m:oMath>
                </a14:m>
                <a:endParaRPr lang="en-IN"/>
              </a:p>
            </p:txBody>
          </p:sp>
        </mc:Choice>
        <mc:Fallback xmlns="">
          <p:sp>
            <p:nvSpPr>
              <p:cNvPr id="15" name="TextBox 14">
                <a:extLst>
                  <a:ext uri="{FF2B5EF4-FFF2-40B4-BE49-F238E27FC236}">
                    <a16:creationId xmlns:a16="http://schemas.microsoft.com/office/drawing/2014/main" id="{6647DB89-3308-B68C-06BB-437D7733143D}"/>
                  </a:ext>
                </a:extLst>
              </p:cNvPr>
              <p:cNvSpPr txBox="1">
                <a:spLocks noRot="1" noChangeAspect="1" noMove="1" noResize="1" noEditPoints="1" noAdjustHandles="1" noChangeArrowheads="1" noChangeShapeType="1" noTextEdit="1"/>
              </p:cNvSpPr>
              <p:nvPr/>
            </p:nvSpPr>
            <p:spPr>
              <a:xfrm>
                <a:off x="8749855" y="2225211"/>
                <a:ext cx="6379845" cy="369332"/>
              </a:xfrm>
              <a:prstGeom prst="rect">
                <a:avLst/>
              </a:prstGeom>
              <a:blipFill>
                <a:blip r:embed="rId3"/>
                <a:stretch>
                  <a:fillRect l="-764"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4373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C3F9-47FE-045B-67B2-8F0FB93ECD63}"/>
              </a:ext>
            </a:extLst>
          </p:cNvPr>
          <p:cNvSpPr>
            <a:spLocks noGrp="1"/>
          </p:cNvSpPr>
          <p:nvPr>
            <p:ph type="title"/>
          </p:nvPr>
        </p:nvSpPr>
        <p:spPr/>
        <p:txBody>
          <a:bodyPr>
            <a:normAutofit fontScale="90000"/>
          </a:bodyPr>
          <a:lstStyle/>
          <a:p>
            <a:r>
              <a:rPr lang="en-IN"/>
              <a:t>DQN Algorithm</a:t>
            </a:r>
            <a:br>
              <a:rPr lang="en-IN"/>
            </a:br>
            <a:endParaRPr lang="en-IN"/>
          </a:p>
        </p:txBody>
      </p:sp>
      <p:sp>
        <p:nvSpPr>
          <p:cNvPr id="3" name="Content Placeholder 2">
            <a:extLst>
              <a:ext uri="{FF2B5EF4-FFF2-40B4-BE49-F238E27FC236}">
                <a16:creationId xmlns:a16="http://schemas.microsoft.com/office/drawing/2014/main" id="{4109B27D-8456-A138-6E35-F201D7BC1F1A}"/>
              </a:ext>
            </a:extLst>
          </p:cNvPr>
          <p:cNvSpPr>
            <a:spLocks noGrp="1"/>
          </p:cNvSpPr>
          <p:nvPr>
            <p:ph idx="1"/>
          </p:nvPr>
        </p:nvSpPr>
        <p:spPr/>
        <p:txBody>
          <a:bodyPr/>
          <a:lstStyle/>
          <a:p>
            <a:pPr marL="0" indent="0">
              <a:buNone/>
            </a:pPr>
            <a:r>
              <a:rPr lang="en-US"/>
              <a:t>6.Loss → Q-Network: Backpropagate to update weights</a:t>
            </a:r>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4671E1-4440-2A46-B596-8D16FBB09B16}"/>
                  </a:ext>
                </a:extLst>
              </p:cNvPr>
              <p:cNvSpPr txBox="1"/>
              <p:nvPr/>
            </p:nvSpPr>
            <p:spPr>
              <a:xfrm>
                <a:off x="673608" y="1443841"/>
                <a:ext cx="10844784" cy="3970318"/>
              </a:xfrm>
              <a:prstGeom prst="rect">
                <a:avLst/>
              </a:prstGeom>
              <a:noFill/>
            </p:spPr>
            <p:txBody>
              <a:bodyPr wrap="square">
                <a:spAutoFit/>
              </a:bodyPr>
              <a:lstStyle/>
              <a:p>
                <a:pPr>
                  <a:buNone/>
                </a:pPr>
                <a:r>
                  <a:rPr lang="en-IN"/>
                  <a:t>The Q-network parameters </a:t>
                </a:r>
                <a14:m>
                  <m:oMath xmlns:m="http://schemas.openxmlformats.org/officeDocument/2006/math">
                    <m:r>
                      <a:rPr lang="en-IN" i="1">
                        <a:latin typeface="Cambria Math" panose="02040503050406030204" pitchFamily="18" charset="0"/>
                      </a:rPr>
                      <m:t>𝜃</m:t>
                    </m:r>
                    <m:r>
                      <a:rPr lang="en-IN" b="0" i="1" smtClean="0">
                        <a:latin typeface="Cambria Math" panose="02040503050406030204" pitchFamily="18" charset="0"/>
                      </a:rPr>
                      <m:t> </m:t>
                    </m:r>
                  </m:oMath>
                </a14:m>
                <a:r>
                  <a:rPr lang="en-IN"/>
                  <a:t>are updated by minimizing the </a:t>
                </a:r>
                <a:r>
                  <a:rPr lang="en-IN" b="1"/>
                  <a:t>mean-squared TD error</a:t>
                </a:r>
                <a:r>
                  <a:rPr lang="en-IN"/>
                  <a:t>:</a:t>
                </a:r>
              </a:p>
              <a:p>
                <a:pPr>
                  <a:buNone/>
                </a:pPr>
                <a:endParaRPr lang="en-IN"/>
              </a:p>
              <a:p>
                <a:pPr>
                  <a:buNone/>
                </a:pPr>
                <a:endParaRPr lang="en-IN"/>
              </a:p>
              <a:p>
                <a:pPr>
                  <a:buNone/>
                </a:pPr>
                <a:endParaRPr lang="en-IN"/>
              </a:p>
              <a:p>
                <a:pPr>
                  <a:buNone/>
                </a:pPr>
                <a:endParaRPr lang="en-IN"/>
              </a:p>
              <a:p>
                <a:pPr>
                  <a:buNone/>
                </a:pPr>
                <a:endParaRPr lang="en-IN"/>
              </a:p>
              <a:p>
                <a:pPr>
                  <a:buNone/>
                </a:pPr>
                <a:r>
                  <a:rPr lang="en-IN"/>
                  <a:t>Gradient descent update:</a:t>
                </a:r>
              </a:p>
              <a:p>
                <a:pPr>
                  <a:buNone/>
                </a:pPr>
                <a:endParaRPr lang="en-IN"/>
              </a:p>
              <a:p>
                <a:pPr>
                  <a:buNone/>
                </a:pPr>
                <a:endParaRPr lang="en-IN"/>
              </a:p>
              <a:p>
                <a:pPr>
                  <a:buNone/>
                </a:pPr>
                <a:endParaRPr lang="en-IN"/>
              </a:p>
              <a:p>
                <a:pPr>
                  <a:buNone/>
                </a:pPr>
                <a:endParaRPr lang="en-IN"/>
              </a:p>
              <a:p>
                <a:pPr>
                  <a:buNone/>
                </a:pPr>
                <a:r>
                  <a:rPr lang="en-IN"/>
                  <a:t>Where </a:t>
                </a:r>
                <a14:m>
                  <m:oMath xmlns:m="http://schemas.openxmlformats.org/officeDocument/2006/math">
                    <m:r>
                      <a:rPr lang="en-IN" i="1">
                        <a:latin typeface="Cambria Math" panose="02040503050406030204" pitchFamily="18" charset="0"/>
                      </a:rPr>
                      <m:t>𝛼</m:t>
                    </m:r>
                  </m:oMath>
                </a14:m>
                <a:r>
                  <a:rPr lang="en-IN"/>
                  <a:t>is the learning rate.</a:t>
                </a:r>
              </a:p>
              <a:p>
                <a:pPr>
                  <a:buNone/>
                </a:pPr>
                <a:r>
                  <a:rPr lang="en-IN"/>
                  <a:t>Backpropagation flows through the Q-network, adjusting weights to reduce the difference between predicted Q-values and the fixed target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oMath>
                </a14:m>
                <a:r>
                  <a:rPr lang="ar-AE"/>
                  <a:t>.</a:t>
                </a:r>
              </a:p>
            </p:txBody>
          </p:sp>
        </mc:Choice>
        <mc:Fallback xmlns="">
          <p:sp>
            <p:nvSpPr>
              <p:cNvPr id="5" name="TextBox 4">
                <a:extLst>
                  <a:ext uri="{FF2B5EF4-FFF2-40B4-BE49-F238E27FC236}">
                    <a16:creationId xmlns:a16="http://schemas.microsoft.com/office/drawing/2014/main" id="{8F4671E1-4440-2A46-B596-8D16FBB09B16}"/>
                  </a:ext>
                </a:extLst>
              </p:cNvPr>
              <p:cNvSpPr txBox="1">
                <a:spLocks noRot="1" noChangeAspect="1" noMove="1" noResize="1" noEditPoints="1" noAdjustHandles="1" noChangeArrowheads="1" noChangeShapeType="1" noTextEdit="1"/>
              </p:cNvSpPr>
              <p:nvPr/>
            </p:nvSpPr>
            <p:spPr>
              <a:xfrm>
                <a:off x="673608" y="1443841"/>
                <a:ext cx="10844784" cy="3970318"/>
              </a:xfrm>
              <a:prstGeom prst="rect">
                <a:avLst/>
              </a:prstGeom>
              <a:blipFill>
                <a:blip r:embed="rId2"/>
                <a:stretch>
                  <a:fillRect l="-506" t="-922" b="-153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15A47159-0A79-2469-6F6F-0DB42B03A5CC}"/>
              </a:ext>
            </a:extLst>
          </p:cNvPr>
          <p:cNvSpPr txBox="1"/>
          <p:nvPr/>
        </p:nvSpPr>
        <p:spPr>
          <a:xfrm>
            <a:off x="8680704" y="347881"/>
            <a:ext cx="6108192" cy="461665"/>
          </a:xfrm>
          <a:prstGeom prst="rect">
            <a:avLst/>
          </a:prstGeom>
          <a:noFill/>
        </p:spPr>
        <p:txBody>
          <a:bodyPr wrap="square">
            <a:spAutoFit/>
          </a:bodyPr>
          <a:lstStyle/>
          <a:p>
            <a:r>
              <a:rPr lang="en-US" sz="2400" b="1">
                <a:solidFill>
                  <a:srgbClr val="C00000"/>
                </a:solidFill>
              </a:rPr>
              <a:t>Loss → Q-Network</a:t>
            </a:r>
            <a:endParaRPr lang="en-IN" sz="2400" b="1">
              <a:solidFill>
                <a:srgbClr val="C00000"/>
              </a:solidFill>
            </a:endParaRPr>
          </a:p>
        </p:txBody>
      </p:sp>
      <p:pic>
        <p:nvPicPr>
          <p:cNvPr id="11" name="Picture 10">
            <a:extLst>
              <a:ext uri="{FF2B5EF4-FFF2-40B4-BE49-F238E27FC236}">
                <a16:creationId xmlns:a16="http://schemas.microsoft.com/office/drawing/2014/main" id="{EE68A0F6-D25D-D027-A380-A5E301AD9EC2}"/>
              </a:ext>
            </a:extLst>
          </p:cNvPr>
          <p:cNvPicPr>
            <a:picLocks noChangeAspect="1"/>
          </p:cNvPicPr>
          <p:nvPr/>
        </p:nvPicPr>
        <p:blipFill>
          <a:blip r:embed="rId3"/>
          <a:stretch>
            <a:fillRect/>
          </a:stretch>
        </p:blipFill>
        <p:spPr>
          <a:xfrm>
            <a:off x="3327216" y="1861426"/>
            <a:ext cx="3970582" cy="909206"/>
          </a:xfrm>
          <a:prstGeom prst="rect">
            <a:avLst/>
          </a:prstGeom>
        </p:spPr>
      </p:pic>
      <p:pic>
        <p:nvPicPr>
          <p:cNvPr id="13" name="Picture 12">
            <a:extLst>
              <a:ext uri="{FF2B5EF4-FFF2-40B4-BE49-F238E27FC236}">
                <a16:creationId xmlns:a16="http://schemas.microsoft.com/office/drawing/2014/main" id="{8D94464F-368A-0C06-9882-4B1D51458B47}"/>
              </a:ext>
            </a:extLst>
          </p:cNvPr>
          <p:cNvPicPr>
            <a:picLocks noChangeAspect="1"/>
          </p:cNvPicPr>
          <p:nvPr/>
        </p:nvPicPr>
        <p:blipFill>
          <a:blip r:embed="rId4"/>
          <a:stretch>
            <a:fillRect/>
          </a:stretch>
        </p:blipFill>
        <p:spPr>
          <a:xfrm>
            <a:off x="3443060" y="3584870"/>
            <a:ext cx="4082452" cy="780202"/>
          </a:xfrm>
          <a:prstGeom prst="rect">
            <a:avLst/>
          </a:prstGeom>
        </p:spPr>
      </p:pic>
      <p:sp>
        <p:nvSpPr>
          <p:cNvPr id="15" name="TextBox 14">
            <a:extLst>
              <a:ext uri="{FF2B5EF4-FFF2-40B4-BE49-F238E27FC236}">
                <a16:creationId xmlns:a16="http://schemas.microsoft.com/office/drawing/2014/main" id="{33DB8DE6-5CB2-90CC-9476-0975DD361F9C}"/>
              </a:ext>
            </a:extLst>
          </p:cNvPr>
          <p:cNvSpPr txBox="1"/>
          <p:nvPr/>
        </p:nvSpPr>
        <p:spPr>
          <a:xfrm>
            <a:off x="521208" y="5615537"/>
            <a:ext cx="11393424" cy="369332"/>
          </a:xfrm>
          <a:prstGeom prst="rect">
            <a:avLst/>
          </a:prstGeom>
          <a:noFill/>
        </p:spPr>
        <p:txBody>
          <a:bodyPr wrap="square">
            <a:spAutoFit/>
          </a:bodyPr>
          <a:lstStyle/>
          <a:p>
            <a:r>
              <a:rPr lang="en-US"/>
              <a:t>The network corrects itself through gradient descent—learning which actions lead to higher long-term reward.”</a:t>
            </a:r>
            <a:endParaRPr lang="en-IN"/>
          </a:p>
        </p:txBody>
      </p:sp>
    </p:spTree>
    <p:extLst>
      <p:ext uri="{BB962C8B-B14F-4D97-AF65-F5344CB8AC3E}">
        <p14:creationId xmlns:p14="http://schemas.microsoft.com/office/powerpoint/2010/main" val="990926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FDC19-9B55-7F20-DB46-08DA35446460}"/>
              </a:ext>
            </a:extLst>
          </p:cNvPr>
          <p:cNvSpPr>
            <a:spLocks noGrp="1"/>
          </p:cNvSpPr>
          <p:nvPr>
            <p:ph type="title"/>
          </p:nvPr>
        </p:nvSpPr>
        <p:spPr/>
        <p:txBody>
          <a:bodyPr>
            <a:normAutofit fontScale="90000"/>
          </a:bodyPr>
          <a:lstStyle/>
          <a:p>
            <a:r>
              <a:rPr lang="en-IN"/>
              <a:t>Target-Network- </a:t>
            </a:r>
            <a:r>
              <a:rPr lang="en-IN" err="1"/>
              <a:t>updations</a:t>
            </a:r>
            <a:endParaRPr lang="en-IN"/>
          </a:p>
        </p:txBody>
      </p:sp>
      <p:sp>
        <p:nvSpPr>
          <p:cNvPr id="3" name="Content Placeholder 2">
            <a:extLst>
              <a:ext uri="{FF2B5EF4-FFF2-40B4-BE49-F238E27FC236}">
                <a16:creationId xmlns:a16="http://schemas.microsoft.com/office/drawing/2014/main" id="{8006B73D-863D-F52E-718F-57277E3A7CCA}"/>
              </a:ext>
            </a:extLst>
          </p:cNvPr>
          <p:cNvSpPr>
            <a:spLocks noGrp="1"/>
          </p:cNvSpPr>
          <p:nvPr>
            <p:ph idx="1"/>
          </p:nvPr>
        </p:nvSpPr>
        <p:spPr/>
        <p:txBody>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547CF4A-C7F5-5B75-9A97-FAF015D89DC1}"/>
                  </a:ext>
                </a:extLst>
              </p:cNvPr>
              <p:cNvSpPr txBox="1"/>
              <p:nvPr/>
            </p:nvSpPr>
            <p:spPr>
              <a:xfrm>
                <a:off x="236249" y="1464273"/>
                <a:ext cx="6105524" cy="1571969"/>
              </a:xfrm>
              <a:prstGeom prst="rect">
                <a:avLst/>
              </a:prstGeom>
              <a:solidFill>
                <a:schemeClr val="accent5">
                  <a:lumMod val="20000"/>
                  <a:lumOff val="80000"/>
                </a:schemeClr>
              </a:solidFill>
            </p:spPr>
            <p:txBody>
              <a:bodyPr wrap="square">
                <a:spAutoFit/>
              </a:bodyPr>
              <a:lstStyle/>
              <a:p>
                <a:pPr>
                  <a:buNone/>
                </a:pPr>
                <a:r>
                  <a:rPr lang="en-IN" b="1"/>
                  <a:t>Step 1 — Compute target (teacher signal)</a:t>
                </a:r>
              </a:p>
              <a:p>
                <a:pPr>
                  <a:buNone/>
                </a:pPr>
                <a:r>
                  <a:rPr lang="en-IN"/>
                  <a:t>For a sampled transition </a:t>
                </a:r>
                <a14:m>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e>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𝑡</m:t>
                            </m:r>
                          </m:sub>
                        </m:sSub>
                      </m:e>
                      <m:e>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e>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r>
                              <a:rPr lang="ar-AE" i="0">
                                <a:latin typeface="Cambria Math" panose="02040503050406030204" pitchFamily="18" charset="0"/>
                              </a:rPr>
                              <m:t>+</m:t>
                            </m:r>
                            <m:r>
                              <a:rPr lang="ar-AE" i="0">
                                <a:latin typeface="Cambria Math" panose="02040503050406030204" pitchFamily="18" charset="0"/>
                              </a:rPr>
                              <m:t>1</m:t>
                            </m:r>
                          </m:sub>
                        </m:sSub>
                      </m:e>
                    </m:d>
                  </m:oMath>
                </a14:m>
                <a:r>
                  <a:rPr lang="ar-AE"/>
                  <a:t>:</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𝑡</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i="0">
                          <a:latin typeface="Cambria Math" panose="02040503050406030204" pitchFamily="18" charset="0"/>
                        </a:rPr>
                        <m:t>+</m:t>
                      </m:r>
                      <m:r>
                        <a:rPr lang="ar-AE" i="1">
                          <a:latin typeface="Cambria Math" panose="02040503050406030204" pitchFamily="18" charset="0"/>
                        </a:rPr>
                        <m:t>𝛾</m:t>
                      </m:r>
                      <m:limLow>
                        <m:limLowPr>
                          <m:ctrlPr>
                            <a:rPr lang="ar-AE" i="1">
                              <a:latin typeface="Cambria Math" panose="02040503050406030204" pitchFamily="18" charset="0"/>
                            </a:rPr>
                          </m:ctrlPr>
                        </m:limLowPr>
                        <m:e>
                          <m:func>
                            <m:funcPr>
                              <m:ctrlPr>
                                <a:rPr lang="ar-AE" i="1">
                                  <a:latin typeface="Cambria Math" panose="02040503050406030204" pitchFamily="18" charset="0"/>
                                </a:rPr>
                              </m:ctrlPr>
                            </m:funcPr>
                            <m:fName>
                              <m:r>
                                <m:rPr>
                                  <m:sty m:val="p"/>
                                </m:rPr>
                                <a:rPr lang="en-IN" i="0">
                                  <a:latin typeface="Cambria Math" panose="02040503050406030204" pitchFamily="18" charset="0"/>
                                </a:rPr>
                                <m:t>max</m:t>
                              </m:r>
                            </m:fName>
                            <m:e/>
                          </m:func>
                        </m:e>
                        <m:lim>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lim>
                      </m:limLow>
                      <m:sSub>
                        <m:sSubPr>
                          <m:ctrlPr>
                            <a:rPr lang="ar-AE" i="1">
                              <a:latin typeface="Cambria Math" panose="02040503050406030204" pitchFamily="18" charset="0"/>
                            </a:rPr>
                          </m:ctrlPr>
                        </m:sSubPr>
                        <m:e>
                          <m:r>
                            <a:rPr lang="ar-AE" i="1">
                              <a:latin typeface="Cambria Math" panose="02040503050406030204" pitchFamily="18" charset="0"/>
                            </a:rPr>
                            <m:t>𝑄</m:t>
                          </m:r>
                        </m:e>
                        <m:sub>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sub>
                      </m:sSub>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r>
                                <a:rPr lang="ar-AE" i="0">
                                  <a:latin typeface="Cambria Math" panose="02040503050406030204" pitchFamily="18" charset="0"/>
                                </a:rPr>
                                <m:t>+</m:t>
                              </m:r>
                              <m:r>
                                <a:rPr lang="ar-AE" i="0">
                                  <a:latin typeface="Cambria Math" panose="02040503050406030204" pitchFamily="18" charset="0"/>
                                </a:rPr>
                                <m:t>1</m:t>
                              </m:r>
                            </m:sub>
                          </m:sSub>
                        </m:e>
                        <m:e>
                          <m:sSup>
                            <m:sSupPr>
                              <m:ctrlPr>
                                <a:rPr lang="ar-AE" i="1">
                                  <a:latin typeface="Cambria Math" panose="02040503050406030204" pitchFamily="18" charset="0"/>
                                </a:rPr>
                              </m:ctrlPr>
                            </m:sSupPr>
                            <m:e>
                              <m:r>
                                <a:rPr lang="ar-AE" i="1">
                                  <a:latin typeface="Cambria Math" panose="02040503050406030204" pitchFamily="18" charset="0"/>
                                </a:rPr>
                                <m:t>𝑎</m:t>
                              </m:r>
                            </m:e>
                            <m:sup>
                              <m:r>
                                <a:rPr lang="ar-AE" i="0">
                                  <a:latin typeface="Cambria Math" panose="02040503050406030204" pitchFamily="18" charset="0"/>
                                </a:rPr>
                                <m:t>′</m:t>
                              </m:r>
                            </m:sup>
                          </m:sSup>
                        </m:e>
                      </m:d>
                    </m:oMath>
                  </m:oMathPara>
                </a14:m>
                <a:endParaRPr lang="ar-AE"/>
              </a:p>
              <a:p>
                <a:pPr>
                  <a:buNone/>
                </a:pPr>
                <a:r>
                  <a:rPr lang="en-IN"/>
                  <a:t>The </a:t>
                </a:r>
                <a:r>
                  <a:rPr lang="en-IN" b="1"/>
                  <a:t>Target Network</a:t>
                </a:r>
                <a:r>
                  <a:rPr lang="en-IN"/>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𝑄</m:t>
                        </m:r>
                      </m:e>
                      <m:sub>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sub>
                    </m:sSub>
                  </m:oMath>
                </a14:m>
                <a:r>
                  <a:rPr lang="en-IN"/>
                  <a:t>computes this “target” value</a:t>
                </a:r>
                <a:br>
                  <a:rPr lang="en-IN"/>
                </a:br>
                <a:r>
                  <a:rPr lang="en-IN"/>
                  <a:t>— it’s the </a:t>
                </a:r>
                <a:r>
                  <a:rPr lang="en-IN" i="1"/>
                  <a:t>teacher’s answer</a:t>
                </a:r>
                <a:r>
                  <a:rPr lang="en-IN"/>
                  <a:t> for the current sample.</a:t>
                </a:r>
              </a:p>
            </p:txBody>
          </p:sp>
        </mc:Choice>
        <mc:Fallback xmlns="">
          <p:sp>
            <p:nvSpPr>
              <p:cNvPr id="5" name="TextBox 4">
                <a:extLst>
                  <a:ext uri="{FF2B5EF4-FFF2-40B4-BE49-F238E27FC236}">
                    <a16:creationId xmlns:a16="http://schemas.microsoft.com/office/drawing/2014/main" id="{1547CF4A-C7F5-5B75-9A97-FAF015D89DC1}"/>
                  </a:ext>
                </a:extLst>
              </p:cNvPr>
              <p:cNvSpPr txBox="1">
                <a:spLocks noRot="1" noChangeAspect="1" noMove="1" noResize="1" noEditPoints="1" noAdjustHandles="1" noChangeArrowheads="1" noChangeShapeType="1" noTextEdit="1"/>
              </p:cNvSpPr>
              <p:nvPr/>
            </p:nvSpPr>
            <p:spPr>
              <a:xfrm>
                <a:off x="236249" y="1464273"/>
                <a:ext cx="6105524" cy="1571969"/>
              </a:xfrm>
              <a:prstGeom prst="rect">
                <a:avLst/>
              </a:prstGeom>
              <a:blipFill>
                <a:blip r:embed="rId2"/>
                <a:stretch>
                  <a:fillRect l="-899" t="-1938" b="-50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9DEED3A-5F9C-7E7A-3362-5E727D6E2D27}"/>
                  </a:ext>
                </a:extLst>
              </p:cNvPr>
              <p:cNvSpPr txBox="1"/>
              <p:nvPr/>
            </p:nvSpPr>
            <p:spPr>
              <a:xfrm>
                <a:off x="7027068" y="1382537"/>
                <a:ext cx="4859337" cy="1200329"/>
              </a:xfrm>
              <a:prstGeom prst="rect">
                <a:avLst/>
              </a:prstGeom>
              <a:solidFill>
                <a:schemeClr val="accent6">
                  <a:lumMod val="20000"/>
                  <a:lumOff val="80000"/>
                </a:schemeClr>
              </a:solidFill>
            </p:spPr>
            <p:txBody>
              <a:bodyPr wrap="square">
                <a:spAutoFit/>
              </a:bodyPr>
              <a:lstStyle/>
              <a:p>
                <a:pPr>
                  <a:buNone/>
                </a:pPr>
                <a:r>
                  <a:rPr lang="en-IN" b="1"/>
                  <a:t>Step 2 — Compute prediction</a:t>
                </a:r>
              </a:p>
              <a:p>
                <a:pPr>
                  <a:buNone/>
                </a:pPr>
                <a:r>
                  <a:rPr lang="en-IN"/>
                  <a:t>The </a:t>
                </a:r>
                <a:r>
                  <a:rPr lang="en-IN" b="1"/>
                  <a:t>Online Q-Network</a:t>
                </a:r>
                <a:r>
                  <a:rPr lang="en-IN"/>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oMath>
                </a14:m>
                <a:r>
                  <a:rPr lang="en-IN"/>
                  <a:t>predicts: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e>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𝑡</m:t>
                              </m:r>
                            </m:sub>
                          </m:sSub>
                        </m:e>
                      </m:d>
                    </m:oMath>
                  </m:oMathPara>
                </a14:m>
                <a:endParaRPr lang="ar-AE"/>
              </a:p>
              <a:p>
                <a:pPr>
                  <a:buNone/>
                </a:pPr>
                <a:r>
                  <a:rPr lang="en-IN"/>
                  <a:t>This is the </a:t>
                </a:r>
                <a:r>
                  <a:rPr lang="en-IN" i="1"/>
                  <a:t>student’s current guess</a:t>
                </a:r>
                <a:r>
                  <a:rPr lang="en-IN"/>
                  <a:t>.</a:t>
                </a:r>
              </a:p>
            </p:txBody>
          </p:sp>
        </mc:Choice>
        <mc:Fallback xmlns="">
          <p:sp>
            <p:nvSpPr>
              <p:cNvPr id="7" name="TextBox 6">
                <a:extLst>
                  <a:ext uri="{FF2B5EF4-FFF2-40B4-BE49-F238E27FC236}">
                    <a16:creationId xmlns:a16="http://schemas.microsoft.com/office/drawing/2014/main" id="{B9DEED3A-5F9C-7E7A-3362-5E727D6E2D27}"/>
                  </a:ext>
                </a:extLst>
              </p:cNvPr>
              <p:cNvSpPr txBox="1">
                <a:spLocks noRot="1" noChangeAspect="1" noMove="1" noResize="1" noEditPoints="1" noAdjustHandles="1" noChangeArrowheads="1" noChangeShapeType="1" noTextEdit="1"/>
              </p:cNvSpPr>
              <p:nvPr/>
            </p:nvSpPr>
            <p:spPr>
              <a:xfrm>
                <a:off x="7027068" y="1382537"/>
                <a:ext cx="4859337" cy="1200329"/>
              </a:xfrm>
              <a:prstGeom prst="rect">
                <a:avLst/>
              </a:prstGeom>
              <a:blipFill>
                <a:blip r:embed="rId3"/>
                <a:stretch>
                  <a:fillRect l="-1129" t="-304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C8FE655-8536-DBED-1258-C6AAB49A6790}"/>
                  </a:ext>
                </a:extLst>
              </p:cNvPr>
              <p:cNvSpPr txBox="1"/>
              <p:nvPr/>
            </p:nvSpPr>
            <p:spPr>
              <a:xfrm>
                <a:off x="245269" y="3508706"/>
                <a:ext cx="5505291" cy="2031325"/>
              </a:xfrm>
              <a:prstGeom prst="rect">
                <a:avLst/>
              </a:prstGeom>
              <a:solidFill>
                <a:schemeClr val="tx2">
                  <a:lumMod val="20000"/>
                  <a:lumOff val="80000"/>
                </a:schemeClr>
              </a:solidFill>
            </p:spPr>
            <p:txBody>
              <a:bodyPr wrap="square">
                <a:spAutoFit/>
              </a:bodyPr>
              <a:lstStyle/>
              <a:p>
                <a:pPr>
                  <a:buNone/>
                </a:pPr>
                <a:r>
                  <a:rPr lang="en-IN" b="1"/>
                  <a:t>Step 3 — Compute loss and backpropagate Q-Network</a:t>
                </a:r>
              </a:p>
              <a:p>
                <a:pPr>
                  <a:buNone/>
                </a:pPr>
                <a:r>
                  <a:rPr lang="en-IN"/>
                  <a:t>The loss (TD error) is: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𝐿</m:t>
                      </m:r>
                      <m:d>
                        <m:dPr>
                          <m:ctrlPr>
                            <a:rPr lang="ar-AE" i="1">
                              <a:latin typeface="Cambria Math" panose="02040503050406030204" pitchFamily="18" charset="0"/>
                            </a:rPr>
                          </m:ctrlPr>
                        </m:dPr>
                        <m:e>
                          <m:r>
                            <a:rPr lang="ar-AE" i="1">
                              <a:latin typeface="Cambria Math" panose="02040503050406030204" pitchFamily="18" charset="0"/>
                            </a:rPr>
                            <m:t>𝜃</m:t>
                          </m:r>
                        </m:e>
                      </m:d>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𝑡</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𝑄</m:t>
                          </m:r>
                        </m:e>
                        <m:sub>
                          <m:r>
                            <a:rPr lang="ar-AE" i="1">
                              <a:latin typeface="Cambria Math" panose="02040503050406030204" pitchFamily="18" charset="0"/>
                            </a:rPr>
                            <m:t>𝜃</m:t>
                          </m:r>
                        </m:sub>
                      </m:sSub>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e>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𝑡</m:t>
                              </m:r>
                            </m:sub>
                          </m:sSub>
                        </m:e>
                      </m:d>
                      <m:sSup>
                        <m:sSupPr>
                          <m:ctrlPr>
                            <a:rPr lang="ar-AE" i="1">
                              <a:latin typeface="Cambria Math" panose="02040503050406030204" pitchFamily="18" charset="0"/>
                            </a:rPr>
                          </m:ctrlPr>
                        </m:sSupPr>
                        <m:e>
                          <m:r>
                            <a:rPr lang="ar-AE" i="0">
                              <a:latin typeface="Cambria Math" panose="02040503050406030204" pitchFamily="18" charset="0"/>
                            </a:rPr>
                            <m:t>)</m:t>
                          </m:r>
                        </m:e>
                        <m:sup>
                          <m:r>
                            <a:rPr lang="ar-AE" i="0">
                              <a:latin typeface="Cambria Math" panose="02040503050406030204" pitchFamily="18" charset="0"/>
                            </a:rPr>
                            <m:t>2</m:t>
                          </m:r>
                        </m:sup>
                      </m:sSup>
                    </m:oMath>
                  </m:oMathPara>
                </a14:m>
                <a:endParaRPr lang="ar-AE"/>
              </a:p>
              <a:p>
                <a:pPr>
                  <a:buNone/>
                </a:pPr>
                <a:r>
                  <a:rPr lang="en-IN"/>
                  <a:t>Gradient descent </a:t>
                </a:r>
                <a:r>
                  <a:rPr lang="en-IN" b="1"/>
                  <a:t>updates only </a:t>
                </a:r>
                <a14:m>
                  <m:oMath xmlns:m="http://schemas.openxmlformats.org/officeDocument/2006/math">
                    <m:r>
                      <a:rPr lang="en-IN" i="1">
                        <a:latin typeface="Cambria Math" panose="02040503050406030204" pitchFamily="18" charset="0"/>
                      </a:rPr>
                      <m:t>𝜃</m:t>
                    </m:r>
                  </m:oMath>
                </a14:m>
                <a:r>
                  <a:rPr lang="en-IN"/>
                  <a:t>:</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𝜃</m:t>
                      </m:r>
                      <m:r>
                        <a:rPr lang="en-IN" i="0">
                          <a:latin typeface="Cambria Math" panose="02040503050406030204" pitchFamily="18" charset="0"/>
                        </a:rPr>
                        <m:t>←</m:t>
                      </m:r>
                      <m:r>
                        <a:rPr lang="en-IN" i="1">
                          <a:latin typeface="Cambria Math" panose="02040503050406030204" pitchFamily="18" charset="0"/>
                        </a:rPr>
                        <m:t>𝜃</m:t>
                      </m:r>
                      <m:r>
                        <a:rPr lang="en-IN" i="0">
                          <a:latin typeface="Cambria Math" panose="02040503050406030204" pitchFamily="18" charset="0"/>
                        </a:rPr>
                        <m:t>−</m:t>
                      </m:r>
                      <m:r>
                        <a:rPr lang="en-IN" i="1">
                          <a:latin typeface="Cambria Math" panose="02040503050406030204" pitchFamily="18" charset="0"/>
                        </a:rPr>
                        <m:t>𝛼</m:t>
                      </m:r>
                      <m:sSub>
                        <m:sSubPr>
                          <m:ctrlPr>
                            <a:rPr lang="ar-AE" i="1">
                              <a:latin typeface="Cambria Math" panose="02040503050406030204" pitchFamily="18" charset="0"/>
                            </a:rPr>
                          </m:ctrlPr>
                        </m:sSubPr>
                        <m:e>
                          <m:r>
                            <m:rPr>
                              <m:sty m:val="p"/>
                            </m:rPr>
                            <a:rPr lang="ar-AE" i="0">
                              <a:latin typeface="Cambria Math" panose="02040503050406030204" pitchFamily="18" charset="0"/>
                            </a:rPr>
                            <m:t>∇</m:t>
                          </m:r>
                        </m:e>
                        <m:sub>
                          <m:r>
                            <a:rPr lang="ar-AE" i="1">
                              <a:latin typeface="Cambria Math" panose="02040503050406030204" pitchFamily="18" charset="0"/>
                            </a:rPr>
                            <m:t>𝜃</m:t>
                          </m:r>
                        </m:sub>
                      </m:sSub>
                      <m:r>
                        <a:rPr lang="ar-AE" i="1">
                          <a:latin typeface="Cambria Math" panose="02040503050406030204" pitchFamily="18" charset="0"/>
                        </a:rPr>
                        <m:t>𝐿</m:t>
                      </m:r>
                      <m:d>
                        <m:dPr>
                          <m:ctrlPr>
                            <a:rPr lang="ar-AE" i="1">
                              <a:latin typeface="Cambria Math" panose="02040503050406030204" pitchFamily="18" charset="0"/>
                            </a:rPr>
                          </m:ctrlPr>
                        </m:dPr>
                        <m:e>
                          <m:r>
                            <a:rPr lang="ar-AE" i="1">
                              <a:latin typeface="Cambria Math" panose="02040503050406030204" pitchFamily="18" charset="0"/>
                            </a:rPr>
                            <m:t>𝜃</m:t>
                          </m:r>
                        </m:e>
                      </m:d>
                    </m:oMath>
                  </m:oMathPara>
                </a14:m>
                <a:endParaRPr lang="ar-AE"/>
              </a:p>
              <a:p>
                <a:pPr>
                  <a:buNone/>
                </a:pPr>
                <a:r>
                  <a:rPr lang="ar-AE"/>
                  <a:t>⚠️ </a:t>
                </a:r>
                <a:r>
                  <a:rPr lang="en-IN"/>
                  <a:t>The </a:t>
                </a:r>
                <a:r>
                  <a:rPr lang="en-IN" b="1"/>
                  <a:t>Target Network’s weights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oMath>
                </a14:m>
                <a:r>
                  <a:rPr lang="en-IN"/>
                  <a:t>remain </a:t>
                </a:r>
                <a:r>
                  <a:rPr lang="en-IN" b="1"/>
                  <a:t>frozen</a:t>
                </a:r>
                <a:r>
                  <a:rPr lang="en-IN"/>
                  <a:t> during this process</a:t>
                </a:r>
              </a:p>
            </p:txBody>
          </p:sp>
        </mc:Choice>
        <mc:Fallback xmlns="">
          <p:sp>
            <p:nvSpPr>
              <p:cNvPr id="9" name="TextBox 8">
                <a:extLst>
                  <a:ext uri="{FF2B5EF4-FFF2-40B4-BE49-F238E27FC236}">
                    <a16:creationId xmlns:a16="http://schemas.microsoft.com/office/drawing/2014/main" id="{9C8FE655-8536-DBED-1258-C6AAB49A6790}"/>
                  </a:ext>
                </a:extLst>
              </p:cNvPr>
              <p:cNvSpPr txBox="1">
                <a:spLocks noRot="1" noChangeAspect="1" noMove="1" noResize="1" noEditPoints="1" noAdjustHandles="1" noChangeArrowheads="1" noChangeShapeType="1" noTextEdit="1"/>
              </p:cNvSpPr>
              <p:nvPr/>
            </p:nvSpPr>
            <p:spPr>
              <a:xfrm>
                <a:off x="245269" y="3508706"/>
                <a:ext cx="5505291" cy="2031325"/>
              </a:xfrm>
              <a:prstGeom prst="rect">
                <a:avLst/>
              </a:prstGeom>
              <a:blipFill>
                <a:blip r:embed="rId4"/>
                <a:stretch>
                  <a:fillRect l="-997" t="-1802" b="-39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8FDF454-11BD-96BC-A1E2-22F502D92A97}"/>
                  </a:ext>
                </a:extLst>
              </p:cNvPr>
              <p:cNvSpPr txBox="1"/>
              <p:nvPr/>
            </p:nvSpPr>
            <p:spPr>
              <a:xfrm>
                <a:off x="6343491" y="3037642"/>
                <a:ext cx="5505292" cy="3139321"/>
              </a:xfrm>
              <a:prstGeom prst="rect">
                <a:avLst/>
              </a:prstGeom>
              <a:solidFill>
                <a:schemeClr val="accent4">
                  <a:lumMod val="20000"/>
                  <a:lumOff val="80000"/>
                </a:schemeClr>
              </a:solidFill>
            </p:spPr>
            <p:txBody>
              <a:bodyPr wrap="square">
                <a:spAutoFit/>
              </a:bodyPr>
              <a:lstStyle/>
              <a:p>
                <a:pPr>
                  <a:buNone/>
                </a:pPr>
                <a:r>
                  <a:rPr lang="en-IN" b="1"/>
                  <a:t>Step 4</a:t>
                </a:r>
              </a:p>
              <a:p>
                <a:pPr>
                  <a:buNone/>
                </a:pPr>
                <a:r>
                  <a:rPr lang="en-IN" b="1"/>
                  <a:t>How the Target Network </a:t>
                </a:r>
                <a:r>
                  <a:rPr lang="en-IN" b="1" i="1"/>
                  <a:t>does</a:t>
                </a:r>
                <a:r>
                  <a:rPr lang="en-IN" b="1"/>
                  <a:t> get updated</a:t>
                </a:r>
              </a:p>
              <a:p>
                <a:pPr>
                  <a:buNone/>
                </a:pPr>
                <a:r>
                  <a:rPr lang="en-IN"/>
                  <a:t>After some number of steps or episodes, we </a:t>
                </a:r>
                <a:r>
                  <a:rPr lang="en-IN" b="1"/>
                  <a:t>copy or softly blend</a:t>
                </a:r>
                <a:r>
                  <a:rPr lang="en-IN"/>
                  <a:t> weights from the online network:</a:t>
                </a:r>
              </a:p>
              <a:p>
                <a:pPr>
                  <a:buNone/>
                </a:pPr>
                <a:endParaRPr lang="en-IN"/>
              </a:p>
              <a:p>
                <a:pPr>
                  <a:buNone/>
                </a:pPr>
                <a:r>
                  <a:rPr lang="en-IN" b="1"/>
                  <a:t> Option 1 — </a:t>
                </a:r>
                <a:r>
                  <a:rPr lang="en-IN" b="1" i="1"/>
                  <a:t>Hard update (periodic copy)</a:t>
                </a:r>
                <a:endParaRPr lang="en-IN" b="1"/>
              </a:p>
              <a:p>
                <a:pPr>
                  <a:buNone/>
                </a:pPr>
                <a:r>
                  <a:rPr lang="en-IN"/>
                  <a:t>Every </a:t>
                </a:r>
                <a14:m>
                  <m:oMath xmlns:m="http://schemas.openxmlformats.org/officeDocument/2006/math">
                    <m:r>
                      <a:rPr lang="en-IN" i="1">
                        <a:latin typeface="Cambria Math" panose="02040503050406030204" pitchFamily="18" charset="0"/>
                      </a:rPr>
                      <m:t>𝐶</m:t>
                    </m:r>
                  </m:oMath>
                </a14:m>
                <a:r>
                  <a:rPr lang="en-IN"/>
                  <a:t>steps:</a:t>
                </a:r>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r>
                        <a:rPr lang="ar-AE" i="0">
                          <a:latin typeface="Cambria Math" panose="02040503050406030204" pitchFamily="18" charset="0"/>
                        </a:rPr>
                        <m:t>←</m:t>
                      </m:r>
                      <m:r>
                        <a:rPr lang="ar-AE" i="1">
                          <a:latin typeface="Cambria Math" panose="02040503050406030204" pitchFamily="18" charset="0"/>
                        </a:rPr>
                        <m:t>𝜃</m:t>
                      </m:r>
                    </m:oMath>
                  </m:oMathPara>
                </a14:m>
                <a:endParaRPr lang="ar-AE"/>
              </a:p>
              <a:p>
                <a:pPr>
                  <a:buNone/>
                </a:pPr>
                <a:r>
                  <a:rPr lang="en-IN" b="1"/>
                  <a:t> Option 2 — </a:t>
                </a:r>
                <a:r>
                  <a:rPr lang="en-IN" b="1" i="1"/>
                  <a:t>Soft update </a:t>
                </a:r>
                <a:endParaRPr lang="en-IN" b="1"/>
              </a:p>
              <a:p>
                <a:pPr>
                  <a:buNone/>
                </a:pPr>
                <a:r>
                  <a:rPr lang="en-IN"/>
                  <a:t>Every step:</a:t>
                </a:r>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r>
                        <a:rPr lang="ar-AE" i="0">
                          <a:latin typeface="Cambria Math" panose="02040503050406030204" pitchFamily="18" charset="0"/>
                        </a:rPr>
                        <m:t>←</m:t>
                      </m:r>
                      <m:r>
                        <a:rPr lang="ar-AE" i="1">
                          <a:latin typeface="Cambria Math" panose="02040503050406030204" pitchFamily="18" charset="0"/>
                        </a:rPr>
                        <m:t>𝜏𝜃</m:t>
                      </m:r>
                      <m:r>
                        <a:rPr lang="ar-AE" i="0">
                          <a:latin typeface="Cambria Math" panose="02040503050406030204" pitchFamily="18" charset="0"/>
                        </a:rPr>
                        <m:t>+</m:t>
                      </m:r>
                      <m:d>
                        <m:dPr>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r>
                            <a:rPr lang="ar-AE" i="1">
                              <a:latin typeface="Cambria Math" panose="02040503050406030204" pitchFamily="18" charset="0"/>
                            </a:rPr>
                            <m:t>𝜏</m:t>
                          </m:r>
                        </m:e>
                      </m:d>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0">
                              <a:latin typeface="Cambria Math" panose="02040503050406030204" pitchFamily="18" charset="0"/>
                            </a:rPr>
                            <m:t>−</m:t>
                          </m:r>
                        </m:sup>
                      </m:sSup>
                    </m:oMath>
                  </m:oMathPara>
                </a14:m>
                <a:endParaRPr lang="ar-AE"/>
              </a:p>
            </p:txBody>
          </p:sp>
        </mc:Choice>
        <mc:Fallback xmlns="">
          <p:sp>
            <p:nvSpPr>
              <p:cNvPr id="11" name="TextBox 10">
                <a:extLst>
                  <a:ext uri="{FF2B5EF4-FFF2-40B4-BE49-F238E27FC236}">
                    <a16:creationId xmlns:a16="http://schemas.microsoft.com/office/drawing/2014/main" id="{48FDF454-11BD-96BC-A1E2-22F502D92A97}"/>
                  </a:ext>
                </a:extLst>
              </p:cNvPr>
              <p:cNvSpPr txBox="1">
                <a:spLocks noRot="1" noChangeAspect="1" noMove="1" noResize="1" noEditPoints="1" noAdjustHandles="1" noChangeArrowheads="1" noChangeShapeType="1" noTextEdit="1"/>
              </p:cNvSpPr>
              <p:nvPr/>
            </p:nvSpPr>
            <p:spPr>
              <a:xfrm>
                <a:off x="6343491" y="3037642"/>
                <a:ext cx="5505292" cy="3139321"/>
              </a:xfrm>
              <a:prstGeom prst="rect">
                <a:avLst/>
              </a:prstGeom>
              <a:blipFill>
                <a:blip r:embed="rId5"/>
                <a:stretch>
                  <a:fillRect l="-997" t="-971"/>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A495238D-7E6C-D513-1171-BF94F8E480B2}"/>
              </a:ext>
            </a:extLst>
          </p:cNvPr>
          <p:cNvSpPr txBox="1"/>
          <p:nvPr/>
        </p:nvSpPr>
        <p:spPr>
          <a:xfrm>
            <a:off x="7679436" y="213122"/>
            <a:ext cx="6108192" cy="584775"/>
          </a:xfrm>
          <a:prstGeom prst="rect">
            <a:avLst/>
          </a:prstGeom>
          <a:noFill/>
        </p:spPr>
        <p:txBody>
          <a:bodyPr wrap="square">
            <a:spAutoFit/>
          </a:bodyPr>
          <a:lstStyle/>
          <a:p>
            <a:r>
              <a:rPr lang="en-US" sz="3200" b="1">
                <a:solidFill>
                  <a:srgbClr val="C00000"/>
                </a:solidFill>
              </a:rPr>
              <a:t>Target Network → Loss</a:t>
            </a:r>
            <a:endParaRPr lang="en-IN" sz="3200" b="1">
              <a:solidFill>
                <a:srgbClr val="C00000"/>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364A850-0C26-DF5F-4383-C59308BA7A2F}"/>
                  </a:ext>
                </a:extLst>
              </p:cNvPr>
              <p:cNvSpPr txBox="1"/>
              <p:nvPr/>
            </p:nvSpPr>
            <p:spPr>
              <a:xfrm>
                <a:off x="5045189" y="830282"/>
                <a:ext cx="69015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ar-AE" i="1" smtClean="0">
                              <a:latin typeface="Cambria Math" panose="02040503050406030204" pitchFamily="18" charset="0"/>
                            </a:rPr>
                          </m:ctrlPr>
                        </m:dPr>
                        <m:e>
                          <m:r>
                            <a:rPr lang="ar-AE" i="1">
                              <a:latin typeface="Cambria Math" panose="02040503050406030204" pitchFamily="18" charset="0"/>
                            </a:rPr>
                            <m:t>𝜃</m:t>
                          </m:r>
                        </m:e>
                      </m:d>
                      <m:r>
                        <a:rPr lang="en-IN" b="0" i="1" smtClean="0">
                          <a:latin typeface="Cambria Math" panose="02040503050406030204" pitchFamily="18" charset="0"/>
                        </a:rPr>
                        <m:t>𝑖𝑠</m:t>
                      </m:r>
                      <m:r>
                        <a:rPr lang="en-IN" b="0" i="1" smtClean="0">
                          <a:latin typeface="Cambria Math" panose="02040503050406030204" pitchFamily="18" charset="0"/>
                        </a:rPr>
                        <m:t> </m:t>
                      </m:r>
                      <m:r>
                        <a:rPr lang="en-IN" b="0" i="1" smtClean="0">
                          <a:latin typeface="Cambria Math" panose="02040503050406030204" pitchFamily="18" charset="0"/>
                        </a:rPr>
                        <m:t>𝑄</m:t>
                      </m:r>
                      <m:r>
                        <a:rPr lang="en-IN" b="0" i="1" smtClean="0">
                          <a:latin typeface="Cambria Math" panose="02040503050406030204" pitchFamily="18" charset="0"/>
                        </a:rPr>
                        <m:t> −</m:t>
                      </m:r>
                      <m:r>
                        <a:rPr lang="en-IN" b="0" i="1" smtClean="0">
                          <a:latin typeface="Cambria Math" panose="02040503050406030204" pitchFamily="18" charset="0"/>
                        </a:rPr>
                        <m:t>𝑁𝑒𝑡𝑤𝑜𝑟𝑘</m:t>
                      </m:r>
                      <m:r>
                        <a:rPr lang="en-IN" b="0" i="1" smtClean="0">
                          <a:latin typeface="Cambria Math" panose="02040503050406030204" pitchFamily="18" charset="0"/>
                        </a:rPr>
                        <m:t> </m:t>
                      </m:r>
                      <m:r>
                        <a:rPr lang="en-IN" b="0" i="1" smtClean="0">
                          <a:latin typeface="Cambria Math" panose="02040503050406030204" pitchFamily="18" charset="0"/>
                        </a:rPr>
                        <m:t>𝑝𝑎𝑟𝑎𝑚𝑒𝑡𝑒𝑟</m:t>
                      </m:r>
                      <m:sSup>
                        <m:sSupPr>
                          <m:ctrlPr>
                            <a:rPr lang="ar-AE" i="1" smtClean="0">
                              <a:latin typeface="Cambria Math" panose="02040503050406030204" pitchFamily="18" charset="0"/>
                            </a:rPr>
                          </m:ctrlPr>
                        </m:sSupPr>
                        <m:e>
                          <m:r>
                            <a:rPr lang="ar-AE" i="1">
                              <a:latin typeface="Cambria Math" panose="02040503050406030204" pitchFamily="18" charset="0"/>
                            </a:rPr>
                            <m:t>𝜃</m:t>
                          </m:r>
                        </m:e>
                        <m:sup>
                          <m:r>
                            <a:rPr lang="ar-AE">
                              <a:latin typeface="Cambria Math" panose="02040503050406030204" pitchFamily="18" charset="0"/>
                            </a:rPr>
                            <m:t>−</m:t>
                          </m:r>
                        </m:sup>
                      </m:sSup>
                      <m:r>
                        <a:rPr lang="en-IN" b="0" i="1" smtClean="0">
                          <a:latin typeface="Cambria Math" panose="02040503050406030204" pitchFamily="18" charset="0"/>
                        </a:rPr>
                        <m:t> </m:t>
                      </m:r>
                      <m:r>
                        <a:rPr lang="en-IN" b="0" i="1" smtClean="0">
                          <a:latin typeface="Cambria Math" panose="02040503050406030204" pitchFamily="18" charset="0"/>
                        </a:rPr>
                        <m:t>𝑖𝑠</m:t>
                      </m:r>
                      <m:r>
                        <a:rPr lang="en-IN" b="0" i="1" smtClean="0">
                          <a:latin typeface="Cambria Math" panose="02040503050406030204" pitchFamily="18" charset="0"/>
                        </a:rPr>
                        <m:t> </m:t>
                      </m:r>
                      <m:r>
                        <a:rPr lang="en-IN" b="0" i="1" smtClean="0">
                          <a:latin typeface="Cambria Math" panose="02040503050406030204" pitchFamily="18" charset="0"/>
                        </a:rPr>
                        <m:t>𝑇𝑎𝑟𝑔𝑒𝑡</m:t>
                      </m:r>
                      <m:r>
                        <a:rPr lang="en-IN" b="0" i="1" smtClean="0">
                          <a:latin typeface="Cambria Math" panose="02040503050406030204" pitchFamily="18" charset="0"/>
                        </a:rPr>
                        <m:t> </m:t>
                      </m:r>
                      <m:r>
                        <a:rPr lang="en-IN" b="0" i="1" smtClean="0">
                          <a:latin typeface="Cambria Math" panose="02040503050406030204" pitchFamily="18" charset="0"/>
                        </a:rPr>
                        <m:t>𝑛𝑒𝑡𝑤𝑜𝑟𝑘</m:t>
                      </m:r>
                      <m:r>
                        <a:rPr lang="en-IN" b="0" i="1" smtClean="0">
                          <a:latin typeface="Cambria Math" panose="02040503050406030204" pitchFamily="18" charset="0"/>
                        </a:rPr>
                        <m:t> </m:t>
                      </m:r>
                      <m:r>
                        <a:rPr lang="en-IN" b="0" i="1" smtClean="0">
                          <a:latin typeface="Cambria Math" panose="02040503050406030204" pitchFamily="18" charset="0"/>
                        </a:rPr>
                        <m:t>𝑝𝑎𝑟𝑎𝑚𝑒𝑡𝑒𝑟</m:t>
                      </m:r>
                    </m:oMath>
                  </m:oMathPara>
                </a14:m>
                <a:endParaRPr lang="en-IN"/>
              </a:p>
            </p:txBody>
          </p:sp>
        </mc:Choice>
        <mc:Fallback xmlns="">
          <p:sp>
            <p:nvSpPr>
              <p:cNvPr id="6" name="TextBox 5">
                <a:extLst>
                  <a:ext uri="{FF2B5EF4-FFF2-40B4-BE49-F238E27FC236}">
                    <a16:creationId xmlns:a16="http://schemas.microsoft.com/office/drawing/2014/main" id="{E364A850-0C26-DF5F-4383-C59308BA7A2F}"/>
                  </a:ext>
                </a:extLst>
              </p:cNvPr>
              <p:cNvSpPr txBox="1">
                <a:spLocks noRot="1" noChangeAspect="1" noMove="1" noResize="1" noEditPoints="1" noAdjustHandles="1" noChangeArrowheads="1" noChangeShapeType="1" noTextEdit="1"/>
              </p:cNvSpPr>
              <p:nvPr/>
            </p:nvSpPr>
            <p:spPr>
              <a:xfrm>
                <a:off x="5045189" y="830282"/>
                <a:ext cx="6901542" cy="369332"/>
              </a:xfrm>
              <a:prstGeom prst="rect">
                <a:avLst/>
              </a:prstGeom>
              <a:blipFill>
                <a:blip r:embed="rId6"/>
                <a:stretch>
                  <a:fillRect b="-11475"/>
                </a:stretch>
              </a:blipFill>
            </p:spPr>
            <p:txBody>
              <a:bodyPr/>
              <a:lstStyle/>
              <a:p>
                <a:r>
                  <a:rPr lang="en-US">
                    <a:noFill/>
                  </a:rPr>
                  <a:t> </a:t>
                </a:r>
              </a:p>
            </p:txBody>
          </p:sp>
        </mc:Fallback>
      </mc:AlternateContent>
    </p:spTree>
    <p:extLst>
      <p:ext uri="{BB962C8B-B14F-4D97-AF65-F5344CB8AC3E}">
        <p14:creationId xmlns:p14="http://schemas.microsoft.com/office/powerpoint/2010/main" val="4211682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731AF-A117-B7FA-317A-E4F367EB3D80}"/>
              </a:ext>
            </a:extLst>
          </p:cNvPr>
          <p:cNvSpPr>
            <a:spLocks noGrp="1"/>
          </p:cNvSpPr>
          <p:nvPr>
            <p:ph type="title"/>
          </p:nvPr>
        </p:nvSpPr>
        <p:spPr/>
        <p:txBody>
          <a:bodyPr>
            <a:normAutofit fontScale="90000"/>
          </a:bodyPr>
          <a:lstStyle/>
          <a:p>
            <a:r>
              <a:rPr lang="en-IN"/>
              <a:t>DQN Algorithm</a:t>
            </a:r>
            <a:br>
              <a:rPr lang="en-IN"/>
            </a:br>
            <a:endParaRPr lang="en-IN"/>
          </a:p>
        </p:txBody>
      </p:sp>
      <p:sp>
        <p:nvSpPr>
          <p:cNvPr id="3" name="Content Placeholder 2">
            <a:extLst>
              <a:ext uri="{FF2B5EF4-FFF2-40B4-BE49-F238E27FC236}">
                <a16:creationId xmlns:a16="http://schemas.microsoft.com/office/drawing/2014/main" id="{221C6869-EB3D-6AD9-9646-406E77066EFC}"/>
              </a:ext>
            </a:extLst>
          </p:cNvPr>
          <p:cNvSpPr>
            <a:spLocks noGrp="1"/>
          </p:cNvSpPr>
          <p:nvPr>
            <p:ph idx="1"/>
          </p:nvPr>
        </p:nvSpPr>
        <p:spPr/>
        <p:txBody>
          <a:bodyPr/>
          <a:lstStyle/>
          <a:p>
            <a:r>
              <a:rPr lang="en-US"/>
              <a:t>Q-Network → Target Network: Soft update of weights</a:t>
            </a:r>
            <a:endParaRPr lang="en-IN"/>
          </a:p>
        </p:txBody>
      </p:sp>
      <p:sp>
        <p:nvSpPr>
          <p:cNvPr id="7" name="TextBox 6">
            <a:extLst>
              <a:ext uri="{FF2B5EF4-FFF2-40B4-BE49-F238E27FC236}">
                <a16:creationId xmlns:a16="http://schemas.microsoft.com/office/drawing/2014/main" id="{3D6BDCE9-FD86-5EFE-B318-8C9F08429F37}"/>
              </a:ext>
            </a:extLst>
          </p:cNvPr>
          <p:cNvSpPr txBox="1"/>
          <p:nvPr/>
        </p:nvSpPr>
        <p:spPr>
          <a:xfrm>
            <a:off x="1316736" y="5680557"/>
            <a:ext cx="11457432" cy="369332"/>
          </a:xfrm>
          <a:prstGeom prst="rect">
            <a:avLst/>
          </a:prstGeom>
          <a:noFill/>
        </p:spPr>
        <p:txBody>
          <a:bodyPr wrap="square">
            <a:spAutoFit/>
          </a:bodyPr>
          <a:lstStyle/>
          <a:p>
            <a:pPr>
              <a:buNone/>
            </a:pPr>
            <a:r>
              <a:rPr lang="en-IN"/>
              <a:t>“We compute how wrong our Q-network’s prediction was compared to the more accurate target.”</a:t>
            </a:r>
          </a:p>
        </p:txBody>
      </p:sp>
      <p:sp>
        <p:nvSpPr>
          <p:cNvPr id="9" name="TextBox 8">
            <a:extLst>
              <a:ext uri="{FF2B5EF4-FFF2-40B4-BE49-F238E27FC236}">
                <a16:creationId xmlns:a16="http://schemas.microsoft.com/office/drawing/2014/main" id="{81FD881D-64C7-F320-F2FF-50F82F7BB709}"/>
              </a:ext>
            </a:extLst>
          </p:cNvPr>
          <p:cNvSpPr txBox="1"/>
          <p:nvPr/>
        </p:nvSpPr>
        <p:spPr>
          <a:xfrm>
            <a:off x="6470904" y="119465"/>
            <a:ext cx="6391656" cy="584775"/>
          </a:xfrm>
          <a:prstGeom prst="rect">
            <a:avLst/>
          </a:prstGeom>
          <a:noFill/>
        </p:spPr>
        <p:txBody>
          <a:bodyPr wrap="square">
            <a:spAutoFit/>
          </a:bodyPr>
          <a:lstStyle/>
          <a:p>
            <a:r>
              <a:rPr lang="en-US" sz="3200" b="1">
                <a:solidFill>
                  <a:srgbClr val="C00000"/>
                </a:solidFill>
              </a:rPr>
              <a:t>Q-Network → Target Network</a:t>
            </a:r>
            <a:endParaRPr lang="en-IN" sz="3200" b="1">
              <a:solidFill>
                <a:srgbClr val="C0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413FB7-5E69-DE62-6542-E14D77871E96}"/>
                  </a:ext>
                </a:extLst>
              </p:cNvPr>
              <p:cNvSpPr txBox="1"/>
              <p:nvPr/>
            </p:nvSpPr>
            <p:spPr>
              <a:xfrm>
                <a:off x="1170432" y="2154627"/>
                <a:ext cx="9646920" cy="2554545"/>
              </a:xfrm>
              <a:prstGeom prst="rect">
                <a:avLst/>
              </a:prstGeom>
              <a:noFill/>
            </p:spPr>
            <p:txBody>
              <a:bodyPr wrap="square">
                <a:spAutoFit/>
              </a:bodyPr>
              <a:lstStyle/>
              <a:p>
                <a:pPr>
                  <a:buNone/>
                </a:pPr>
                <a:r>
                  <a:rPr lang="en-IN" sz="2000"/>
                  <a:t>To keep learning stable, we update the </a:t>
                </a:r>
                <a:r>
                  <a:rPr lang="en-IN" sz="2000" b="1"/>
                  <a:t>target network weights</a:t>
                </a:r>
                <a:r>
                  <a:rPr lang="en-IN" sz="2000"/>
                  <a:t> </a:t>
                </a:r>
                <a14:m>
                  <m:oMath xmlns:m="http://schemas.openxmlformats.org/officeDocument/2006/math">
                    <m:sSup>
                      <m:sSupPr>
                        <m:ctrlPr>
                          <a:rPr lang="ar-AE" sz="2000" i="1">
                            <a:latin typeface="Cambria Math" panose="02040503050406030204" pitchFamily="18" charset="0"/>
                          </a:rPr>
                        </m:ctrlPr>
                      </m:sSupPr>
                      <m:e>
                        <m:r>
                          <a:rPr lang="ar-AE" sz="2000" i="1">
                            <a:latin typeface="Cambria Math" panose="02040503050406030204" pitchFamily="18" charset="0"/>
                          </a:rPr>
                          <m:t>𝜃</m:t>
                        </m:r>
                      </m:e>
                      <m:sup>
                        <m:r>
                          <a:rPr lang="ar-AE" sz="2000" i="0">
                            <a:latin typeface="Cambria Math" panose="02040503050406030204" pitchFamily="18" charset="0"/>
                          </a:rPr>
                          <m:t>−</m:t>
                        </m:r>
                      </m:sup>
                    </m:sSup>
                  </m:oMath>
                </a14:m>
                <a:r>
                  <a:rPr lang="en-IN" sz="2000"/>
                  <a:t>slowly toward the online weights </a:t>
                </a:r>
                <a14:m>
                  <m:oMath xmlns:m="http://schemas.openxmlformats.org/officeDocument/2006/math">
                    <m:r>
                      <a:rPr lang="en-IN" sz="2000" i="1">
                        <a:latin typeface="Cambria Math" panose="02040503050406030204" pitchFamily="18" charset="0"/>
                      </a:rPr>
                      <m:t>𝜃</m:t>
                    </m:r>
                  </m:oMath>
                </a14:m>
                <a:r>
                  <a:rPr lang="en-IN" sz="2000"/>
                  <a:t>.</a:t>
                </a:r>
              </a:p>
              <a:p>
                <a:pPr>
                  <a:buNone/>
                </a:pPr>
                <a:r>
                  <a:rPr lang="en-IN" sz="2000" b="1"/>
                  <a:t>Soft update rule:</a:t>
                </a:r>
                <a:endParaRPr lang="en-IN" sz="2000"/>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r>
                            <a:rPr lang="ar-AE" sz="2000" i="1">
                              <a:latin typeface="Cambria Math" panose="02040503050406030204" pitchFamily="18" charset="0"/>
                            </a:rPr>
                            <m:t>𝜃</m:t>
                          </m:r>
                        </m:e>
                        <m:sup>
                          <m:r>
                            <a:rPr lang="ar-AE" sz="2000" i="0">
                              <a:latin typeface="Cambria Math" panose="02040503050406030204" pitchFamily="18" charset="0"/>
                            </a:rPr>
                            <m:t>−</m:t>
                          </m:r>
                        </m:sup>
                      </m:sSup>
                      <m:r>
                        <a:rPr lang="ar-AE" sz="2000" i="0">
                          <a:latin typeface="Cambria Math" panose="02040503050406030204" pitchFamily="18" charset="0"/>
                        </a:rPr>
                        <m:t>←</m:t>
                      </m:r>
                      <m:r>
                        <a:rPr lang="ar-AE" sz="2000" i="1">
                          <a:latin typeface="Cambria Math" panose="02040503050406030204" pitchFamily="18" charset="0"/>
                        </a:rPr>
                        <m:t>𝜏</m:t>
                      </m:r>
                      <m:r>
                        <m:rPr>
                          <m:nor/>
                        </m:rPr>
                        <a:rPr lang="ar-AE" sz="2000" b="0" i="1">
                          <a:latin typeface="Cambria Math" panose="02040503050406030204" pitchFamily="18" charset="0"/>
                        </a:rPr>
                        <m:t> </m:t>
                      </m:r>
                      <m:r>
                        <a:rPr lang="ar-AE" sz="2000" b="0" i="1">
                          <a:latin typeface="Cambria Math" panose="02040503050406030204" pitchFamily="18" charset="0"/>
                        </a:rPr>
                        <m:t>𝜃</m:t>
                      </m:r>
                      <m:r>
                        <a:rPr lang="ar-AE" sz="2000" b="0" i="0">
                          <a:latin typeface="Cambria Math" panose="02040503050406030204" pitchFamily="18" charset="0"/>
                        </a:rPr>
                        <m:t>+</m:t>
                      </m:r>
                      <m:d>
                        <m:dPr>
                          <m:ctrlPr>
                            <a:rPr lang="ar-AE" sz="2000" b="0" i="1">
                              <a:latin typeface="Cambria Math" panose="02040503050406030204" pitchFamily="18" charset="0"/>
                            </a:rPr>
                          </m:ctrlPr>
                        </m:dPr>
                        <m:e>
                          <m:r>
                            <a:rPr lang="ar-AE" sz="2000" b="0" i="0">
                              <a:latin typeface="Cambria Math" panose="02040503050406030204" pitchFamily="18" charset="0"/>
                            </a:rPr>
                            <m:t>1</m:t>
                          </m:r>
                          <m:r>
                            <a:rPr lang="ar-AE" sz="2000" b="0" i="0">
                              <a:latin typeface="Cambria Math" panose="02040503050406030204" pitchFamily="18" charset="0"/>
                            </a:rPr>
                            <m:t>−</m:t>
                          </m:r>
                          <m:r>
                            <a:rPr lang="ar-AE" sz="2000" b="0" i="1">
                              <a:latin typeface="Cambria Math" panose="02040503050406030204" pitchFamily="18" charset="0"/>
                            </a:rPr>
                            <m:t>𝜏</m:t>
                          </m:r>
                        </m:e>
                      </m:d>
                      <m:r>
                        <m:rPr>
                          <m:nor/>
                        </m:rPr>
                        <a:rPr lang="ar-AE" sz="2000" b="0" i="1">
                          <a:latin typeface="Cambria Math" panose="02040503050406030204" pitchFamily="18" charset="0"/>
                        </a:rPr>
                        <m:t> </m:t>
                      </m:r>
                      <m:sSup>
                        <m:sSupPr>
                          <m:ctrlPr>
                            <a:rPr lang="ar-AE" sz="2000" b="0" i="1">
                              <a:latin typeface="Cambria Math" panose="02040503050406030204" pitchFamily="18" charset="0"/>
                            </a:rPr>
                          </m:ctrlPr>
                        </m:sSupPr>
                        <m:e>
                          <m:r>
                            <a:rPr lang="ar-AE" sz="2000" b="0" i="1">
                              <a:latin typeface="Cambria Math" panose="02040503050406030204" pitchFamily="18" charset="0"/>
                            </a:rPr>
                            <m:t>𝜃</m:t>
                          </m:r>
                        </m:e>
                        <m:sup>
                          <m:r>
                            <a:rPr lang="ar-AE" sz="2000" b="0" i="0">
                              <a:latin typeface="Cambria Math" panose="02040503050406030204" pitchFamily="18" charset="0"/>
                            </a:rPr>
                            <m:t>−</m:t>
                          </m:r>
                        </m:sup>
                      </m:sSup>
                    </m:oMath>
                  </m:oMathPara>
                </a14:m>
                <a:endParaRPr lang="ar-AE" sz="2000" b="0"/>
              </a:p>
              <a:p>
                <a:pPr>
                  <a:buNone/>
                </a:pPr>
                <a:r>
                  <a:rPr lang="en-IN" sz="2000"/>
                  <a:t>where </a:t>
                </a:r>
                <a14:m>
                  <m:oMath xmlns:m="http://schemas.openxmlformats.org/officeDocument/2006/math">
                    <m:r>
                      <a:rPr lang="en-IN" sz="2000" i="1">
                        <a:latin typeface="Cambria Math" panose="02040503050406030204" pitchFamily="18" charset="0"/>
                      </a:rPr>
                      <m:t>𝜏</m:t>
                    </m:r>
                    <m:r>
                      <a:rPr lang="en-IN" sz="2000" i="0">
                        <a:latin typeface="Cambria Math" panose="02040503050406030204" pitchFamily="18" charset="0"/>
                      </a:rPr>
                      <m:t>∈</m:t>
                    </m:r>
                    <m:d>
                      <m:dPr>
                        <m:begChr m:val="["/>
                        <m:endChr m:val="]"/>
                        <m:sepChr m:val=","/>
                        <m:ctrlPr>
                          <a:rPr lang="ar-AE" sz="2000" i="1">
                            <a:latin typeface="Cambria Math" panose="02040503050406030204" pitchFamily="18" charset="0"/>
                          </a:rPr>
                        </m:ctrlPr>
                      </m:dPr>
                      <m:e>
                        <m:r>
                          <a:rPr lang="ar-AE" sz="2000" i="0">
                            <a:latin typeface="Cambria Math" panose="02040503050406030204" pitchFamily="18" charset="0"/>
                          </a:rPr>
                          <m:t>0</m:t>
                        </m:r>
                      </m:e>
                      <m:e>
                        <m:r>
                          <a:rPr lang="ar-AE" sz="2000" i="0">
                            <a:latin typeface="Cambria Math" panose="02040503050406030204" pitchFamily="18" charset="0"/>
                          </a:rPr>
                          <m:t>1</m:t>
                        </m:r>
                      </m:e>
                    </m:d>
                  </m:oMath>
                </a14:m>
                <a:r>
                  <a:rPr lang="en-IN" sz="2000"/>
                  <a:t>is a small constant (e.g., 0.001).</a:t>
                </a:r>
              </a:p>
              <a:p>
                <a:pPr>
                  <a:buNone/>
                </a:pPr>
                <a:r>
                  <a:rPr lang="en-IN" sz="2000" b="1"/>
                  <a:t>Hard update (alternative):</a:t>
                </a:r>
                <a:endParaRPr lang="en-IN" sz="2000"/>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r>
                            <a:rPr lang="ar-AE" sz="2000" i="1">
                              <a:latin typeface="Cambria Math" panose="02040503050406030204" pitchFamily="18" charset="0"/>
                            </a:rPr>
                            <m:t>𝜃</m:t>
                          </m:r>
                        </m:e>
                        <m:sup>
                          <m:r>
                            <a:rPr lang="ar-AE" sz="2000" i="0">
                              <a:latin typeface="Cambria Math" panose="02040503050406030204" pitchFamily="18" charset="0"/>
                            </a:rPr>
                            <m:t>−</m:t>
                          </m:r>
                        </m:sup>
                      </m:sSup>
                      <m:r>
                        <a:rPr lang="ar-AE" sz="2000" i="0">
                          <a:latin typeface="Cambria Math" panose="02040503050406030204" pitchFamily="18" charset="0"/>
                        </a:rPr>
                        <m:t>←</m:t>
                      </m:r>
                      <m:r>
                        <a:rPr lang="ar-AE" sz="2000" i="1">
                          <a:latin typeface="Cambria Math" panose="02040503050406030204" pitchFamily="18" charset="0"/>
                        </a:rPr>
                        <m:t>𝜃</m:t>
                      </m:r>
                      <m:r>
                        <a:rPr lang="ar-AE" sz="2000" i="0">
                          <a:latin typeface="Cambria Math" panose="02040503050406030204" pitchFamily="18" charset="0"/>
                        </a:rPr>
                        <m:t> </m:t>
                      </m:r>
                      <m:r>
                        <m:rPr>
                          <m:nor/>
                        </m:rPr>
                        <a:rPr lang="en-IN" sz="2000" b="0" i="1">
                          <a:latin typeface="Cambria Math" panose="02040503050406030204" pitchFamily="18" charset="0"/>
                        </a:rPr>
                        <m:t>every</m:t>
                      </m:r>
                      <m:r>
                        <m:rPr>
                          <m:nor/>
                        </m:rPr>
                        <a:rPr lang="en-IN" sz="2000" b="0" i="1">
                          <a:latin typeface="Cambria Math" panose="02040503050406030204" pitchFamily="18" charset="0"/>
                        </a:rPr>
                        <m:t> </m:t>
                      </m:r>
                      <m:r>
                        <a:rPr lang="en-IN" sz="2000" b="0" i="1">
                          <a:latin typeface="Cambria Math" panose="02040503050406030204" pitchFamily="18" charset="0"/>
                        </a:rPr>
                        <m:t>𝐾</m:t>
                      </m:r>
                      <m:r>
                        <m:rPr>
                          <m:nor/>
                        </m:rPr>
                        <a:rPr lang="en-IN" sz="2000" b="0" i="1">
                          <a:latin typeface="Cambria Math" panose="02040503050406030204" pitchFamily="18" charset="0"/>
                        </a:rPr>
                        <m:t> </m:t>
                      </m:r>
                      <m:r>
                        <m:rPr>
                          <m:nor/>
                        </m:rPr>
                        <a:rPr lang="en-IN" sz="2000" b="0" i="1">
                          <a:latin typeface="Cambria Math" panose="02040503050406030204" pitchFamily="18" charset="0"/>
                        </a:rPr>
                        <m:t>steps</m:t>
                      </m:r>
                      <m:r>
                        <m:rPr>
                          <m:nor/>
                        </m:rPr>
                        <a:rPr lang="en-IN" sz="2000" b="0" i="1">
                          <a:latin typeface="Cambria Math" panose="02040503050406030204" pitchFamily="18" charset="0"/>
                        </a:rPr>
                        <m:t>.</m:t>
                      </m:r>
                    </m:oMath>
                  </m:oMathPara>
                </a14:m>
                <a:endParaRPr lang="en-IN" sz="2000" b="0"/>
              </a:p>
              <a:p>
                <a:pPr>
                  <a:buNone/>
                </a:pPr>
                <a:r>
                  <a:rPr lang="en-IN" sz="2000"/>
                  <a:t>This keeps the target fixed long enough for the online network to learn effectively.</a:t>
                </a:r>
              </a:p>
            </p:txBody>
          </p:sp>
        </mc:Choice>
        <mc:Fallback xmlns="">
          <p:sp>
            <p:nvSpPr>
              <p:cNvPr id="11" name="TextBox 10">
                <a:extLst>
                  <a:ext uri="{FF2B5EF4-FFF2-40B4-BE49-F238E27FC236}">
                    <a16:creationId xmlns:a16="http://schemas.microsoft.com/office/drawing/2014/main" id="{64413FB7-5E69-DE62-6542-E14D77871E96}"/>
                  </a:ext>
                </a:extLst>
              </p:cNvPr>
              <p:cNvSpPr txBox="1">
                <a:spLocks noRot="1" noChangeAspect="1" noMove="1" noResize="1" noEditPoints="1" noAdjustHandles="1" noChangeArrowheads="1" noChangeShapeType="1" noTextEdit="1"/>
              </p:cNvSpPr>
              <p:nvPr/>
            </p:nvSpPr>
            <p:spPr>
              <a:xfrm>
                <a:off x="1170432" y="2154627"/>
                <a:ext cx="9646920" cy="2554545"/>
              </a:xfrm>
              <a:prstGeom prst="rect">
                <a:avLst/>
              </a:prstGeom>
              <a:blipFill>
                <a:blip r:embed="rId2"/>
                <a:stretch>
                  <a:fillRect l="-632" t="-1190" r="-379" b="-3095"/>
                </a:stretch>
              </a:blipFill>
            </p:spPr>
            <p:txBody>
              <a:bodyPr/>
              <a:lstStyle/>
              <a:p>
                <a:r>
                  <a:rPr lang="en-US">
                    <a:noFill/>
                  </a:rPr>
                  <a:t> </a:t>
                </a:r>
              </a:p>
            </p:txBody>
          </p:sp>
        </mc:Fallback>
      </mc:AlternateContent>
    </p:spTree>
    <p:extLst>
      <p:ext uri="{BB962C8B-B14F-4D97-AF65-F5344CB8AC3E}">
        <p14:creationId xmlns:p14="http://schemas.microsoft.com/office/powerpoint/2010/main" val="671841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FE804-DFB2-3DC9-A1E7-8C1D9104B0C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5D12C65-360F-E7C7-2529-C26C5F036760}"/>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5A4E71DE-EE9B-0667-A375-135C09E925FF}"/>
              </a:ext>
            </a:extLst>
          </p:cNvPr>
          <p:cNvSpPr txBox="1"/>
          <p:nvPr/>
        </p:nvSpPr>
        <p:spPr>
          <a:xfrm>
            <a:off x="1007149" y="1524522"/>
            <a:ext cx="9801224" cy="1477328"/>
          </a:xfrm>
          <a:prstGeom prst="rect">
            <a:avLst/>
          </a:prstGeom>
          <a:noFill/>
        </p:spPr>
        <p:txBody>
          <a:bodyPr wrap="square">
            <a:spAutoFit/>
          </a:bodyPr>
          <a:lstStyle/>
          <a:p>
            <a:pPr>
              <a:buNone/>
            </a:pPr>
            <a:r>
              <a:rPr lang="en-US" b="1"/>
              <a:t>Repeat the Cycle</a:t>
            </a:r>
          </a:p>
          <a:p>
            <a:pPr>
              <a:buFont typeface="Arial" panose="020B0604020202020204" pitchFamily="34" charset="0"/>
              <a:buChar char="•"/>
            </a:pPr>
            <a:r>
              <a:rPr lang="en-US"/>
              <a:t>Continue interacting, storing, sampling, and updating until the Q-values converge and the policy becomes optimal.</a:t>
            </a:r>
          </a:p>
          <a:p>
            <a:pPr>
              <a:buNone/>
            </a:pPr>
            <a:r>
              <a:rPr lang="en-US"/>
              <a:t>This loop continues again and again — predict, act, store, replay, and learn — until the agent becomes good at the task.</a:t>
            </a:r>
          </a:p>
        </p:txBody>
      </p:sp>
      <p:sp>
        <p:nvSpPr>
          <p:cNvPr id="6" name="Rectangle 1">
            <a:extLst>
              <a:ext uri="{FF2B5EF4-FFF2-40B4-BE49-F238E27FC236}">
                <a16:creationId xmlns:a16="http://schemas.microsoft.com/office/drawing/2014/main" id="{81B0BE98-1F56-8134-7FB5-91964B9B0FF1}"/>
              </a:ext>
            </a:extLst>
          </p:cNvPr>
          <p:cNvSpPr>
            <a:spLocks noChangeArrowheads="1"/>
          </p:cNvSpPr>
          <p:nvPr/>
        </p:nvSpPr>
        <p:spPr bwMode="auto">
          <a:xfrm>
            <a:off x="2633472" y="3586050"/>
            <a:ext cx="745350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Arial" panose="020B0604020202020204" pitchFamily="34" charset="0"/>
              </a:rPr>
              <a:t>Recap</a:t>
            </a:r>
          </a:p>
          <a:p>
            <a:pPr lvl="1" eaLnBrk="0" fontAlgn="base" hangingPunct="0">
              <a:spcBef>
                <a:spcPct val="0"/>
              </a:spcBef>
              <a:spcAft>
                <a:spcPct val="0"/>
              </a:spcAft>
              <a:buFontTx/>
              <a:buChar char="•"/>
            </a:pPr>
            <a:r>
              <a:rPr kumimoji="0" lang="en-US" altLang="en-US" b="1" i="0" u="none" strike="noStrike" cap="none" normalizeH="0" baseline="0">
                <a:ln>
                  <a:noFill/>
                </a:ln>
                <a:solidFill>
                  <a:schemeClr val="tx1"/>
                </a:solidFill>
                <a:effectLst/>
                <a:latin typeface="Arial" panose="020B0604020202020204" pitchFamily="34" charset="0"/>
              </a:rPr>
              <a:t>Environment → Q-Network:</a:t>
            </a:r>
            <a:r>
              <a:rPr kumimoji="0" lang="en-US" altLang="en-US" b="0" i="0" u="none" strike="noStrike" cap="none" normalizeH="0" baseline="0">
                <a:ln>
                  <a:noFill/>
                </a:ln>
                <a:solidFill>
                  <a:schemeClr val="tx1"/>
                </a:solidFill>
                <a:effectLst/>
                <a:latin typeface="Arial" panose="020B0604020202020204" pitchFamily="34" charset="0"/>
              </a:rPr>
              <a:t> get state, predict Q-values.</a:t>
            </a:r>
          </a:p>
          <a:p>
            <a:pPr lvl="1" eaLnBrk="0" fontAlgn="base" hangingPunct="0">
              <a:spcBef>
                <a:spcPct val="0"/>
              </a:spcBef>
              <a:spcAft>
                <a:spcPct val="0"/>
              </a:spcAft>
              <a:buFontTx/>
              <a:buChar char="•"/>
            </a:pPr>
            <a:r>
              <a:rPr kumimoji="0" lang="en-US" altLang="en-US" b="1" i="0" u="none" strike="noStrike" cap="none" normalizeH="0" baseline="0">
                <a:ln>
                  <a:noFill/>
                </a:ln>
                <a:solidFill>
                  <a:schemeClr val="tx1"/>
                </a:solidFill>
                <a:effectLst/>
                <a:latin typeface="Arial" panose="020B0604020202020204" pitchFamily="34" charset="0"/>
              </a:rPr>
              <a:t>Q-Network → Environment:</a:t>
            </a:r>
            <a:r>
              <a:rPr kumimoji="0" lang="en-US" altLang="en-US" b="0" i="0" u="none" strike="noStrike" cap="none" normalizeH="0" baseline="0">
                <a:ln>
                  <a:noFill/>
                </a:ln>
                <a:solidFill>
                  <a:schemeClr val="tx1"/>
                </a:solidFill>
                <a:effectLst/>
                <a:latin typeface="Arial" panose="020B0604020202020204" pitchFamily="34" charset="0"/>
              </a:rPr>
              <a:t> choose action (ε-greedy).</a:t>
            </a:r>
          </a:p>
          <a:p>
            <a:pPr lvl="1" eaLnBrk="0" fontAlgn="base" hangingPunct="0">
              <a:spcBef>
                <a:spcPct val="0"/>
              </a:spcBef>
              <a:spcAft>
                <a:spcPct val="0"/>
              </a:spcAft>
              <a:buFontTx/>
              <a:buChar char="•"/>
            </a:pPr>
            <a:r>
              <a:rPr kumimoji="0" lang="en-US" altLang="en-US" b="1" i="0" u="none" strike="noStrike" cap="none" normalizeH="0" baseline="0">
                <a:ln>
                  <a:noFill/>
                </a:ln>
                <a:solidFill>
                  <a:schemeClr val="tx1"/>
                </a:solidFill>
                <a:effectLst/>
                <a:latin typeface="Arial" panose="020B0604020202020204" pitchFamily="34" charset="0"/>
              </a:rPr>
              <a:t>Environment → Replay Buffer:</a:t>
            </a:r>
            <a:r>
              <a:rPr kumimoji="0" lang="en-US" altLang="en-US" b="0" i="0" u="none" strike="noStrike" cap="none" normalizeH="0" baseline="0">
                <a:ln>
                  <a:noFill/>
                </a:ln>
                <a:solidFill>
                  <a:schemeClr val="tx1"/>
                </a:solidFill>
                <a:effectLst/>
                <a:latin typeface="Arial" panose="020B0604020202020204" pitchFamily="34" charset="0"/>
              </a:rPr>
              <a:t> store (</a:t>
            </a:r>
            <a:r>
              <a:rPr kumimoji="0" lang="en-US" altLang="en-US" b="0" i="0" u="none" strike="noStrike" cap="none" normalizeH="0" baseline="0" err="1">
                <a:ln>
                  <a:noFill/>
                </a:ln>
                <a:solidFill>
                  <a:schemeClr val="tx1"/>
                </a:solidFill>
                <a:effectLst/>
                <a:latin typeface="Arial" panose="020B0604020202020204" pitchFamily="34" charset="0"/>
              </a:rPr>
              <a:t>s,a,r,s</a:t>
            </a:r>
            <a:r>
              <a:rPr kumimoji="0" lang="en-US" altLang="en-US" b="0" i="0" u="none" strike="noStrike" cap="none" normalizeH="0" baseline="0">
                <a:ln>
                  <a:noFill/>
                </a:ln>
                <a:solidFill>
                  <a:schemeClr val="tx1"/>
                </a:solidFill>
                <a:effectLst/>
                <a:latin typeface="Arial" panose="020B0604020202020204" pitchFamily="34" charset="0"/>
              </a:rPr>
              <a:t>′).</a:t>
            </a:r>
          </a:p>
          <a:p>
            <a:pPr lvl="1" eaLnBrk="0" fontAlgn="base" hangingPunct="0">
              <a:spcBef>
                <a:spcPct val="0"/>
              </a:spcBef>
              <a:spcAft>
                <a:spcPct val="0"/>
              </a:spcAft>
              <a:buFontTx/>
              <a:buChar char="•"/>
            </a:pPr>
            <a:r>
              <a:rPr kumimoji="0" lang="en-US" altLang="en-US" b="1" i="0" u="none" strike="noStrike" cap="none" normalizeH="0" baseline="0">
                <a:ln>
                  <a:noFill/>
                </a:ln>
                <a:solidFill>
                  <a:schemeClr val="tx1"/>
                </a:solidFill>
                <a:effectLst/>
                <a:latin typeface="Arial" panose="020B0604020202020204" pitchFamily="34" charset="0"/>
              </a:rPr>
              <a:t>Replay Buffer → Q-Network:</a:t>
            </a:r>
            <a:r>
              <a:rPr kumimoji="0" lang="en-US" altLang="en-US" b="0" i="0" u="none" strike="noStrike" cap="none" normalizeH="0" baseline="0">
                <a:ln>
                  <a:noFill/>
                </a:ln>
                <a:solidFill>
                  <a:schemeClr val="tx1"/>
                </a:solidFill>
                <a:effectLst/>
                <a:latin typeface="Arial" panose="020B0604020202020204" pitchFamily="34" charset="0"/>
              </a:rPr>
              <a:t> sample batch for learning.</a:t>
            </a:r>
          </a:p>
          <a:p>
            <a:pPr lvl="1" eaLnBrk="0" fontAlgn="base" hangingPunct="0">
              <a:spcBef>
                <a:spcPct val="0"/>
              </a:spcBef>
              <a:spcAft>
                <a:spcPct val="0"/>
              </a:spcAft>
              <a:buFontTx/>
              <a:buChar char="•"/>
            </a:pPr>
            <a:r>
              <a:rPr kumimoji="0" lang="en-US" altLang="en-US" b="1" i="0" u="none" strike="noStrike" cap="none" normalizeH="0" baseline="0">
                <a:ln>
                  <a:noFill/>
                </a:ln>
                <a:solidFill>
                  <a:schemeClr val="tx1"/>
                </a:solidFill>
                <a:effectLst/>
                <a:latin typeface="Arial" panose="020B0604020202020204" pitchFamily="34" charset="0"/>
              </a:rPr>
              <a:t>Target Network → Loss:</a:t>
            </a:r>
            <a:r>
              <a:rPr kumimoji="0" lang="en-US" altLang="en-US" b="0" i="0" u="none" strike="noStrike" cap="none" normalizeH="0" baseline="0">
                <a:ln>
                  <a:noFill/>
                </a:ln>
                <a:solidFill>
                  <a:schemeClr val="tx1"/>
                </a:solidFill>
                <a:effectLst/>
                <a:latin typeface="Arial" panose="020B0604020202020204" pitchFamily="34" charset="0"/>
              </a:rPr>
              <a:t> compute stable target Q-values.</a:t>
            </a:r>
          </a:p>
          <a:p>
            <a:pPr lvl="1" eaLnBrk="0" fontAlgn="base" hangingPunct="0">
              <a:spcBef>
                <a:spcPct val="0"/>
              </a:spcBef>
              <a:spcAft>
                <a:spcPct val="0"/>
              </a:spcAft>
              <a:buFontTx/>
              <a:buChar char="•"/>
            </a:pPr>
            <a:r>
              <a:rPr kumimoji="0" lang="en-US" altLang="en-US" b="1" i="0" u="none" strike="noStrike" cap="none" normalizeH="0" baseline="0">
                <a:ln>
                  <a:noFill/>
                </a:ln>
                <a:solidFill>
                  <a:schemeClr val="tx1"/>
                </a:solidFill>
                <a:effectLst/>
                <a:latin typeface="Arial" panose="020B0604020202020204" pitchFamily="34" charset="0"/>
              </a:rPr>
              <a:t>Loss → Q-Network:</a:t>
            </a:r>
            <a:r>
              <a:rPr kumimoji="0" lang="en-US" altLang="en-US" b="0" i="0" u="none" strike="noStrike" cap="none" normalizeH="0" baseline="0">
                <a:ln>
                  <a:noFill/>
                </a:ln>
                <a:solidFill>
                  <a:schemeClr val="tx1"/>
                </a:solidFill>
                <a:effectLst/>
                <a:latin typeface="Arial" panose="020B0604020202020204" pitchFamily="34" charset="0"/>
              </a:rPr>
              <a:t> backpropagate to update weights.</a:t>
            </a:r>
          </a:p>
          <a:p>
            <a:pPr lvl="1" eaLnBrk="0" fontAlgn="base" hangingPunct="0">
              <a:spcBef>
                <a:spcPct val="0"/>
              </a:spcBef>
              <a:spcAft>
                <a:spcPct val="0"/>
              </a:spcAft>
              <a:buFontTx/>
              <a:buChar char="•"/>
            </a:pPr>
            <a:r>
              <a:rPr kumimoji="0" lang="en-US" altLang="en-US" b="1" i="0" u="none" strike="noStrike" cap="none" normalizeH="0" baseline="0">
                <a:ln>
                  <a:noFill/>
                </a:ln>
                <a:solidFill>
                  <a:schemeClr val="tx1"/>
                </a:solidFill>
                <a:effectLst/>
                <a:latin typeface="Arial" panose="020B0604020202020204" pitchFamily="34" charset="0"/>
              </a:rPr>
              <a:t>Q-Network → Target Network:</a:t>
            </a:r>
            <a:r>
              <a:rPr kumimoji="0" lang="en-US" altLang="en-US" b="0" i="0" u="none" strike="noStrike" cap="none" normalizeH="0" baseline="0">
                <a:ln>
                  <a:noFill/>
                </a:ln>
                <a:solidFill>
                  <a:schemeClr val="tx1"/>
                </a:solidFill>
                <a:effectLst/>
                <a:latin typeface="Arial" panose="020B0604020202020204" pitchFamily="34" charset="0"/>
              </a:rPr>
              <a:t> soft update weights</a:t>
            </a:r>
          </a:p>
        </p:txBody>
      </p:sp>
    </p:spTree>
    <p:extLst>
      <p:ext uri="{BB962C8B-B14F-4D97-AF65-F5344CB8AC3E}">
        <p14:creationId xmlns:p14="http://schemas.microsoft.com/office/powerpoint/2010/main" val="4274454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8DCD13-4F14-C01B-7DBD-B1FE7228BC02}"/>
              </a:ext>
            </a:extLst>
          </p:cNvPr>
          <p:cNvSpPr>
            <a:spLocks noGrp="1"/>
          </p:cNvSpPr>
          <p:nvPr>
            <p:ph type="ctrTitle"/>
          </p:nvPr>
        </p:nvSpPr>
        <p:spPr/>
        <p:txBody>
          <a:bodyPr>
            <a:normAutofit fontScale="90000"/>
          </a:bodyPr>
          <a:lstStyle/>
          <a:p>
            <a:r>
              <a:rPr lang="en-IN"/>
              <a:t>Why you need two networks- Q-Network and Target Network?</a:t>
            </a:r>
          </a:p>
        </p:txBody>
      </p:sp>
      <p:sp>
        <p:nvSpPr>
          <p:cNvPr id="5" name="Subtitle 4">
            <a:extLst>
              <a:ext uri="{FF2B5EF4-FFF2-40B4-BE49-F238E27FC236}">
                <a16:creationId xmlns:a16="http://schemas.microsoft.com/office/drawing/2014/main" id="{CC53B841-947B-D9CA-A98C-DBE774CFC681}"/>
              </a:ext>
            </a:extLst>
          </p:cNvPr>
          <p:cNvSpPr>
            <a:spLocks noGrp="1"/>
          </p:cNvSpPr>
          <p:nvPr>
            <p:ph type="subTitle" idx="1"/>
          </p:nvPr>
        </p:nvSpPr>
        <p:spPr/>
        <p:txBody>
          <a:bodyPr/>
          <a:lstStyle/>
          <a:p>
            <a:r>
              <a:rPr lang="en-US"/>
              <a:t>The problem if we use only one Q-network</a:t>
            </a:r>
            <a:endParaRPr lang="en-IN"/>
          </a:p>
        </p:txBody>
      </p:sp>
    </p:spTree>
    <p:extLst>
      <p:ext uri="{BB962C8B-B14F-4D97-AF65-F5344CB8AC3E}">
        <p14:creationId xmlns:p14="http://schemas.microsoft.com/office/powerpoint/2010/main" val="2955599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88BD-F550-4CE8-F2DC-158BAAF619FE}"/>
              </a:ext>
            </a:extLst>
          </p:cNvPr>
          <p:cNvSpPr>
            <a:spLocks noGrp="1"/>
          </p:cNvSpPr>
          <p:nvPr>
            <p:ph type="title"/>
          </p:nvPr>
        </p:nvSpPr>
        <p:spPr>
          <a:xfrm>
            <a:off x="553212" y="658527"/>
            <a:ext cx="10515600" cy="436064"/>
          </a:xfrm>
        </p:spPr>
        <p:txBody>
          <a:bodyPr>
            <a:normAutofit fontScale="90000"/>
          </a:bodyPr>
          <a:lstStyle/>
          <a:p>
            <a:r>
              <a:rPr lang="en-IN"/>
              <a:t>Why two networks- Q Network and Target Network?-</a:t>
            </a:r>
            <a:r>
              <a:rPr lang="en-US" sz="2000"/>
              <a:t>The problem if we use only one Q-network</a:t>
            </a:r>
            <a:br>
              <a:rPr lang="en-IN"/>
            </a:br>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881E218-8888-F6EC-9640-E9590280321A}"/>
                  </a:ext>
                </a:extLst>
              </p:cNvPr>
              <p:cNvSpPr txBox="1"/>
              <p:nvPr/>
            </p:nvSpPr>
            <p:spPr>
              <a:xfrm>
                <a:off x="553212" y="1234605"/>
                <a:ext cx="10800588" cy="4528804"/>
              </a:xfrm>
              <a:prstGeom prst="rect">
                <a:avLst/>
              </a:prstGeom>
              <a:noFill/>
            </p:spPr>
            <p:txBody>
              <a:bodyPr wrap="square">
                <a:spAutoFit/>
              </a:bodyPr>
              <a:lstStyle/>
              <a:p>
                <a:pPr>
                  <a:buNone/>
                </a:pPr>
                <a:r>
                  <a:rPr lang="en-IN" sz="2400"/>
                  <a:t>If Both the </a:t>
                </a:r>
                <a:r>
                  <a:rPr lang="en-IN" sz="2400" b="1"/>
                  <a:t>target</a:t>
                </a:r>
                <a:r>
                  <a:rPr lang="en-IN" sz="2400"/>
                  <a:t> (the right-hand side) and the </a:t>
                </a:r>
                <a:r>
                  <a:rPr lang="en-IN" sz="2400" b="1"/>
                  <a:t>prediction</a:t>
                </a:r>
                <a:r>
                  <a:rPr lang="en-IN" sz="2400"/>
                  <a:t> (the left-hand side) depend on the </a:t>
                </a:r>
                <a:r>
                  <a:rPr lang="en-IN" sz="2400" b="1"/>
                  <a:t>same parameters </a:t>
                </a:r>
                <a:r>
                  <a:rPr lang="el-GR" sz="2400" b="1"/>
                  <a:t>θ</a:t>
                </a:r>
                <a:r>
                  <a:rPr lang="el-GR" sz="2400"/>
                  <a:t>.</a:t>
                </a:r>
              </a:p>
              <a:p>
                <a:pPr>
                  <a:buNone/>
                </a:pPr>
                <a:r>
                  <a:rPr lang="en-IN" sz="2400"/>
                  <a:t>That means:</a:t>
                </a:r>
              </a:p>
              <a:p>
                <a:pPr lvl="1">
                  <a:buFont typeface="Arial" panose="020B0604020202020204" pitchFamily="34" charset="0"/>
                  <a:buChar char="•"/>
                </a:pPr>
                <a:r>
                  <a:rPr lang="en-IN" sz="2400"/>
                  <a:t>As we update </a:t>
                </a:r>
                <a:r>
                  <a:rPr lang="el-GR" sz="2400"/>
                  <a:t>θ </a:t>
                </a:r>
                <a:r>
                  <a:rPr lang="en-IN" sz="2400"/>
                  <a:t>to reduce the loss,</a:t>
                </a:r>
              </a:p>
              <a:p>
                <a:pPr lvl="1">
                  <a:buFont typeface="Arial" panose="020B0604020202020204" pitchFamily="34" charset="0"/>
                  <a:buChar char="•"/>
                </a:pPr>
                <a:r>
                  <a:rPr lang="en-IN" sz="2400"/>
                  <a:t>The target </a:t>
                </a:r>
                <a14:m>
                  <m:oMath xmlns:m="http://schemas.openxmlformats.org/officeDocument/2006/math">
                    <m:r>
                      <a:rPr lang="en-IN" sz="2400" i="1">
                        <a:latin typeface="Cambria Math" panose="02040503050406030204" pitchFamily="18" charset="0"/>
                      </a:rPr>
                      <m:t>𝑟</m:t>
                    </m:r>
                    <m:r>
                      <a:rPr lang="en-IN" sz="2400" i="0">
                        <a:latin typeface="Cambria Math" panose="02040503050406030204" pitchFamily="18" charset="0"/>
                      </a:rPr>
                      <m:t>+</m:t>
                    </m:r>
                    <m:r>
                      <a:rPr lang="en-IN" sz="2400" i="1">
                        <a:latin typeface="Cambria Math" panose="02040503050406030204" pitchFamily="18" charset="0"/>
                      </a:rPr>
                      <m:t>𝛾</m:t>
                    </m:r>
                    <m:sSub>
                      <m:sSubPr>
                        <m:ctrlPr>
                          <a:rPr lang="ar-AE" sz="2400" i="1">
                            <a:latin typeface="Cambria Math" panose="02040503050406030204" pitchFamily="18" charset="0"/>
                          </a:rPr>
                        </m:ctrlPr>
                      </m:sSubPr>
                      <m:e>
                        <m:func>
                          <m:funcPr>
                            <m:ctrlPr>
                              <a:rPr lang="ar-AE" sz="2400" i="1">
                                <a:latin typeface="Cambria Math" panose="02040503050406030204" pitchFamily="18" charset="0"/>
                              </a:rPr>
                            </m:ctrlPr>
                          </m:funcPr>
                          <m:fName>
                            <m:r>
                              <m:rPr>
                                <m:sty m:val="p"/>
                              </m:rPr>
                              <a:rPr lang="en-IN" sz="2400" i="0">
                                <a:latin typeface="Cambria Math" panose="02040503050406030204" pitchFamily="18" charset="0"/>
                              </a:rPr>
                              <m:t>max</m:t>
                            </m:r>
                          </m:fName>
                          <m:e/>
                        </m:func>
                      </m:e>
                      <m:sub>
                        <m:sSup>
                          <m:sSupPr>
                            <m:ctrlPr>
                              <a:rPr lang="ar-AE" sz="2400" i="1">
                                <a:latin typeface="Cambria Math" panose="02040503050406030204" pitchFamily="18" charset="0"/>
                              </a:rPr>
                            </m:ctrlPr>
                          </m:sSupPr>
                          <m:e>
                            <m:r>
                              <a:rPr lang="ar-AE" sz="2400" i="1">
                                <a:latin typeface="Cambria Math" panose="02040503050406030204" pitchFamily="18" charset="0"/>
                              </a:rPr>
                              <m:t>𝑎</m:t>
                            </m:r>
                          </m:e>
                          <m:sup>
                            <m:r>
                              <a:rPr lang="ar-AE" sz="2400" i="0">
                                <a:latin typeface="Cambria Math" panose="02040503050406030204" pitchFamily="18" charset="0"/>
                              </a:rPr>
                              <m:t>′</m:t>
                            </m:r>
                          </m:sup>
                        </m:sSup>
                      </m:sub>
                    </m:sSub>
                    <m:sSub>
                      <m:sSubPr>
                        <m:ctrlPr>
                          <a:rPr lang="ar-AE" sz="2400" i="1">
                            <a:latin typeface="Cambria Math" panose="02040503050406030204" pitchFamily="18" charset="0"/>
                          </a:rPr>
                        </m:ctrlPr>
                      </m:sSubPr>
                      <m:e>
                        <m:r>
                          <a:rPr lang="ar-AE" sz="2400" i="1">
                            <a:latin typeface="Cambria Math" panose="02040503050406030204" pitchFamily="18" charset="0"/>
                          </a:rPr>
                          <m:t>𝑄</m:t>
                        </m:r>
                      </m:e>
                      <m:sub>
                        <m:r>
                          <a:rPr lang="ar-AE" sz="2400" i="1">
                            <a:latin typeface="Cambria Math" panose="02040503050406030204" pitchFamily="18" charset="0"/>
                          </a:rPr>
                          <m:t>𝜃</m:t>
                        </m:r>
                      </m:sub>
                    </m:sSub>
                    <m:d>
                      <m:dPr>
                        <m:sepChr m:val=","/>
                        <m:ctrlPr>
                          <a:rPr lang="ar-AE" sz="2400" i="1">
                            <a:latin typeface="Cambria Math" panose="02040503050406030204" pitchFamily="18" charset="0"/>
                          </a:rPr>
                        </m:ctrlPr>
                      </m:dPr>
                      <m:e>
                        <m:sSup>
                          <m:sSupPr>
                            <m:ctrlPr>
                              <a:rPr lang="ar-AE" sz="2400" i="1">
                                <a:latin typeface="Cambria Math" panose="02040503050406030204" pitchFamily="18" charset="0"/>
                              </a:rPr>
                            </m:ctrlPr>
                          </m:sSupPr>
                          <m:e>
                            <m:r>
                              <a:rPr lang="ar-AE" sz="2400" i="1">
                                <a:latin typeface="Cambria Math" panose="02040503050406030204" pitchFamily="18" charset="0"/>
                              </a:rPr>
                              <m:t>𝑠</m:t>
                            </m:r>
                          </m:e>
                          <m:sup>
                            <m:r>
                              <a:rPr lang="ar-AE" sz="2400" i="0">
                                <a:latin typeface="Cambria Math" panose="02040503050406030204" pitchFamily="18" charset="0"/>
                              </a:rPr>
                              <m:t>′</m:t>
                            </m:r>
                          </m:sup>
                        </m:sSup>
                      </m:e>
                      <m:e>
                        <m:sSup>
                          <m:sSupPr>
                            <m:ctrlPr>
                              <a:rPr lang="ar-AE" sz="2400" i="1">
                                <a:latin typeface="Cambria Math" panose="02040503050406030204" pitchFamily="18" charset="0"/>
                              </a:rPr>
                            </m:ctrlPr>
                          </m:sSupPr>
                          <m:e>
                            <m:r>
                              <a:rPr lang="ar-AE" sz="2400" i="1">
                                <a:latin typeface="Cambria Math" panose="02040503050406030204" pitchFamily="18" charset="0"/>
                              </a:rPr>
                              <m:t>𝑎</m:t>
                            </m:r>
                          </m:e>
                          <m:sup>
                            <m:r>
                              <a:rPr lang="ar-AE" sz="2400" i="0">
                                <a:latin typeface="Cambria Math" panose="02040503050406030204" pitchFamily="18" charset="0"/>
                              </a:rPr>
                              <m:t>′</m:t>
                            </m:r>
                          </m:sup>
                        </m:sSup>
                      </m:e>
                    </m:d>
                  </m:oMath>
                </a14:m>
                <a:r>
                  <a:rPr lang="en-IN" sz="2400"/>
                  <a:t>also </a:t>
                </a:r>
                <a:r>
                  <a:rPr lang="en-IN" sz="2400" b="1"/>
                  <a:t>changes at the same time</a:t>
                </a:r>
                <a:r>
                  <a:rPr lang="en-IN" sz="2400"/>
                  <a:t>.</a:t>
                </a:r>
              </a:p>
              <a:p>
                <a:pPr>
                  <a:buNone/>
                </a:pPr>
                <a:endParaRPr lang="en-IN" sz="2400"/>
              </a:p>
              <a:p>
                <a:pPr>
                  <a:buNone/>
                </a:pPr>
                <a:endParaRPr lang="en-IN" sz="2400"/>
              </a:p>
              <a:p>
                <a:pPr>
                  <a:buNone/>
                </a:pPr>
                <a:r>
                  <a:rPr lang="en-IN" sz="2400"/>
                  <a:t>Result:</a:t>
                </a:r>
              </a:p>
              <a:p>
                <a:pPr lvl="1">
                  <a:buFont typeface="Arial" panose="020B0604020202020204" pitchFamily="34" charset="0"/>
                  <a:buChar char="•"/>
                </a:pPr>
                <a:r>
                  <a:rPr lang="en-IN" sz="2400"/>
                  <a:t>The target keeps </a:t>
                </a:r>
                <a:r>
                  <a:rPr lang="en-IN" sz="2400" b="1"/>
                  <a:t>chasing a moving goalpost</a:t>
                </a:r>
                <a:r>
                  <a:rPr lang="en-IN" sz="2400"/>
                  <a:t>.</a:t>
                </a:r>
              </a:p>
              <a:p>
                <a:pPr lvl="1">
                  <a:buFont typeface="Arial" panose="020B0604020202020204" pitchFamily="34" charset="0"/>
                  <a:buChar char="•"/>
                </a:pPr>
                <a:r>
                  <a:rPr lang="en-IN" sz="2400"/>
                  <a:t>The learning target is </a:t>
                </a:r>
                <a:r>
                  <a:rPr lang="en-IN" sz="2400" b="1"/>
                  <a:t>unstable</a:t>
                </a:r>
                <a:r>
                  <a:rPr lang="en-IN" sz="2400"/>
                  <a:t> because every small weight update changes both the current and next Q-values.</a:t>
                </a:r>
              </a:p>
              <a:p>
                <a:pPr lvl="1">
                  <a:buFont typeface="Arial" panose="020B0604020202020204" pitchFamily="34" charset="0"/>
                  <a:buChar char="•"/>
                </a:pPr>
                <a:r>
                  <a:rPr lang="en-IN" sz="2400"/>
                  <a:t>This often causes </a:t>
                </a:r>
                <a:r>
                  <a:rPr lang="en-IN" sz="2400" b="1"/>
                  <a:t>divergence</a:t>
                </a:r>
                <a:r>
                  <a:rPr lang="en-IN" sz="2400"/>
                  <a:t> or </a:t>
                </a:r>
                <a:r>
                  <a:rPr lang="en-IN" sz="2400" b="1"/>
                  <a:t>oscillations</a:t>
                </a:r>
                <a:r>
                  <a:rPr lang="en-IN" sz="2400"/>
                  <a:t> (the Q-values blow up or bounce).</a:t>
                </a:r>
              </a:p>
            </p:txBody>
          </p:sp>
        </mc:Choice>
        <mc:Fallback xmlns="">
          <p:sp>
            <p:nvSpPr>
              <p:cNvPr id="5" name="TextBox 4">
                <a:extLst>
                  <a:ext uri="{FF2B5EF4-FFF2-40B4-BE49-F238E27FC236}">
                    <a16:creationId xmlns:a16="http://schemas.microsoft.com/office/drawing/2014/main" id="{A881E218-8888-F6EC-9640-E9590280321A}"/>
                  </a:ext>
                </a:extLst>
              </p:cNvPr>
              <p:cNvSpPr txBox="1">
                <a:spLocks noRot="1" noChangeAspect="1" noMove="1" noResize="1" noEditPoints="1" noAdjustHandles="1" noChangeArrowheads="1" noChangeShapeType="1" noTextEdit="1"/>
              </p:cNvSpPr>
              <p:nvPr/>
            </p:nvSpPr>
            <p:spPr>
              <a:xfrm>
                <a:off x="553212" y="1234605"/>
                <a:ext cx="10800588" cy="4528804"/>
              </a:xfrm>
              <a:prstGeom prst="rect">
                <a:avLst/>
              </a:prstGeom>
              <a:blipFill>
                <a:blip r:embed="rId2"/>
                <a:stretch>
                  <a:fillRect l="-903" t="-1078" r="-1072" b="-2291"/>
                </a:stretch>
              </a:blipFill>
            </p:spPr>
            <p:txBody>
              <a:bodyPr/>
              <a:lstStyle/>
              <a:p>
                <a:r>
                  <a:rPr lang="en-US">
                    <a:noFill/>
                  </a:rPr>
                  <a:t> </a:t>
                </a:r>
              </a:p>
            </p:txBody>
          </p:sp>
        </mc:Fallback>
      </mc:AlternateContent>
    </p:spTree>
    <p:extLst>
      <p:ext uri="{BB962C8B-B14F-4D97-AF65-F5344CB8AC3E}">
        <p14:creationId xmlns:p14="http://schemas.microsoft.com/office/powerpoint/2010/main" val="2897242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87A58-54FB-F6FE-96BE-F0B59D0D62BA}"/>
              </a:ext>
            </a:extLst>
          </p:cNvPr>
          <p:cNvSpPr>
            <a:spLocks noGrp="1"/>
          </p:cNvSpPr>
          <p:nvPr>
            <p:ph type="title"/>
          </p:nvPr>
        </p:nvSpPr>
        <p:spPr/>
        <p:txBody>
          <a:bodyPr>
            <a:normAutofit fontScale="90000"/>
          </a:bodyPr>
          <a:lstStyle/>
          <a:p>
            <a:r>
              <a:rPr lang="en-IN"/>
              <a:t>Idea behind Target Network</a:t>
            </a:r>
          </a:p>
        </p:txBody>
      </p:sp>
      <p:sp>
        <p:nvSpPr>
          <p:cNvPr id="3" name="Content Placeholder 2">
            <a:extLst>
              <a:ext uri="{FF2B5EF4-FFF2-40B4-BE49-F238E27FC236}">
                <a16:creationId xmlns:a16="http://schemas.microsoft.com/office/drawing/2014/main" id="{850557A9-BD4E-6EED-F654-5AB4A907223C}"/>
              </a:ext>
            </a:extLst>
          </p:cNvPr>
          <p:cNvSpPr>
            <a:spLocks noGrp="1"/>
          </p:cNvSpPr>
          <p:nvPr>
            <p:ph idx="1"/>
          </p:nvPr>
        </p:nvSpPr>
        <p:spPr/>
        <p:txBody>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84E56D-2D78-4A40-13A3-9A498C545C14}"/>
                  </a:ext>
                </a:extLst>
              </p:cNvPr>
              <p:cNvSpPr txBox="1"/>
              <p:nvPr/>
            </p:nvSpPr>
            <p:spPr>
              <a:xfrm>
                <a:off x="731520" y="1741546"/>
                <a:ext cx="11219688" cy="3911968"/>
              </a:xfrm>
              <a:prstGeom prst="rect">
                <a:avLst/>
              </a:prstGeom>
              <a:noFill/>
            </p:spPr>
            <p:txBody>
              <a:bodyPr wrap="square">
                <a:spAutoFit/>
              </a:bodyPr>
              <a:lstStyle/>
              <a:p>
                <a:pPr>
                  <a:buNone/>
                </a:pPr>
                <a:r>
                  <a:rPr lang="en-IN" sz="2400"/>
                  <a:t>The </a:t>
                </a:r>
                <a:r>
                  <a:rPr lang="en-IN" sz="2400" b="1"/>
                  <a:t>solution</a:t>
                </a:r>
                <a:r>
                  <a:rPr lang="en-IN" sz="2400"/>
                  <a:t> proposed by DeepMind in the original 2015 DQN paper was simple and brilliant:</a:t>
                </a:r>
              </a:p>
              <a:p>
                <a:pPr>
                  <a:buNone/>
                </a:pPr>
                <a:endParaRPr lang="en-IN" sz="2400"/>
              </a:p>
              <a:p>
                <a:pPr>
                  <a:buNone/>
                </a:pPr>
                <a:r>
                  <a:rPr lang="en-IN" sz="2400"/>
                  <a:t>Use a </a:t>
                </a:r>
                <a:r>
                  <a:rPr lang="en-IN" sz="2400" b="1"/>
                  <a:t>second network</a:t>
                </a:r>
                <a:r>
                  <a:rPr lang="en-IN" sz="2400"/>
                  <a: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𝑄</m:t>
                        </m:r>
                      </m:e>
                      <m:sub>
                        <m:sSup>
                          <m:sSupPr>
                            <m:ctrlPr>
                              <a:rPr lang="ar-AE" sz="2400" i="1">
                                <a:latin typeface="Cambria Math" panose="02040503050406030204" pitchFamily="18" charset="0"/>
                              </a:rPr>
                            </m:ctrlPr>
                          </m:sSupPr>
                          <m:e>
                            <m:r>
                              <a:rPr lang="ar-AE" sz="2400" i="1">
                                <a:latin typeface="Cambria Math" panose="02040503050406030204" pitchFamily="18" charset="0"/>
                              </a:rPr>
                              <m:t>𝜃</m:t>
                            </m:r>
                          </m:e>
                          <m:sup>
                            <m:r>
                              <a:rPr lang="ar-AE" sz="2400" i="0">
                                <a:latin typeface="Cambria Math" panose="02040503050406030204" pitchFamily="18" charset="0"/>
                              </a:rPr>
                              <m:t>−</m:t>
                            </m:r>
                          </m:sup>
                        </m:sSup>
                      </m:sub>
                    </m:sSub>
                    <m:d>
                      <m:dPr>
                        <m:sepChr m:val=","/>
                        <m:ctrlPr>
                          <a:rPr lang="ar-AE" sz="2400" i="1">
                            <a:latin typeface="Cambria Math" panose="02040503050406030204" pitchFamily="18" charset="0"/>
                          </a:rPr>
                        </m:ctrlPr>
                      </m:dPr>
                      <m:e>
                        <m:r>
                          <a:rPr lang="ar-AE" sz="2400" i="1">
                            <a:latin typeface="Cambria Math" panose="02040503050406030204" pitchFamily="18" charset="0"/>
                          </a:rPr>
                          <m:t>𝑠</m:t>
                        </m:r>
                      </m:e>
                      <m:e>
                        <m:r>
                          <a:rPr lang="ar-AE" sz="2400" i="1">
                            <a:latin typeface="Cambria Math" panose="02040503050406030204" pitchFamily="18" charset="0"/>
                          </a:rPr>
                          <m:t>𝑎</m:t>
                        </m:r>
                      </m:e>
                    </m:d>
                  </m:oMath>
                </a14:m>
                <a:r>
                  <a:rPr lang="ar-AE" sz="2400"/>
                  <a:t>, </a:t>
                </a:r>
                <a:r>
                  <a:rPr lang="en-IN" sz="2400"/>
                  <a:t>a </a:t>
                </a:r>
                <a:r>
                  <a:rPr lang="en-IN" sz="2400" i="1"/>
                  <a:t>frozen</a:t>
                </a:r>
                <a:r>
                  <a:rPr lang="en-IN" sz="2400"/>
                  <a:t> copy of the main Q-network, to compute the target value.</a:t>
                </a:r>
              </a:p>
              <a:p>
                <a:pPr>
                  <a:buNone/>
                </a:pPr>
                <a:endParaRPr lang="en-IN" sz="2400"/>
              </a:p>
              <a:p>
                <a:pPr>
                  <a:buNone/>
                </a:pPr>
                <a:r>
                  <a:rPr lang="en-IN" sz="2400"/>
                  <a:t>So now the target becomes:</a:t>
                </a:r>
              </a:p>
              <a:p>
                <a:pPr>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𝑡</m:t>
                          </m:r>
                        </m:sub>
                      </m:sSub>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𝑟</m:t>
                          </m:r>
                        </m:e>
                        <m:sub>
                          <m:r>
                            <a:rPr lang="ar-AE" sz="2400" i="1">
                              <a:latin typeface="Cambria Math" panose="02040503050406030204" pitchFamily="18" charset="0"/>
                            </a:rPr>
                            <m:t>𝑡</m:t>
                          </m:r>
                        </m:sub>
                      </m:sSub>
                      <m:r>
                        <a:rPr lang="ar-AE" sz="2400" i="0">
                          <a:latin typeface="Cambria Math" panose="02040503050406030204" pitchFamily="18" charset="0"/>
                        </a:rPr>
                        <m:t>+</m:t>
                      </m:r>
                      <m:r>
                        <a:rPr lang="ar-AE" sz="2400" i="1">
                          <a:latin typeface="Cambria Math" panose="02040503050406030204" pitchFamily="18" charset="0"/>
                        </a:rPr>
                        <m:t>𝛾</m:t>
                      </m:r>
                      <m:limLow>
                        <m:limLowPr>
                          <m:ctrlPr>
                            <a:rPr lang="ar-AE" sz="2400" i="1">
                              <a:latin typeface="Cambria Math" panose="02040503050406030204" pitchFamily="18" charset="0"/>
                            </a:rPr>
                          </m:ctrlPr>
                        </m:limLowPr>
                        <m:e>
                          <m:func>
                            <m:funcPr>
                              <m:ctrlPr>
                                <a:rPr lang="ar-AE" sz="2400" i="1">
                                  <a:latin typeface="Cambria Math" panose="02040503050406030204" pitchFamily="18" charset="0"/>
                                </a:rPr>
                              </m:ctrlPr>
                            </m:funcPr>
                            <m:fName>
                              <m:r>
                                <m:rPr>
                                  <m:sty m:val="p"/>
                                </m:rPr>
                                <a:rPr lang="en-IN" sz="2400" i="0">
                                  <a:latin typeface="Cambria Math" panose="02040503050406030204" pitchFamily="18" charset="0"/>
                                </a:rPr>
                                <m:t>max</m:t>
                              </m:r>
                            </m:fName>
                            <m:e/>
                          </m:func>
                        </m:e>
                        <m:lim>
                          <m:sSup>
                            <m:sSupPr>
                              <m:ctrlPr>
                                <a:rPr lang="ar-AE" sz="2400" i="1">
                                  <a:latin typeface="Cambria Math" panose="02040503050406030204" pitchFamily="18" charset="0"/>
                                </a:rPr>
                              </m:ctrlPr>
                            </m:sSupPr>
                            <m:e>
                              <m:r>
                                <a:rPr lang="ar-AE" sz="2400" i="1">
                                  <a:latin typeface="Cambria Math" panose="02040503050406030204" pitchFamily="18" charset="0"/>
                                </a:rPr>
                                <m:t>𝑎</m:t>
                              </m:r>
                            </m:e>
                            <m:sup>
                              <m:r>
                                <a:rPr lang="ar-AE" sz="2400" i="0">
                                  <a:latin typeface="Cambria Math" panose="02040503050406030204" pitchFamily="18" charset="0"/>
                                </a:rPr>
                                <m:t>′</m:t>
                              </m:r>
                            </m:sup>
                          </m:sSup>
                        </m:lim>
                      </m:limLow>
                      <m:sSub>
                        <m:sSubPr>
                          <m:ctrlPr>
                            <a:rPr lang="ar-AE" sz="2400" i="1">
                              <a:latin typeface="Cambria Math" panose="02040503050406030204" pitchFamily="18" charset="0"/>
                            </a:rPr>
                          </m:ctrlPr>
                        </m:sSubPr>
                        <m:e>
                          <m:r>
                            <a:rPr lang="ar-AE" sz="2400" i="1">
                              <a:latin typeface="Cambria Math" panose="02040503050406030204" pitchFamily="18" charset="0"/>
                            </a:rPr>
                            <m:t>𝑄</m:t>
                          </m:r>
                        </m:e>
                        <m:sub>
                          <m:sSup>
                            <m:sSupPr>
                              <m:ctrlPr>
                                <a:rPr lang="ar-AE" sz="2400" i="1">
                                  <a:latin typeface="Cambria Math" panose="02040503050406030204" pitchFamily="18" charset="0"/>
                                </a:rPr>
                              </m:ctrlPr>
                            </m:sSupPr>
                            <m:e>
                              <m:r>
                                <a:rPr lang="ar-AE" sz="2400" i="1">
                                  <a:latin typeface="Cambria Math" panose="02040503050406030204" pitchFamily="18" charset="0"/>
                                </a:rPr>
                                <m:t>𝜃</m:t>
                              </m:r>
                            </m:e>
                            <m:sup>
                              <m:r>
                                <a:rPr lang="ar-AE" sz="2400" i="0">
                                  <a:latin typeface="Cambria Math" panose="02040503050406030204" pitchFamily="18" charset="0"/>
                                </a:rPr>
                                <m:t>−</m:t>
                              </m:r>
                            </m:sup>
                          </m:sSup>
                        </m:sub>
                      </m:sSub>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r>
                                <a:rPr lang="ar-AE" sz="2400" i="0">
                                  <a:latin typeface="Cambria Math" panose="02040503050406030204" pitchFamily="18" charset="0"/>
                                </a:rPr>
                                <m:t>+</m:t>
                              </m:r>
                              <m:r>
                                <a:rPr lang="ar-AE" sz="2400" i="0">
                                  <a:latin typeface="Cambria Math" panose="02040503050406030204" pitchFamily="18" charset="0"/>
                                </a:rPr>
                                <m:t>1</m:t>
                              </m:r>
                            </m:sub>
                          </m:sSub>
                        </m:e>
                        <m:e>
                          <m:sSup>
                            <m:sSupPr>
                              <m:ctrlPr>
                                <a:rPr lang="ar-AE" sz="2400" i="1">
                                  <a:latin typeface="Cambria Math" panose="02040503050406030204" pitchFamily="18" charset="0"/>
                                </a:rPr>
                              </m:ctrlPr>
                            </m:sSupPr>
                            <m:e>
                              <m:r>
                                <a:rPr lang="ar-AE" sz="2400" i="1">
                                  <a:latin typeface="Cambria Math" panose="02040503050406030204" pitchFamily="18" charset="0"/>
                                </a:rPr>
                                <m:t>𝑎</m:t>
                              </m:r>
                            </m:e>
                            <m:sup>
                              <m:r>
                                <a:rPr lang="ar-AE" sz="2400" i="0">
                                  <a:latin typeface="Cambria Math" panose="02040503050406030204" pitchFamily="18" charset="0"/>
                                </a:rPr>
                                <m:t>′</m:t>
                              </m:r>
                            </m:sup>
                          </m:sSup>
                        </m:e>
                      </m:d>
                    </m:oMath>
                  </m:oMathPara>
                </a14:m>
                <a:endParaRPr lang="ar-AE" sz="2400"/>
              </a:p>
              <a:p>
                <a:pPr>
                  <a:buNone/>
                </a:pPr>
                <a:r>
                  <a:rPr lang="en-IN" sz="2400"/>
                  <a:t>and the loss is:</a:t>
                </a:r>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𝐿</m:t>
                      </m:r>
                      <m:d>
                        <m:dPr>
                          <m:ctrlPr>
                            <a:rPr lang="ar-AE" sz="2400" i="1">
                              <a:latin typeface="Cambria Math" panose="02040503050406030204" pitchFamily="18" charset="0"/>
                            </a:rPr>
                          </m:ctrlPr>
                        </m:dPr>
                        <m:e>
                          <m:r>
                            <a:rPr lang="ar-AE" sz="2400" i="1">
                              <a:latin typeface="Cambria Math" panose="02040503050406030204" pitchFamily="18" charset="0"/>
                            </a:rPr>
                            <m:t>𝜃</m:t>
                          </m:r>
                        </m:e>
                      </m:d>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𝑡</m:t>
                          </m:r>
                        </m:sub>
                      </m:sSub>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𝑄</m:t>
                          </m:r>
                        </m:e>
                        <m:sub>
                          <m:r>
                            <a:rPr lang="ar-AE" sz="2400" i="1">
                              <a:latin typeface="Cambria Math" panose="02040503050406030204" pitchFamily="18" charset="0"/>
                            </a:rPr>
                            <m:t>𝜃</m:t>
                          </m:r>
                        </m:sub>
                      </m:sSub>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𝑡</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𝑡</m:t>
                              </m:r>
                            </m:sub>
                          </m:sSub>
                        </m:e>
                      </m:d>
                      <m:sSup>
                        <m:sSupPr>
                          <m:ctrlPr>
                            <a:rPr lang="ar-AE" sz="2400" i="1">
                              <a:latin typeface="Cambria Math" panose="02040503050406030204" pitchFamily="18" charset="0"/>
                            </a:rPr>
                          </m:ctrlPr>
                        </m:sSupPr>
                        <m:e>
                          <m:r>
                            <a:rPr lang="ar-AE" sz="2400" i="0">
                              <a:latin typeface="Cambria Math" panose="02040503050406030204" pitchFamily="18" charset="0"/>
                            </a:rPr>
                            <m:t>]</m:t>
                          </m:r>
                        </m:e>
                        <m:sup>
                          <m:r>
                            <a:rPr lang="ar-AE" sz="2400" i="0">
                              <a:latin typeface="Cambria Math" panose="02040503050406030204" pitchFamily="18" charset="0"/>
                            </a:rPr>
                            <m:t>2</m:t>
                          </m:r>
                        </m:sup>
                      </m:sSup>
                    </m:oMath>
                  </m:oMathPara>
                </a14:m>
                <a:endParaRPr lang="ar-AE" sz="2400"/>
              </a:p>
            </p:txBody>
          </p:sp>
        </mc:Choice>
        <mc:Fallback xmlns="">
          <p:sp>
            <p:nvSpPr>
              <p:cNvPr id="5" name="TextBox 4">
                <a:extLst>
                  <a:ext uri="{FF2B5EF4-FFF2-40B4-BE49-F238E27FC236}">
                    <a16:creationId xmlns:a16="http://schemas.microsoft.com/office/drawing/2014/main" id="{1884E56D-2D78-4A40-13A3-9A498C545C14}"/>
                  </a:ext>
                </a:extLst>
              </p:cNvPr>
              <p:cNvSpPr txBox="1">
                <a:spLocks noRot="1" noChangeAspect="1" noMove="1" noResize="1" noEditPoints="1" noAdjustHandles="1" noChangeArrowheads="1" noChangeShapeType="1" noTextEdit="1"/>
              </p:cNvSpPr>
              <p:nvPr/>
            </p:nvSpPr>
            <p:spPr>
              <a:xfrm>
                <a:off x="731520" y="1741546"/>
                <a:ext cx="11219688" cy="3911968"/>
              </a:xfrm>
              <a:prstGeom prst="rect">
                <a:avLst/>
              </a:prstGeom>
              <a:blipFill>
                <a:blip r:embed="rId2"/>
                <a:stretch>
                  <a:fillRect l="-815" t="-1248" b="-1560"/>
                </a:stretch>
              </a:blipFill>
            </p:spPr>
            <p:txBody>
              <a:bodyPr/>
              <a:lstStyle/>
              <a:p>
                <a:r>
                  <a:rPr lang="en-US">
                    <a:noFill/>
                  </a:rPr>
                  <a:t> </a:t>
                </a:r>
              </a:p>
            </p:txBody>
          </p:sp>
        </mc:Fallback>
      </mc:AlternateContent>
    </p:spTree>
    <p:extLst>
      <p:ext uri="{BB962C8B-B14F-4D97-AF65-F5344CB8AC3E}">
        <p14:creationId xmlns:p14="http://schemas.microsoft.com/office/powerpoint/2010/main" val="3922193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3548-6163-F471-465A-BA5111F81481}"/>
              </a:ext>
            </a:extLst>
          </p:cNvPr>
          <p:cNvSpPr>
            <a:spLocks noGrp="1"/>
          </p:cNvSpPr>
          <p:nvPr>
            <p:ph type="title"/>
          </p:nvPr>
        </p:nvSpPr>
        <p:spPr/>
        <p:txBody>
          <a:bodyPr>
            <a:normAutofit fontScale="90000"/>
          </a:bodyPr>
          <a:lstStyle/>
          <a:p>
            <a:r>
              <a:rPr lang="en-IN"/>
              <a:t>Now what is different</a:t>
            </a:r>
          </a:p>
        </p:txBody>
      </p:sp>
      <p:sp>
        <p:nvSpPr>
          <p:cNvPr id="3" name="Content Placeholder 2">
            <a:extLst>
              <a:ext uri="{FF2B5EF4-FFF2-40B4-BE49-F238E27FC236}">
                <a16:creationId xmlns:a16="http://schemas.microsoft.com/office/drawing/2014/main" id="{9611240E-7F74-AC13-95E4-C35FA1DC716F}"/>
              </a:ext>
            </a:extLst>
          </p:cNvPr>
          <p:cNvSpPr>
            <a:spLocks noGrp="1"/>
          </p:cNvSpPr>
          <p:nvPr>
            <p:ph idx="1"/>
          </p:nvPr>
        </p:nvSpPr>
        <p:spPr/>
        <p:txBody>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0482C0A-1173-5D7F-E3BC-CFC949DDC1E3}"/>
                  </a:ext>
                </a:extLst>
              </p:cNvPr>
              <p:cNvSpPr txBox="1"/>
              <p:nvPr/>
            </p:nvSpPr>
            <p:spPr>
              <a:xfrm>
                <a:off x="838200" y="1334944"/>
                <a:ext cx="9697212" cy="4037837"/>
              </a:xfrm>
              <a:prstGeom prst="rect">
                <a:avLst/>
              </a:prstGeom>
              <a:noFill/>
            </p:spPr>
            <p:txBody>
              <a:bodyPr wrap="square">
                <a:spAutoFit/>
              </a:bodyPr>
              <a:lstStyle/>
              <a:p>
                <a:pPr>
                  <a:buFont typeface="Arial" panose="020B0604020202020204" pitchFamily="34" charset="0"/>
                  <a:buChar char="•"/>
                </a:pPr>
                <a:r>
                  <a:rPr lang="en-IN" sz="3200" b="1"/>
                  <a:t>Prediction:</a:t>
                </a:r>
                <a:r>
                  <a:rPr lang="en-IN" sz="3200"/>
                  <a:t> </a:t>
                </a:r>
                <a14:m>
                  <m:oMath xmlns:m="http://schemas.openxmlformats.org/officeDocument/2006/math">
                    <m:sSub>
                      <m:sSubPr>
                        <m:ctrlPr>
                          <a:rPr lang="ar-AE" sz="3200" i="1">
                            <a:latin typeface="Cambria Math" panose="02040503050406030204" pitchFamily="18" charset="0"/>
                          </a:rPr>
                        </m:ctrlPr>
                      </m:sSubPr>
                      <m:e>
                        <m:r>
                          <a:rPr lang="ar-AE" sz="3200" i="1">
                            <a:latin typeface="Cambria Math" panose="02040503050406030204" pitchFamily="18" charset="0"/>
                          </a:rPr>
                          <m:t>𝑄</m:t>
                        </m:r>
                      </m:e>
                      <m:sub>
                        <m:r>
                          <a:rPr lang="ar-AE" sz="3200" i="1">
                            <a:latin typeface="Cambria Math" panose="02040503050406030204" pitchFamily="18" charset="0"/>
                          </a:rPr>
                          <m:t>𝜃</m:t>
                        </m:r>
                      </m:sub>
                    </m:sSub>
                    <m:d>
                      <m:dPr>
                        <m:sepChr m:val=","/>
                        <m:ctrlPr>
                          <a:rPr lang="ar-AE" sz="3200" i="1">
                            <a:latin typeface="Cambria Math" panose="02040503050406030204" pitchFamily="18" charset="0"/>
                          </a:rPr>
                        </m:ctrlPr>
                      </m:dPr>
                      <m:e>
                        <m:sSub>
                          <m:sSubPr>
                            <m:ctrlPr>
                              <a:rPr lang="ar-AE" sz="3200" i="1">
                                <a:latin typeface="Cambria Math" panose="02040503050406030204" pitchFamily="18" charset="0"/>
                              </a:rPr>
                            </m:ctrlPr>
                          </m:sSubPr>
                          <m:e>
                            <m:r>
                              <a:rPr lang="ar-AE" sz="3200" i="1">
                                <a:latin typeface="Cambria Math" panose="02040503050406030204" pitchFamily="18" charset="0"/>
                              </a:rPr>
                              <m:t>𝑠</m:t>
                            </m:r>
                          </m:e>
                          <m:sub>
                            <m:r>
                              <a:rPr lang="ar-AE" sz="3200" i="1">
                                <a:latin typeface="Cambria Math" panose="02040503050406030204" pitchFamily="18" charset="0"/>
                              </a:rPr>
                              <m:t>𝑡</m:t>
                            </m:r>
                          </m:sub>
                        </m:sSub>
                      </m:e>
                      <m:e>
                        <m:sSub>
                          <m:sSubPr>
                            <m:ctrlPr>
                              <a:rPr lang="ar-AE" sz="3200" i="1">
                                <a:latin typeface="Cambria Math" panose="02040503050406030204" pitchFamily="18" charset="0"/>
                              </a:rPr>
                            </m:ctrlPr>
                          </m:sSubPr>
                          <m:e>
                            <m:r>
                              <a:rPr lang="ar-AE" sz="3200" i="1">
                                <a:latin typeface="Cambria Math" panose="02040503050406030204" pitchFamily="18" charset="0"/>
                              </a:rPr>
                              <m:t>𝑎</m:t>
                            </m:r>
                          </m:e>
                          <m:sub>
                            <m:r>
                              <a:rPr lang="ar-AE" sz="3200" i="1">
                                <a:latin typeface="Cambria Math" panose="02040503050406030204" pitchFamily="18" charset="0"/>
                              </a:rPr>
                              <m:t>𝑡</m:t>
                            </m:r>
                          </m:sub>
                        </m:sSub>
                      </m:e>
                    </m:d>
                  </m:oMath>
                </a14:m>
                <a:r>
                  <a:rPr lang="en-IN" sz="3200"/>
                  <a:t>uses the </a:t>
                </a:r>
                <a:r>
                  <a:rPr lang="en-IN" sz="3200" i="1"/>
                  <a:t>online (current)</a:t>
                </a:r>
                <a:r>
                  <a:rPr lang="en-IN" sz="3200"/>
                  <a:t> network.</a:t>
                </a:r>
              </a:p>
              <a:p>
                <a:pPr>
                  <a:buFont typeface="Arial" panose="020B0604020202020204" pitchFamily="34" charset="0"/>
                  <a:buChar char="•"/>
                </a:pPr>
                <a:r>
                  <a:rPr lang="en-IN" sz="3200" b="1"/>
                  <a:t>Target:</a:t>
                </a:r>
                <a:r>
                  <a:rPr lang="en-IN" sz="3200"/>
                  <a:t> </a:t>
                </a:r>
                <a14:m>
                  <m:oMath xmlns:m="http://schemas.openxmlformats.org/officeDocument/2006/math">
                    <m:sSub>
                      <m:sSubPr>
                        <m:ctrlPr>
                          <a:rPr lang="ar-AE" sz="3200" i="1">
                            <a:latin typeface="Cambria Math" panose="02040503050406030204" pitchFamily="18" charset="0"/>
                          </a:rPr>
                        </m:ctrlPr>
                      </m:sSubPr>
                      <m:e>
                        <m:r>
                          <a:rPr lang="ar-AE" sz="3200" i="1">
                            <a:latin typeface="Cambria Math" panose="02040503050406030204" pitchFamily="18" charset="0"/>
                          </a:rPr>
                          <m:t>𝑦</m:t>
                        </m:r>
                      </m:e>
                      <m:sub>
                        <m:r>
                          <a:rPr lang="ar-AE" sz="3200" i="1">
                            <a:latin typeface="Cambria Math" panose="02040503050406030204" pitchFamily="18" charset="0"/>
                          </a:rPr>
                          <m:t>𝑡</m:t>
                        </m:r>
                      </m:sub>
                    </m:sSub>
                    <m:r>
                      <a:rPr lang="ar-AE" sz="3200" i="0">
                        <a:latin typeface="Cambria Math" panose="02040503050406030204" pitchFamily="18" charset="0"/>
                      </a:rPr>
                      <m:t>=</m:t>
                    </m:r>
                    <m:r>
                      <a:rPr lang="ar-AE" sz="3200" i="1">
                        <a:latin typeface="Cambria Math" panose="02040503050406030204" pitchFamily="18" charset="0"/>
                      </a:rPr>
                      <m:t>𝑟</m:t>
                    </m:r>
                    <m:r>
                      <a:rPr lang="ar-AE" sz="3200" i="0">
                        <a:latin typeface="Cambria Math" panose="02040503050406030204" pitchFamily="18" charset="0"/>
                      </a:rPr>
                      <m:t>+</m:t>
                    </m:r>
                    <m:r>
                      <a:rPr lang="ar-AE" sz="3200" i="1">
                        <a:latin typeface="Cambria Math" panose="02040503050406030204" pitchFamily="18" charset="0"/>
                      </a:rPr>
                      <m:t>𝛾</m:t>
                    </m:r>
                    <m:sSub>
                      <m:sSubPr>
                        <m:ctrlPr>
                          <a:rPr lang="ar-AE" sz="3200" i="1">
                            <a:latin typeface="Cambria Math" panose="02040503050406030204" pitchFamily="18" charset="0"/>
                          </a:rPr>
                        </m:ctrlPr>
                      </m:sSubPr>
                      <m:e>
                        <m:func>
                          <m:funcPr>
                            <m:ctrlPr>
                              <a:rPr lang="ar-AE" sz="3200" i="1">
                                <a:latin typeface="Cambria Math" panose="02040503050406030204" pitchFamily="18" charset="0"/>
                              </a:rPr>
                            </m:ctrlPr>
                          </m:funcPr>
                          <m:fName>
                            <m:r>
                              <m:rPr>
                                <m:sty m:val="p"/>
                              </m:rPr>
                              <a:rPr lang="en-IN" sz="3200" i="0">
                                <a:latin typeface="Cambria Math" panose="02040503050406030204" pitchFamily="18" charset="0"/>
                              </a:rPr>
                              <m:t>max</m:t>
                            </m:r>
                          </m:fName>
                          <m:e/>
                        </m:func>
                      </m:e>
                      <m:sub>
                        <m:sSup>
                          <m:sSupPr>
                            <m:ctrlPr>
                              <a:rPr lang="ar-AE" sz="3200" i="1">
                                <a:latin typeface="Cambria Math" panose="02040503050406030204" pitchFamily="18" charset="0"/>
                              </a:rPr>
                            </m:ctrlPr>
                          </m:sSupPr>
                          <m:e>
                            <m:r>
                              <a:rPr lang="ar-AE" sz="3200" i="1">
                                <a:latin typeface="Cambria Math" panose="02040503050406030204" pitchFamily="18" charset="0"/>
                              </a:rPr>
                              <m:t>𝑎</m:t>
                            </m:r>
                          </m:e>
                          <m:sup>
                            <m:r>
                              <a:rPr lang="ar-AE" sz="3200" i="0">
                                <a:latin typeface="Cambria Math" panose="02040503050406030204" pitchFamily="18" charset="0"/>
                              </a:rPr>
                              <m:t>′</m:t>
                            </m:r>
                          </m:sup>
                        </m:sSup>
                      </m:sub>
                    </m:sSub>
                    <m:sSub>
                      <m:sSubPr>
                        <m:ctrlPr>
                          <a:rPr lang="ar-AE" sz="3200" i="1">
                            <a:latin typeface="Cambria Math" panose="02040503050406030204" pitchFamily="18" charset="0"/>
                          </a:rPr>
                        </m:ctrlPr>
                      </m:sSubPr>
                      <m:e>
                        <m:r>
                          <a:rPr lang="ar-AE" sz="3200" i="1">
                            <a:latin typeface="Cambria Math" panose="02040503050406030204" pitchFamily="18" charset="0"/>
                          </a:rPr>
                          <m:t>𝑄</m:t>
                        </m:r>
                      </m:e>
                      <m:sub>
                        <m:sSup>
                          <m:sSupPr>
                            <m:ctrlPr>
                              <a:rPr lang="ar-AE" sz="3200" i="1">
                                <a:latin typeface="Cambria Math" panose="02040503050406030204" pitchFamily="18" charset="0"/>
                              </a:rPr>
                            </m:ctrlPr>
                          </m:sSupPr>
                          <m:e>
                            <m:r>
                              <a:rPr lang="ar-AE" sz="3200" i="1">
                                <a:latin typeface="Cambria Math" panose="02040503050406030204" pitchFamily="18" charset="0"/>
                              </a:rPr>
                              <m:t>𝜃</m:t>
                            </m:r>
                          </m:e>
                          <m:sup>
                            <m:r>
                              <a:rPr lang="ar-AE" sz="3200" i="0">
                                <a:latin typeface="Cambria Math" panose="02040503050406030204" pitchFamily="18" charset="0"/>
                              </a:rPr>
                              <m:t>−</m:t>
                            </m:r>
                          </m:sup>
                        </m:sSup>
                      </m:sub>
                    </m:sSub>
                    <m:d>
                      <m:dPr>
                        <m:sepChr m:val=","/>
                        <m:ctrlPr>
                          <a:rPr lang="ar-AE" sz="3200" i="1">
                            <a:latin typeface="Cambria Math" panose="02040503050406030204" pitchFamily="18" charset="0"/>
                          </a:rPr>
                        </m:ctrlPr>
                      </m:dPr>
                      <m:e>
                        <m:sSup>
                          <m:sSupPr>
                            <m:ctrlPr>
                              <a:rPr lang="ar-AE" sz="3200" i="1">
                                <a:latin typeface="Cambria Math" panose="02040503050406030204" pitchFamily="18" charset="0"/>
                              </a:rPr>
                            </m:ctrlPr>
                          </m:sSupPr>
                          <m:e>
                            <m:r>
                              <a:rPr lang="ar-AE" sz="3200" i="1">
                                <a:latin typeface="Cambria Math" panose="02040503050406030204" pitchFamily="18" charset="0"/>
                              </a:rPr>
                              <m:t>𝑠</m:t>
                            </m:r>
                          </m:e>
                          <m:sup>
                            <m:r>
                              <a:rPr lang="ar-AE" sz="3200" i="0">
                                <a:latin typeface="Cambria Math" panose="02040503050406030204" pitchFamily="18" charset="0"/>
                              </a:rPr>
                              <m:t>′</m:t>
                            </m:r>
                          </m:sup>
                        </m:sSup>
                      </m:e>
                      <m:e>
                        <m:sSup>
                          <m:sSupPr>
                            <m:ctrlPr>
                              <a:rPr lang="ar-AE" sz="3200" i="1">
                                <a:latin typeface="Cambria Math" panose="02040503050406030204" pitchFamily="18" charset="0"/>
                              </a:rPr>
                            </m:ctrlPr>
                          </m:sSupPr>
                          <m:e>
                            <m:r>
                              <a:rPr lang="ar-AE" sz="3200" i="1">
                                <a:latin typeface="Cambria Math" panose="02040503050406030204" pitchFamily="18" charset="0"/>
                              </a:rPr>
                              <m:t>𝑎</m:t>
                            </m:r>
                          </m:e>
                          <m:sup>
                            <m:r>
                              <a:rPr lang="ar-AE" sz="3200" i="0">
                                <a:latin typeface="Cambria Math" panose="02040503050406030204" pitchFamily="18" charset="0"/>
                              </a:rPr>
                              <m:t>′</m:t>
                            </m:r>
                          </m:sup>
                        </m:sSup>
                      </m:e>
                    </m:d>
                  </m:oMath>
                </a14:m>
                <a:r>
                  <a:rPr lang="en-IN" sz="3200"/>
                  <a:t>uses a </a:t>
                </a:r>
                <a:r>
                  <a:rPr lang="en-IN" sz="3200" i="1"/>
                  <a:t>separate frozen</a:t>
                </a:r>
                <a:r>
                  <a:rPr lang="en-IN" sz="3200"/>
                  <a:t> target network.</a:t>
                </a:r>
              </a:p>
              <a:p>
                <a:pPr lvl="1"/>
                <a:r>
                  <a:rPr lang="en-IN" sz="3200"/>
                  <a:t>The target network’s parameters </a:t>
                </a:r>
                <a14:m>
                  <m:oMath xmlns:m="http://schemas.openxmlformats.org/officeDocument/2006/math">
                    <m:sSup>
                      <m:sSupPr>
                        <m:ctrlPr>
                          <a:rPr lang="ar-AE" sz="3200" i="1">
                            <a:latin typeface="Cambria Math" panose="02040503050406030204" pitchFamily="18" charset="0"/>
                          </a:rPr>
                        </m:ctrlPr>
                      </m:sSupPr>
                      <m:e>
                        <m:r>
                          <a:rPr lang="ar-AE" sz="3200" i="1">
                            <a:latin typeface="Cambria Math" panose="02040503050406030204" pitchFamily="18" charset="0"/>
                          </a:rPr>
                          <m:t>𝜃</m:t>
                        </m:r>
                      </m:e>
                      <m:sup>
                        <m:r>
                          <a:rPr lang="ar-AE" sz="3200" i="0">
                            <a:latin typeface="Cambria Math" panose="02040503050406030204" pitchFamily="18" charset="0"/>
                          </a:rPr>
                          <m:t>−</m:t>
                        </m:r>
                      </m:sup>
                    </m:sSup>
                  </m:oMath>
                </a14:m>
                <a:r>
                  <a:rPr lang="en-IN" sz="3200"/>
                  <a:t>are </a:t>
                </a:r>
                <a:r>
                  <a:rPr lang="en-IN" sz="3200" b="1"/>
                  <a:t>updated only occasionally</a:t>
                </a:r>
                <a:r>
                  <a:rPr lang="en-IN" sz="3200"/>
                  <a:t> from </a:t>
                </a:r>
                <a14:m>
                  <m:oMath xmlns:m="http://schemas.openxmlformats.org/officeDocument/2006/math">
                    <m:r>
                      <a:rPr lang="en-IN" sz="3200" i="1">
                        <a:latin typeface="Cambria Math" panose="02040503050406030204" pitchFamily="18" charset="0"/>
                      </a:rPr>
                      <m:t>𝜃</m:t>
                    </m:r>
                  </m:oMath>
                </a14:m>
                <a:r>
                  <a:rPr lang="en-IN" sz="3200"/>
                  <a:t>:</a:t>
                </a:r>
              </a:p>
              <a:p>
                <a:pPr lvl="1"/>
                <a14:m>
                  <m:oMathPara xmlns:m="http://schemas.openxmlformats.org/officeDocument/2006/math">
                    <m:oMathParaPr>
                      <m:jc m:val="centerGroup"/>
                    </m:oMathParaPr>
                    <m:oMath xmlns:m="http://schemas.openxmlformats.org/officeDocument/2006/math">
                      <m:sSup>
                        <m:sSupPr>
                          <m:ctrlPr>
                            <a:rPr lang="ar-AE" sz="3200" i="1">
                              <a:latin typeface="Cambria Math" panose="02040503050406030204" pitchFamily="18" charset="0"/>
                            </a:rPr>
                          </m:ctrlPr>
                        </m:sSupPr>
                        <m:e>
                          <m:r>
                            <a:rPr lang="ar-AE" sz="3200" i="1">
                              <a:latin typeface="Cambria Math" panose="02040503050406030204" pitchFamily="18" charset="0"/>
                            </a:rPr>
                            <m:t>𝜃</m:t>
                          </m:r>
                        </m:e>
                        <m:sup>
                          <m:r>
                            <a:rPr lang="ar-AE" sz="3200" i="0">
                              <a:latin typeface="Cambria Math" panose="02040503050406030204" pitchFamily="18" charset="0"/>
                            </a:rPr>
                            <m:t>−</m:t>
                          </m:r>
                        </m:sup>
                      </m:sSup>
                      <m:r>
                        <a:rPr lang="ar-AE" sz="3200" i="0">
                          <a:latin typeface="Cambria Math" panose="02040503050406030204" pitchFamily="18" charset="0"/>
                        </a:rPr>
                        <m:t>←</m:t>
                      </m:r>
                      <m:r>
                        <a:rPr lang="ar-AE" sz="3200" i="1">
                          <a:latin typeface="Cambria Math" panose="02040503050406030204" pitchFamily="18" charset="0"/>
                        </a:rPr>
                        <m:t>𝜃</m:t>
                      </m:r>
                      <m:r>
                        <a:rPr lang="ar-AE" sz="3200" i="0">
                          <a:latin typeface="Cambria Math" panose="02040503050406030204" pitchFamily="18" charset="0"/>
                        </a:rPr>
                        <m:t> </m:t>
                      </m:r>
                      <m:r>
                        <m:rPr>
                          <m:nor/>
                        </m:rPr>
                        <a:rPr lang="en-IN" sz="3200" b="0" i="1">
                          <a:latin typeface="Cambria Math" panose="02040503050406030204" pitchFamily="18" charset="0"/>
                        </a:rPr>
                        <m:t>every</m:t>
                      </m:r>
                      <m:r>
                        <m:rPr>
                          <m:nor/>
                        </m:rPr>
                        <a:rPr lang="en-IN" sz="3200" b="0" i="1">
                          <a:latin typeface="Cambria Math" panose="02040503050406030204" pitchFamily="18" charset="0"/>
                        </a:rPr>
                        <m:t> </m:t>
                      </m:r>
                      <m:r>
                        <m:rPr>
                          <m:nor/>
                        </m:rPr>
                        <a:rPr lang="en-IN" sz="3200" b="0" i="1">
                          <a:latin typeface="Cambria Math" panose="02040503050406030204" pitchFamily="18" charset="0"/>
                        </a:rPr>
                        <m:t>K</m:t>
                      </m:r>
                      <m:r>
                        <m:rPr>
                          <m:nor/>
                        </m:rPr>
                        <a:rPr lang="en-IN" sz="3200" b="0" i="1">
                          <a:latin typeface="Cambria Math" panose="02040503050406030204" pitchFamily="18" charset="0"/>
                        </a:rPr>
                        <m:t> </m:t>
                      </m:r>
                      <m:r>
                        <m:rPr>
                          <m:nor/>
                        </m:rPr>
                        <a:rPr lang="en-IN" sz="3200" b="0" i="1">
                          <a:latin typeface="Cambria Math" panose="02040503050406030204" pitchFamily="18" charset="0"/>
                        </a:rPr>
                        <m:t>steps</m:t>
                      </m:r>
                    </m:oMath>
                  </m:oMathPara>
                </a14:m>
                <a:endParaRPr lang="en-IN" sz="3200" b="0"/>
              </a:p>
              <a:p>
                <a:pPr lvl="1"/>
                <a:r>
                  <a:rPr lang="en-IN" sz="3200"/>
                  <a:t>or smoothly:</a:t>
                </a:r>
              </a:p>
              <a:p>
                <a:pPr lvl="1"/>
                <a14:m>
                  <m:oMathPara xmlns:m="http://schemas.openxmlformats.org/officeDocument/2006/math">
                    <m:oMathParaPr>
                      <m:jc m:val="centerGroup"/>
                    </m:oMathParaPr>
                    <m:oMath xmlns:m="http://schemas.openxmlformats.org/officeDocument/2006/math">
                      <m:sSup>
                        <m:sSupPr>
                          <m:ctrlPr>
                            <a:rPr lang="ar-AE" sz="3200" i="1">
                              <a:latin typeface="Cambria Math" panose="02040503050406030204" pitchFamily="18" charset="0"/>
                            </a:rPr>
                          </m:ctrlPr>
                        </m:sSupPr>
                        <m:e>
                          <m:r>
                            <a:rPr lang="ar-AE" sz="3200" i="1">
                              <a:latin typeface="Cambria Math" panose="02040503050406030204" pitchFamily="18" charset="0"/>
                            </a:rPr>
                            <m:t>𝜃</m:t>
                          </m:r>
                        </m:e>
                        <m:sup>
                          <m:r>
                            <a:rPr lang="ar-AE" sz="3200" i="0">
                              <a:latin typeface="Cambria Math" panose="02040503050406030204" pitchFamily="18" charset="0"/>
                            </a:rPr>
                            <m:t>−</m:t>
                          </m:r>
                        </m:sup>
                      </m:sSup>
                      <m:r>
                        <a:rPr lang="ar-AE" sz="3200" i="0">
                          <a:latin typeface="Cambria Math" panose="02040503050406030204" pitchFamily="18" charset="0"/>
                        </a:rPr>
                        <m:t>←</m:t>
                      </m:r>
                      <m:r>
                        <a:rPr lang="ar-AE" sz="3200" i="1">
                          <a:latin typeface="Cambria Math" panose="02040503050406030204" pitchFamily="18" charset="0"/>
                        </a:rPr>
                        <m:t>𝜏𝜃</m:t>
                      </m:r>
                      <m:r>
                        <a:rPr lang="ar-AE" sz="3200" i="0">
                          <a:latin typeface="Cambria Math" panose="02040503050406030204" pitchFamily="18" charset="0"/>
                        </a:rPr>
                        <m:t>+</m:t>
                      </m:r>
                      <m:d>
                        <m:dPr>
                          <m:ctrlPr>
                            <a:rPr lang="ar-AE" sz="3200" i="1">
                              <a:latin typeface="Cambria Math" panose="02040503050406030204" pitchFamily="18" charset="0"/>
                            </a:rPr>
                          </m:ctrlPr>
                        </m:dPr>
                        <m:e>
                          <m:r>
                            <a:rPr lang="ar-AE" sz="3200" i="0">
                              <a:latin typeface="Cambria Math" panose="02040503050406030204" pitchFamily="18" charset="0"/>
                            </a:rPr>
                            <m:t>1</m:t>
                          </m:r>
                          <m:r>
                            <a:rPr lang="ar-AE" sz="3200" i="0">
                              <a:latin typeface="Cambria Math" panose="02040503050406030204" pitchFamily="18" charset="0"/>
                            </a:rPr>
                            <m:t>−</m:t>
                          </m:r>
                          <m:r>
                            <a:rPr lang="ar-AE" sz="3200" i="1">
                              <a:latin typeface="Cambria Math" panose="02040503050406030204" pitchFamily="18" charset="0"/>
                            </a:rPr>
                            <m:t>𝜏</m:t>
                          </m:r>
                        </m:e>
                      </m:d>
                      <m:sSup>
                        <m:sSupPr>
                          <m:ctrlPr>
                            <a:rPr lang="ar-AE" sz="3200" i="1">
                              <a:latin typeface="Cambria Math" panose="02040503050406030204" pitchFamily="18" charset="0"/>
                            </a:rPr>
                          </m:ctrlPr>
                        </m:sSupPr>
                        <m:e>
                          <m:r>
                            <a:rPr lang="ar-AE" sz="3200" i="1">
                              <a:latin typeface="Cambria Math" panose="02040503050406030204" pitchFamily="18" charset="0"/>
                            </a:rPr>
                            <m:t>𝜃</m:t>
                          </m:r>
                        </m:e>
                        <m:sup>
                          <m:r>
                            <a:rPr lang="ar-AE" sz="3200" i="0">
                              <a:latin typeface="Cambria Math" panose="02040503050406030204" pitchFamily="18" charset="0"/>
                            </a:rPr>
                            <m:t>−</m:t>
                          </m:r>
                        </m:sup>
                      </m:sSup>
                    </m:oMath>
                  </m:oMathPara>
                </a14:m>
                <a:endParaRPr lang="ar-AE" sz="3200"/>
              </a:p>
            </p:txBody>
          </p:sp>
        </mc:Choice>
        <mc:Fallback xmlns="">
          <p:sp>
            <p:nvSpPr>
              <p:cNvPr id="5" name="TextBox 4">
                <a:extLst>
                  <a:ext uri="{FF2B5EF4-FFF2-40B4-BE49-F238E27FC236}">
                    <a16:creationId xmlns:a16="http://schemas.microsoft.com/office/drawing/2014/main" id="{50482C0A-1173-5D7F-E3BC-CFC949DDC1E3}"/>
                  </a:ext>
                </a:extLst>
              </p:cNvPr>
              <p:cNvSpPr txBox="1">
                <a:spLocks noRot="1" noChangeAspect="1" noMove="1" noResize="1" noEditPoints="1" noAdjustHandles="1" noChangeArrowheads="1" noChangeShapeType="1" noTextEdit="1"/>
              </p:cNvSpPr>
              <p:nvPr/>
            </p:nvSpPr>
            <p:spPr>
              <a:xfrm>
                <a:off x="838200" y="1334944"/>
                <a:ext cx="9697212" cy="4037837"/>
              </a:xfrm>
              <a:prstGeom prst="rect">
                <a:avLst/>
              </a:prstGeom>
              <a:blipFill>
                <a:blip r:embed="rId2"/>
                <a:stretch>
                  <a:fillRect l="-1635" t="-1813"/>
                </a:stretch>
              </a:blipFill>
            </p:spPr>
            <p:txBody>
              <a:bodyPr/>
              <a:lstStyle/>
              <a:p>
                <a:r>
                  <a:rPr lang="en-US">
                    <a:noFill/>
                  </a:rPr>
                  <a:t> </a:t>
                </a:r>
              </a:p>
            </p:txBody>
          </p:sp>
        </mc:Fallback>
      </mc:AlternateContent>
    </p:spTree>
    <p:extLst>
      <p:ext uri="{BB962C8B-B14F-4D97-AF65-F5344CB8AC3E}">
        <p14:creationId xmlns:p14="http://schemas.microsoft.com/office/powerpoint/2010/main" val="2870117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507B1-CC08-6C9A-33B1-73AAEAAA7B25}"/>
              </a:ext>
            </a:extLst>
          </p:cNvPr>
          <p:cNvSpPr>
            <a:spLocks noGrp="1"/>
          </p:cNvSpPr>
          <p:nvPr>
            <p:ph type="title"/>
          </p:nvPr>
        </p:nvSpPr>
        <p:spPr/>
        <p:txBody>
          <a:bodyPr>
            <a:normAutofit fontScale="90000"/>
          </a:bodyPr>
          <a:lstStyle/>
          <a:p>
            <a:r>
              <a:rPr lang="en-IN"/>
              <a:t>Project topics</a:t>
            </a:r>
          </a:p>
        </p:txBody>
      </p:sp>
      <p:sp>
        <p:nvSpPr>
          <p:cNvPr id="3" name="Content Placeholder 2">
            <a:extLst>
              <a:ext uri="{FF2B5EF4-FFF2-40B4-BE49-F238E27FC236}">
                <a16:creationId xmlns:a16="http://schemas.microsoft.com/office/drawing/2014/main" id="{C497958D-252F-EF18-F0E3-0EE7F287BE0F}"/>
              </a:ext>
            </a:extLst>
          </p:cNvPr>
          <p:cNvSpPr>
            <a:spLocks noGrp="1"/>
          </p:cNvSpPr>
          <p:nvPr>
            <p:ph idx="1"/>
          </p:nvPr>
        </p:nvSpPr>
        <p:spPr/>
        <p:txBody>
          <a:bodyPr>
            <a:normAutofit lnSpcReduction="10000"/>
          </a:bodyPr>
          <a:lstStyle/>
          <a:p>
            <a:r>
              <a:rPr lang="en-IN"/>
              <a:t>Implement RL for stock trading strategies.</a:t>
            </a:r>
          </a:p>
          <a:p>
            <a:r>
              <a:rPr lang="en-IN"/>
              <a:t>Develop RL models for portfolio optimization.</a:t>
            </a:r>
          </a:p>
          <a:p>
            <a:r>
              <a:rPr lang="en-IN"/>
              <a:t>RL applications in finance for decision-making and optimization</a:t>
            </a:r>
          </a:p>
          <a:p>
            <a:r>
              <a:rPr lang="en-IN"/>
              <a:t>Use RL for personalized treatment recommendations.</a:t>
            </a:r>
          </a:p>
          <a:p>
            <a:r>
              <a:rPr lang="en-IN"/>
              <a:t>Develop RL model for optimizing medication dosing.</a:t>
            </a:r>
          </a:p>
          <a:p>
            <a:r>
              <a:rPr lang="en-IN"/>
              <a:t>Develop RL-based adaptive tutoring systems.</a:t>
            </a:r>
          </a:p>
          <a:p>
            <a:r>
              <a:rPr lang="en-IN"/>
              <a:t>RL in education for personalized learning and intelligent assessment</a:t>
            </a:r>
          </a:p>
          <a:p>
            <a:r>
              <a:rPr lang="en-IN"/>
              <a:t>Medical Image segmentation using RL</a:t>
            </a:r>
          </a:p>
          <a:p>
            <a:r>
              <a:rPr lang="en-IN"/>
              <a:t>Medical image Classification using RL</a:t>
            </a:r>
          </a:p>
          <a:p>
            <a:r>
              <a:rPr lang="en-IN"/>
              <a:t>Bias Mitigation Strategies with RL</a:t>
            </a:r>
          </a:p>
          <a:p>
            <a:r>
              <a:rPr lang="en-IN"/>
              <a:t>Computer Games using RL, Snake Game etc</a:t>
            </a:r>
          </a:p>
          <a:p>
            <a:endParaRPr lang="en-IN"/>
          </a:p>
        </p:txBody>
      </p:sp>
    </p:spTree>
    <p:extLst>
      <p:ext uri="{BB962C8B-B14F-4D97-AF65-F5344CB8AC3E}">
        <p14:creationId xmlns:p14="http://schemas.microsoft.com/office/powerpoint/2010/main" val="3497458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76B828-CD4F-1970-E83A-678CE3BC1931}"/>
              </a:ext>
            </a:extLst>
          </p:cNvPr>
          <p:cNvSpPr>
            <a:spLocks noGrp="1"/>
          </p:cNvSpPr>
          <p:nvPr>
            <p:ph type="title"/>
          </p:nvPr>
        </p:nvSpPr>
        <p:spPr/>
        <p:txBody>
          <a:bodyPr/>
          <a:lstStyle/>
          <a:p>
            <a:r>
              <a:rPr lang="en-IN"/>
              <a:t>Deep RL Code</a:t>
            </a:r>
          </a:p>
        </p:txBody>
      </p:sp>
      <p:sp>
        <p:nvSpPr>
          <p:cNvPr id="5" name="Text Placeholder 4">
            <a:extLst>
              <a:ext uri="{FF2B5EF4-FFF2-40B4-BE49-F238E27FC236}">
                <a16:creationId xmlns:a16="http://schemas.microsoft.com/office/drawing/2014/main" id="{A2570927-DD60-C4D6-478E-A543FE2A895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426721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D757A7-9F2B-0C26-085C-A7766A215FD5}"/>
              </a:ext>
            </a:extLst>
          </p:cNvPr>
          <p:cNvSpPr>
            <a:spLocks noGrp="1"/>
          </p:cNvSpPr>
          <p:nvPr>
            <p:ph type="title"/>
          </p:nvPr>
        </p:nvSpPr>
        <p:spPr/>
        <p:txBody>
          <a:bodyPr>
            <a:normAutofit fontScale="90000"/>
          </a:bodyPr>
          <a:lstStyle/>
          <a:p>
            <a:r>
              <a:rPr lang="en-IN"/>
              <a:t>Lunar Landing Problem in Open AI Gym</a:t>
            </a:r>
          </a:p>
        </p:txBody>
      </p:sp>
      <p:sp>
        <p:nvSpPr>
          <p:cNvPr id="7" name="TextBox 6">
            <a:extLst>
              <a:ext uri="{FF2B5EF4-FFF2-40B4-BE49-F238E27FC236}">
                <a16:creationId xmlns:a16="http://schemas.microsoft.com/office/drawing/2014/main" id="{B44E421F-9E33-21B5-0ECA-37A7E0C8E41C}"/>
              </a:ext>
            </a:extLst>
          </p:cNvPr>
          <p:cNvSpPr txBox="1"/>
          <p:nvPr/>
        </p:nvSpPr>
        <p:spPr>
          <a:xfrm>
            <a:off x="838200" y="1168824"/>
            <a:ext cx="9969500" cy="4832092"/>
          </a:xfrm>
          <a:prstGeom prst="rect">
            <a:avLst/>
          </a:prstGeom>
          <a:noFill/>
        </p:spPr>
        <p:txBody>
          <a:bodyPr wrap="square">
            <a:spAutoFit/>
          </a:bodyPr>
          <a:lstStyle/>
          <a:p>
            <a:pPr algn="just">
              <a:buNone/>
            </a:pPr>
            <a:r>
              <a:rPr lang="en-US" sz="2800"/>
              <a:t>The goal is to train an </a:t>
            </a:r>
            <a:r>
              <a:rPr lang="en-US" sz="2800" b="1"/>
              <a:t>AI agent</a:t>
            </a:r>
            <a:r>
              <a:rPr lang="en-US" sz="2800"/>
              <a:t> to autonomously </a:t>
            </a:r>
            <a:r>
              <a:rPr lang="en-US" sz="2800" b="1"/>
              <a:t>land a lunar spacecraft safely and efficiently</a:t>
            </a:r>
            <a:r>
              <a:rPr lang="en-US" sz="2800"/>
              <a:t> on a designated landing pad in a 2D simulated environment. </a:t>
            </a:r>
          </a:p>
          <a:p>
            <a:pPr algn="just">
              <a:buNone/>
            </a:pPr>
            <a:endParaRPr lang="en-US" sz="2800"/>
          </a:p>
          <a:p>
            <a:pPr algn="just">
              <a:buNone/>
            </a:pPr>
            <a:r>
              <a:rPr lang="en-US" sz="2800"/>
              <a:t>The lander starts at a random position above the surface of the moon and must control its descent using discrete thrusters.</a:t>
            </a:r>
          </a:p>
          <a:p>
            <a:pPr algn="just">
              <a:buNone/>
            </a:pPr>
            <a:endParaRPr lang="en-US" sz="2800"/>
          </a:p>
          <a:p>
            <a:pPr algn="just">
              <a:buNone/>
            </a:pPr>
            <a:r>
              <a:rPr lang="en-US" sz="2800"/>
              <a:t>This is formulated as a </a:t>
            </a:r>
            <a:r>
              <a:rPr lang="en-US" sz="2800" b="1"/>
              <a:t>Reinforcement Learning (RL) problem</a:t>
            </a:r>
            <a:r>
              <a:rPr lang="en-US" sz="2800"/>
              <a:t> where the agent must learn to take appropriate actions based on sensor readings, with the objective of maximizing total long-term reward.</a:t>
            </a:r>
          </a:p>
        </p:txBody>
      </p:sp>
    </p:spTree>
    <p:extLst>
      <p:ext uri="{BB962C8B-B14F-4D97-AF65-F5344CB8AC3E}">
        <p14:creationId xmlns:p14="http://schemas.microsoft.com/office/powerpoint/2010/main" val="647706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019841-AC69-3227-57A9-0861A2369EBA}"/>
              </a:ext>
            </a:extLst>
          </p:cNvPr>
          <p:cNvSpPr txBox="1"/>
          <p:nvPr/>
        </p:nvSpPr>
        <p:spPr>
          <a:xfrm>
            <a:off x="1490134" y="623207"/>
            <a:ext cx="9254066" cy="2308324"/>
          </a:xfrm>
          <a:prstGeom prst="rect">
            <a:avLst/>
          </a:prstGeom>
          <a:noFill/>
        </p:spPr>
        <p:txBody>
          <a:bodyPr wrap="square">
            <a:spAutoFit/>
          </a:bodyPr>
          <a:lstStyle/>
          <a:p>
            <a:pPr>
              <a:buNone/>
            </a:pPr>
            <a:r>
              <a:rPr lang="en-US"/>
              <a:t>We want to train an </a:t>
            </a:r>
            <a:r>
              <a:rPr lang="en-US" b="1"/>
              <a:t>autonomous lunar lander agent</a:t>
            </a:r>
            <a:r>
              <a:rPr lang="en-US"/>
              <a:t> that can </a:t>
            </a:r>
            <a:r>
              <a:rPr lang="en-US" b="1"/>
              <a:t>safely land a spacecraft on the surface of the moon</a:t>
            </a:r>
            <a:r>
              <a:rPr lang="en-US"/>
              <a:t> using </a:t>
            </a:r>
            <a:r>
              <a:rPr lang="en-US" b="1"/>
              <a:t>Deep Q-Learning (DQN)</a:t>
            </a:r>
            <a:r>
              <a:rPr lang="en-US"/>
              <a:t>.</a:t>
            </a:r>
          </a:p>
          <a:p>
            <a:pPr>
              <a:buNone/>
            </a:pPr>
            <a:r>
              <a:rPr lang="en-US"/>
              <a:t>The agent must learn </a:t>
            </a:r>
            <a:r>
              <a:rPr lang="en-US" b="1"/>
              <a:t>how to control the spaceship</a:t>
            </a:r>
            <a:r>
              <a:rPr lang="en-US"/>
              <a:t> using only:</a:t>
            </a:r>
          </a:p>
          <a:p>
            <a:pPr lvl="1">
              <a:buFont typeface="Arial" panose="020B0604020202020204" pitchFamily="34" charset="0"/>
              <a:buChar char="•"/>
            </a:pPr>
            <a:r>
              <a:rPr lang="en-US"/>
              <a:t>Numeric sensor readings from the lander (state variables)</a:t>
            </a:r>
          </a:p>
          <a:p>
            <a:pPr lvl="1">
              <a:buFont typeface="Arial" panose="020B0604020202020204" pitchFamily="34" charset="0"/>
              <a:buChar char="•"/>
            </a:pPr>
            <a:r>
              <a:rPr lang="en-US"/>
              <a:t>A reward signal from the environment</a:t>
            </a:r>
          </a:p>
          <a:p>
            <a:pPr lvl="1">
              <a:buFont typeface="Arial" panose="020B0604020202020204" pitchFamily="34" charset="0"/>
              <a:buChar char="•"/>
            </a:pPr>
            <a:r>
              <a:rPr lang="en-US"/>
              <a:t>Trial-and-error experience stored in a replay buffer</a:t>
            </a:r>
          </a:p>
          <a:p>
            <a:pPr lvl="1"/>
            <a:r>
              <a:rPr lang="en-US"/>
              <a:t>It receives </a:t>
            </a:r>
            <a:r>
              <a:rPr lang="en-US" b="1"/>
              <a:t>no human demonstrations</a:t>
            </a:r>
            <a:r>
              <a:rPr lang="en-US"/>
              <a:t> and must learn the optimal landing strategy entirely through reinforcement learning.</a:t>
            </a:r>
          </a:p>
        </p:txBody>
      </p:sp>
      <p:sp>
        <p:nvSpPr>
          <p:cNvPr id="7" name="TextBox 6">
            <a:extLst>
              <a:ext uri="{FF2B5EF4-FFF2-40B4-BE49-F238E27FC236}">
                <a16:creationId xmlns:a16="http://schemas.microsoft.com/office/drawing/2014/main" id="{4486EC51-F05A-4539-FFDA-8F9A7DE1CD0A}"/>
              </a:ext>
            </a:extLst>
          </p:cNvPr>
          <p:cNvSpPr txBox="1"/>
          <p:nvPr/>
        </p:nvSpPr>
        <p:spPr>
          <a:xfrm>
            <a:off x="1490134" y="3561771"/>
            <a:ext cx="8415866" cy="2031325"/>
          </a:xfrm>
          <a:prstGeom prst="rect">
            <a:avLst/>
          </a:prstGeom>
          <a:noFill/>
        </p:spPr>
        <p:txBody>
          <a:bodyPr wrap="square">
            <a:spAutoFit/>
          </a:bodyPr>
          <a:lstStyle/>
          <a:p>
            <a:pPr>
              <a:buNone/>
            </a:pPr>
            <a:r>
              <a:rPr lang="en-US"/>
              <a:t>The environment simulates a lander descending onto a landing pad between two flags.</a:t>
            </a:r>
          </a:p>
          <a:p>
            <a:pPr>
              <a:buNone/>
            </a:pPr>
            <a:r>
              <a:rPr lang="en-US"/>
              <a:t>It provides:</a:t>
            </a:r>
          </a:p>
          <a:p>
            <a:pPr lvl="1">
              <a:buFont typeface="Arial" panose="020B0604020202020204" pitchFamily="34" charset="0"/>
              <a:buChar char="•"/>
            </a:pPr>
            <a:r>
              <a:rPr lang="en-US"/>
              <a:t>A state vector (observations)</a:t>
            </a:r>
          </a:p>
          <a:p>
            <a:pPr lvl="1">
              <a:buFont typeface="Arial" panose="020B0604020202020204" pitchFamily="34" charset="0"/>
              <a:buChar char="•"/>
            </a:pPr>
            <a:r>
              <a:rPr lang="en-US"/>
              <a:t>A discrete action space (4 actions)</a:t>
            </a:r>
          </a:p>
          <a:p>
            <a:pPr lvl="1">
              <a:buFont typeface="Arial" panose="020B0604020202020204" pitchFamily="34" charset="0"/>
              <a:buChar char="•"/>
            </a:pPr>
            <a:r>
              <a:rPr lang="en-US"/>
              <a:t>A reward signal</a:t>
            </a:r>
          </a:p>
          <a:p>
            <a:pPr lvl="1">
              <a:buFont typeface="Arial" panose="020B0604020202020204" pitchFamily="34" charset="0"/>
              <a:buChar char="•"/>
            </a:pPr>
            <a:r>
              <a:rPr lang="en-US"/>
              <a:t>Episode termination when the lander crashes or lands safely</a:t>
            </a:r>
          </a:p>
          <a:p>
            <a:pPr lvl="1"/>
            <a:r>
              <a:rPr lang="en-US"/>
              <a:t>The environment is from </a:t>
            </a:r>
            <a:r>
              <a:rPr lang="en-US" b="1"/>
              <a:t>OpenAI Gym / Gymnasium</a:t>
            </a:r>
            <a:r>
              <a:rPr lang="en-US"/>
              <a:t>.</a:t>
            </a:r>
          </a:p>
        </p:txBody>
      </p:sp>
      <p:sp>
        <p:nvSpPr>
          <p:cNvPr id="8" name="Title 7">
            <a:extLst>
              <a:ext uri="{FF2B5EF4-FFF2-40B4-BE49-F238E27FC236}">
                <a16:creationId xmlns:a16="http://schemas.microsoft.com/office/drawing/2014/main" id="{23BCCAD6-9859-D46F-90C2-22CF15C8656D}"/>
              </a:ext>
            </a:extLst>
          </p:cNvPr>
          <p:cNvSpPr>
            <a:spLocks noGrp="1"/>
          </p:cNvSpPr>
          <p:nvPr>
            <p:ph type="title"/>
          </p:nvPr>
        </p:nvSpPr>
        <p:spPr/>
        <p:txBody>
          <a:bodyPr>
            <a:normAutofit fontScale="90000"/>
          </a:bodyPr>
          <a:lstStyle/>
          <a:p>
            <a:r>
              <a:rPr lang="en-US" b="1"/>
              <a:t>Problem Statement (High-Level)</a:t>
            </a:r>
            <a:br>
              <a:rPr lang="en-US" b="1"/>
            </a:br>
            <a:endParaRPr lang="en-IN"/>
          </a:p>
        </p:txBody>
      </p:sp>
      <p:sp>
        <p:nvSpPr>
          <p:cNvPr id="11" name="TextBox 10">
            <a:extLst>
              <a:ext uri="{FF2B5EF4-FFF2-40B4-BE49-F238E27FC236}">
                <a16:creationId xmlns:a16="http://schemas.microsoft.com/office/drawing/2014/main" id="{D21B4AF1-17B2-36A8-C4F5-70A59470C5F3}"/>
              </a:ext>
            </a:extLst>
          </p:cNvPr>
          <p:cNvSpPr txBox="1"/>
          <p:nvPr/>
        </p:nvSpPr>
        <p:spPr>
          <a:xfrm>
            <a:off x="8192831" y="5108347"/>
            <a:ext cx="6112932" cy="646331"/>
          </a:xfrm>
          <a:prstGeom prst="rect">
            <a:avLst/>
          </a:prstGeom>
          <a:noFill/>
        </p:spPr>
        <p:txBody>
          <a:bodyPr wrap="square">
            <a:spAutoFit/>
          </a:bodyPr>
          <a:lstStyle/>
          <a:p>
            <a:r>
              <a:rPr lang="en-IN">
                <a:hlinkClick r:id="rId2"/>
              </a:rPr>
              <a:t>https://gymnasium.farama.org/</a:t>
            </a:r>
            <a:endParaRPr lang="en-IN"/>
          </a:p>
          <a:p>
            <a:endParaRPr lang="en-IN"/>
          </a:p>
        </p:txBody>
      </p:sp>
      <p:sp>
        <p:nvSpPr>
          <p:cNvPr id="13" name="TextBox 12">
            <a:extLst>
              <a:ext uri="{FF2B5EF4-FFF2-40B4-BE49-F238E27FC236}">
                <a16:creationId xmlns:a16="http://schemas.microsoft.com/office/drawing/2014/main" id="{749433E4-F134-BCC7-B9A4-FE80A216060D}"/>
              </a:ext>
            </a:extLst>
          </p:cNvPr>
          <p:cNvSpPr txBox="1"/>
          <p:nvPr/>
        </p:nvSpPr>
        <p:spPr>
          <a:xfrm>
            <a:off x="5273041" y="5754678"/>
            <a:ext cx="7062650" cy="646331"/>
          </a:xfrm>
          <a:prstGeom prst="rect">
            <a:avLst/>
          </a:prstGeom>
          <a:noFill/>
        </p:spPr>
        <p:txBody>
          <a:bodyPr wrap="square">
            <a:spAutoFit/>
          </a:bodyPr>
          <a:lstStyle/>
          <a:p>
            <a:r>
              <a:rPr lang="en-IN">
                <a:hlinkClick r:id="rId3"/>
              </a:rPr>
              <a:t>https://gymnasium.farama.org/environments/box2d/lunar_lander/</a:t>
            </a:r>
            <a:endParaRPr lang="en-IN"/>
          </a:p>
          <a:p>
            <a:endParaRPr lang="en-IN"/>
          </a:p>
        </p:txBody>
      </p:sp>
    </p:spTree>
    <p:extLst>
      <p:ext uri="{BB962C8B-B14F-4D97-AF65-F5344CB8AC3E}">
        <p14:creationId xmlns:p14="http://schemas.microsoft.com/office/powerpoint/2010/main" val="388817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0D21E-A85A-CFAB-B8F1-35555598977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533CEEF-B224-0D34-34D3-5C942540E0C1}"/>
              </a:ext>
            </a:extLst>
          </p:cNvPr>
          <p:cNvSpPr>
            <a:spLocks noGrp="1"/>
          </p:cNvSpPr>
          <p:nvPr>
            <p:ph idx="1"/>
          </p:nvPr>
        </p:nvSpPr>
        <p:spPr/>
        <p:txBody>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D7F87D7-D8E6-B28D-74A5-E3B0DF191654}"/>
                  </a:ext>
                </a:extLst>
              </p:cNvPr>
              <p:cNvSpPr txBox="1"/>
              <p:nvPr/>
            </p:nvSpPr>
            <p:spPr>
              <a:xfrm>
                <a:off x="1176867" y="457539"/>
                <a:ext cx="9999133" cy="5977662"/>
              </a:xfrm>
              <a:prstGeom prst="rect">
                <a:avLst/>
              </a:prstGeom>
              <a:noFill/>
            </p:spPr>
            <p:txBody>
              <a:bodyPr wrap="square">
                <a:spAutoFit/>
              </a:bodyPr>
              <a:lstStyle/>
              <a:p>
                <a:pPr>
                  <a:buNone/>
                </a:pPr>
                <a:r>
                  <a:rPr lang="en-IN" b="1"/>
                  <a:t>Key Reward Components</a:t>
                </a:r>
              </a:p>
              <a:p>
                <a:pPr lvl="1"/>
                <a:r>
                  <a:rPr lang="en-IN"/>
                  <a:t>✔ </a:t>
                </a:r>
                <a:r>
                  <a:rPr lang="en-IN" b="1"/>
                  <a:t>Shaping Reward</a:t>
                </a:r>
              </a:p>
              <a:p>
                <a:pPr lvl="1"/>
                <a:r>
                  <a:rPr lang="en-IN" b="1"/>
                  <a:t> </a:t>
                </a:r>
                <a:r>
                  <a:rPr lang="en-IN"/>
                  <a:t>Given every timestep to encourage good intermediate </a:t>
                </a:r>
                <a:r>
                  <a:rPr lang="en-IN" err="1"/>
                  <a:t>behavior</a:t>
                </a:r>
                <a:r>
                  <a:rPr lang="en-IN"/>
                  <a:t>:</a:t>
                </a:r>
              </a:p>
              <a:p>
                <a:pPr lvl="2">
                  <a:buFont typeface="Arial" panose="020B0604020202020204" pitchFamily="34" charset="0"/>
                  <a:buChar char="•"/>
                </a:pPr>
                <a:r>
                  <a:rPr lang="en-IN"/>
                  <a:t>Moves closer to landing pad → positive reward</a:t>
                </a:r>
              </a:p>
              <a:p>
                <a:pPr lvl="2">
                  <a:buFont typeface="Arial" panose="020B0604020202020204" pitchFamily="34" charset="0"/>
                  <a:buChar char="•"/>
                </a:pPr>
                <a:r>
                  <a:rPr lang="en-IN"/>
                  <a:t>Slows down velocity → positive reward</a:t>
                </a:r>
              </a:p>
              <a:p>
                <a:pPr lvl="2">
                  <a:buFont typeface="Arial" panose="020B0604020202020204" pitchFamily="34" charset="0"/>
                  <a:buChar char="•"/>
                </a:pPr>
                <a:r>
                  <a:rPr lang="en-IN"/>
                  <a:t>Maintains upright angle → positive reward</a:t>
                </a:r>
              </a:p>
              <a:p>
                <a:pPr lvl="2">
                  <a:buFont typeface="Arial" panose="020B0604020202020204" pitchFamily="34" charset="0"/>
                  <a:buChar char="•"/>
                </a:pPr>
                <a:r>
                  <a:rPr lang="en-IN"/>
                  <a:t>Moves away or tilts → negative reward</a:t>
                </a:r>
              </a:p>
              <a:p>
                <a:pPr lvl="1"/>
                <a:r>
                  <a:rPr lang="en-IN"/>
                  <a:t>✔ </a:t>
                </a:r>
                <a:r>
                  <a:rPr lang="en-IN" b="1"/>
                  <a:t>Leg Contact Reward</a:t>
                </a:r>
                <a:endParaRPr lang="en-IN"/>
              </a:p>
              <a:p>
                <a:pPr lvl="2">
                  <a:buFont typeface="Arial" panose="020B0604020202020204" pitchFamily="34" charset="0"/>
                  <a:buChar char="•"/>
                </a:pPr>
                <a:r>
                  <a:rPr lang="en-IN"/>
                  <a:t>+10 for left leg touching safely</a:t>
                </a:r>
              </a:p>
              <a:p>
                <a:pPr lvl="2">
                  <a:buFont typeface="Arial" panose="020B0604020202020204" pitchFamily="34" charset="0"/>
                  <a:buChar char="•"/>
                </a:pPr>
                <a:r>
                  <a:rPr lang="en-IN"/>
                  <a:t>+10 for right leg touching safely</a:t>
                </a:r>
              </a:p>
              <a:p>
                <a:pPr lvl="1"/>
                <a:r>
                  <a:rPr lang="en-IN"/>
                  <a:t>✔ </a:t>
                </a:r>
                <a:r>
                  <a:rPr lang="en-IN" b="1"/>
                  <a:t>Fuel Penalty</a:t>
                </a:r>
                <a:endParaRPr lang="en-IN"/>
              </a:p>
              <a:p>
                <a:pPr lvl="2">
                  <a:buFont typeface="Arial" panose="020B0604020202020204" pitchFamily="34" charset="0"/>
                  <a:buChar char="•"/>
                </a:pPr>
                <a:r>
                  <a:rPr lang="en-IN"/>
                  <a:t>-0.03 per engine fire</a:t>
                </a:r>
                <a:br>
                  <a:rPr lang="en-IN"/>
                </a:br>
                <a:r>
                  <a:rPr lang="en-IN"/>
                  <a:t>Discourages unnecessary fuel usage.</a:t>
                </a:r>
              </a:p>
              <a:p>
                <a:pPr lvl="1"/>
                <a:r>
                  <a:rPr lang="en-IN"/>
                  <a:t>✔ </a:t>
                </a:r>
                <a:r>
                  <a:rPr lang="en-IN" b="1"/>
                  <a:t>Successful Landing Reward</a:t>
                </a:r>
                <a:endParaRPr lang="en-IN"/>
              </a:p>
              <a:p>
                <a:pPr lvl="2">
                  <a:buFont typeface="Arial" panose="020B0604020202020204" pitchFamily="34" charset="0"/>
                  <a:buChar char="•"/>
                </a:pPr>
                <a:r>
                  <a:rPr lang="en-IN"/>
                  <a:t>+100 to +140 depending on how soft and </a:t>
                </a:r>
                <a:r>
                  <a:rPr lang="en-IN" err="1"/>
                  <a:t>centered</a:t>
                </a:r>
                <a:r>
                  <a:rPr lang="en-IN"/>
                  <a:t> the landing is</a:t>
                </a:r>
                <a:br>
                  <a:rPr lang="en-IN"/>
                </a:br>
                <a:r>
                  <a:rPr lang="en-IN"/>
                  <a:t>Greatly encourages good landing </a:t>
                </a:r>
                <a:r>
                  <a:rPr lang="en-IN" err="1"/>
                  <a:t>behavior</a:t>
                </a:r>
                <a:r>
                  <a:rPr lang="en-IN"/>
                  <a:t>.</a:t>
                </a:r>
              </a:p>
              <a:p>
                <a:pPr lvl="1"/>
                <a:r>
                  <a:rPr lang="en-IN"/>
                  <a:t>✔ </a:t>
                </a:r>
                <a:r>
                  <a:rPr lang="en-IN" b="1"/>
                  <a:t>Crash Penalty</a:t>
                </a:r>
                <a:endParaRPr lang="en-IN"/>
              </a:p>
              <a:p>
                <a:pPr lvl="2">
                  <a:buFont typeface="Arial" panose="020B0604020202020204" pitchFamily="34" charset="0"/>
                  <a:buChar char="•"/>
                </a:pPr>
                <a:r>
                  <a:rPr lang="en-IN"/>
                  <a:t>-100 for crashing</a:t>
                </a:r>
                <a:br>
                  <a:rPr lang="en-IN"/>
                </a:br>
                <a:r>
                  <a:rPr lang="en-IN"/>
                  <a:t>Makes catastrophic </a:t>
                </a:r>
                <a:r>
                  <a:rPr lang="en-IN" err="1"/>
                  <a:t>behavior</a:t>
                </a:r>
                <a:r>
                  <a:rPr lang="en-IN"/>
                  <a:t> highly undesirable.</a:t>
                </a:r>
              </a:p>
              <a:p>
                <a:pPr lvl="1"/>
                <a:r>
                  <a:rPr lang="en-IN" b="1"/>
                  <a:t>Total Reward</a:t>
                </a:r>
              </a:p>
              <a:p>
                <a:pPr lvl="1"/>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𝑟</m:t>
                          </m:r>
                        </m:e>
                        <m:sub>
                          <m:r>
                            <m:rPr>
                              <m:nor/>
                            </m:rPr>
                            <a:rPr lang="en-IN" b="0" i="1">
                              <a:latin typeface="Cambria Math" panose="02040503050406030204" pitchFamily="18" charset="0"/>
                            </a:rPr>
                            <m:t>shaping</m:t>
                          </m:r>
                        </m:sub>
                      </m:sSub>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𝑟</m:t>
                          </m:r>
                        </m:e>
                        <m:sub>
                          <m:r>
                            <m:rPr>
                              <m:nor/>
                            </m:rPr>
                            <a:rPr lang="en-IN" b="0" i="1">
                              <a:latin typeface="Cambria Math" panose="02040503050406030204" pitchFamily="18" charset="0"/>
                            </a:rPr>
                            <m:t>leg</m:t>
                          </m:r>
                          <m:r>
                            <m:rPr>
                              <m:nor/>
                            </m:rPr>
                            <a:rPr lang="en-IN" b="0" i="1">
                              <a:latin typeface="Cambria Math" panose="02040503050406030204" pitchFamily="18" charset="0"/>
                            </a:rPr>
                            <m:t> </m:t>
                          </m:r>
                          <m:r>
                            <m:rPr>
                              <m:nor/>
                            </m:rPr>
                            <a:rPr lang="en-IN" b="0" i="1">
                              <a:latin typeface="Cambria Math" panose="02040503050406030204" pitchFamily="18" charset="0"/>
                            </a:rPr>
                            <m:t>contact</m:t>
                          </m:r>
                        </m:sub>
                      </m:sSub>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𝑟</m:t>
                          </m:r>
                        </m:e>
                        <m:sub>
                          <m:r>
                            <m:rPr>
                              <m:nor/>
                            </m:rPr>
                            <a:rPr lang="en-IN" b="0" i="1">
                              <a:latin typeface="Cambria Math" panose="02040503050406030204" pitchFamily="18" charset="0"/>
                            </a:rPr>
                            <m:t>fuel</m:t>
                          </m:r>
                          <m:r>
                            <m:rPr>
                              <m:nor/>
                            </m:rPr>
                            <a:rPr lang="en-IN" b="0" i="1">
                              <a:latin typeface="Cambria Math" panose="02040503050406030204" pitchFamily="18" charset="0"/>
                            </a:rPr>
                            <m:t> </m:t>
                          </m:r>
                          <m:r>
                            <m:rPr>
                              <m:nor/>
                            </m:rPr>
                            <a:rPr lang="en-IN" b="0" i="1">
                              <a:latin typeface="Cambria Math" panose="02040503050406030204" pitchFamily="18" charset="0"/>
                            </a:rPr>
                            <m:t>cost</m:t>
                          </m:r>
                        </m:sub>
                      </m:sSub>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𝑟</m:t>
                          </m:r>
                        </m:e>
                        <m:sub>
                          <m:r>
                            <m:rPr>
                              <m:nor/>
                            </m:rPr>
                            <a:rPr lang="en-IN" b="0" i="1">
                              <a:latin typeface="Cambria Math" panose="02040503050406030204" pitchFamily="18" charset="0"/>
                            </a:rPr>
                            <m:t>terminal</m:t>
                          </m:r>
                        </m:sub>
                      </m:sSub>
                    </m:oMath>
                  </m:oMathPara>
                </a14:m>
                <a:endParaRPr lang="ar-AE" b="0"/>
              </a:p>
            </p:txBody>
          </p:sp>
        </mc:Choice>
        <mc:Fallback xmlns="">
          <p:sp>
            <p:nvSpPr>
              <p:cNvPr id="5" name="TextBox 4">
                <a:extLst>
                  <a:ext uri="{FF2B5EF4-FFF2-40B4-BE49-F238E27FC236}">
                    <a16:creationId xmlns:a16="http://schemas.microsoft.com/office/drawing/2014/main" id="{AD7F87D7-D8E6-B28D-74A5-E3B0DF191654}"/>
                  </a:ext>
                </a:extLst>
              </p:cNvPr>
              <p:cNvSpPr txBox="1">
                <a:spLocks noRot="1" noChangeAspect="1" noMove="1" noResize="1" noEditPoints="1" noAdjustHandles="1" noChangeArrowheads="1" noChangeShapeType="1" noTextEdit="1"/>
              </p:cNvSpPr>
              <p:nvPr/>
            </p:nvSpPr>
            <p:spPr>
              <a:xfrm>
                <a:off x="1176867" y="457539"/>
                <a:ext cx="9999133" cy="5977662"/>
              </a:xfrm>
              <a:prstGeom prst="rect">
                <a:avLst/>
              </a:prstGeom>
              <a:blipFill>
                <a:blip r:embed="rId2"/>
                <a:stretch>
                  <a:fillRect l="-488" t="-510" b="-10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32E655F-DECE-2019-32CA-1E00F6056E52}"/>
              </a:ext>
            </a:extLst>
          </p:cNvPr>
          <p:cNvSpPr txBox="1"/>
          <p:nvPr/>
        </p:nvSpPr>
        <p:spPr>
          <a:xfrm>
            <a:off x="6722534" y="154859"/>
            <a:ext cx="6112932" cy="646331"/>
          </a:xfrm>
          <a:prstGeom prst="rect">
            <a:avLst/>
          </a:prstGeom>
          <a:noFill/>
        </p:spPr>
        <p:txBody>
          <a:bodyPr wrap="square">
            <a:spAutoFit/>
          </a:bodyPr>
          <a:lstStyle/>
          <a:p>
            <a:pPr lvl="1"/>
            <a:r>
              <a:rPr lang="en-IN"/>
              <a:t>The agent’s objective is to </a:t>
            </a:r>
            <a:r>
              <a:rPr lang="en-IN" b="1"/>
              <a:t>maximize cumulative discounted reward</a:t>
            </a:r>
            <a:r>
              <a:rPr lang="en-IN"/>
              <a:t>.</a:t>
            </a:r>
          </a:p>
        </p:txBody>
      </p:sp>
    </p:spTree>
    <p:extLst>
      <p:ext uri="{BB962C8B-B14F-4D97-AF65-F5344CB8AC3E}">
        <p14:creationId xmlns:p14="http://schemas.microsoft.com/office/powerpoint/2010/main" val="3094546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C1829-2488-01C4-9932-8811EC1FB36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DF0A009-602A-14D1-8F28-88ADB592F3FE}"/>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3B987EE3-43B7-55C5-8D02-1A151D43F287}"/>
              </a:ext>
            </a:extLst>
          </p:cNvPr>
          <p:cNvSpPr txBox="1"/>
          <p:nvPr/>
        </p:nvSpPr>
        <p:spPr>
          <a:xfrm>
            <a:off x="0" y="801190"/>
            <a:ext cx="6248400" cy="5355312"/>
          </a:xfrm>
          <a:prstGeom prst="rect">
            <a:avLst/>
          </a:prstGeom>
          <a:noFill/>
        </p:spPr>
        <p:txBody>
          <a:bodyPr wrap="square">
            <a:spAutoFit/>
          </a:bodyPr>
          <a:lstStyle/>
          <a:p>
            <a:pPr marL="285750" indent="-285750">
              <a:buFont typeface="Arial" panose="020B0604020202020204" pitchFamily="34" charset="0"/>
              <a:buChar char="•"/>
            </a:pPr>
            <a:r>
              <a:rPr lang="en-IN" b="1"/>
              <a:t>Problem:</a:t>
            </a:r>
            <a:r>
              <a:rPr lang="en-IN"/>
              <a:t> Train an AI agent to autonomously land a spacecraft using RL.</a:t>
            </a:r>
          </a:p>
          <a:p>
            <a:pPr marL="285750" indent="-285750">
              <a:buFont typeface="Arial" panose="020B0604020202020204" pitchFamily="34" charset="0"/>
              <a:buChar char="•"/>
            </a:pPr>
            <a:r>
              <a:rPr lang="en-IN" b="1"/>
              <a:t> </a:t>
            </a:r>
            <a:r>
              <a:rPr lang="en-IN" b="1" err="1"/>
              <a:t>Input</a:t>
            </a:r>
            <a:r>
              <a:rPr lang="en-IN" err="1"/>
              <a:t>:</a:t>
            </a:r>
            <a:r>
              <a:rPr lang="en-IN" b="1" err="1"/>
              <a:t>States</a:t>
            </a:r>
            <a:r>
              <a:rPr lang="en-IN"/>
              <a:t> 8-dimensional continuous state vector. </a:t>
            </a:r>
          </a:p>
          <a:p>
            <a:pPr marL="742950" lvl="1" indent="-285750">
              <a:buFont typeface="Arial" panose="020B0604020202020204" pitchFamily="34" charset="0"/>
              <a:buChar char="•"/>
            </a:pPr>
            <a:r>
              <a:rPr lang="en-IN"/>
              <a:t>x	Horizontal position</a:t>
            </a:r>
          </a:p>
          <a:p>
            <a:pPr marL="742950" lvl="1" indent="-285750">
              <a:buFont typeface="Arial" panose="020B0604020202020204" pitchFamily="34" charset="0"/>
              <a:buChar char="•"/>
            </a:pPr>
            <a:r>
              <a:rPr lang="en-IN"/>
              <a:t>y	Vertical position</a:t>
            </a:r>
          </a:p>
          <a:p>
            <a:pPr marL="742950" lvl="1" indent="-285750">
              <a:buFont typeface="Arial" panose="020B0604020202020204" pitchFamily="34" charset="0"/>
              <a:buChar char="•"/>
            </a:pPr>
            <a:r>
              <a:rPr lang="en-IN" err="1"/>
              <a:t>vx</a:t>
            </a:r>
            <a:r>
              <a:rPr lang="en-IN"/>
              <a:t>	Horizontal velocity</a:t>
            </a:r>
          </a:p>
          <a:p>
            <a:pPr marL="742950" lvl="1" indent="-285750">
              <a:buFont typeface="Arial" panose="020B0604020202020204" pitchFamily="34" charset="0"/>
              <a:buChar char="•"/>
            </a:pPr>
            <a:r>
              <a:rPr lang="en-IN" err="1"/>
              <a:t>vy</a:t>
            </a:r>
            <a:r>
              <a:rPr lang="en-IN"/>
              <a:t>	Vertical velocity</a:t>
            </a:r>
          </a:p>
          <a:p>
            <a:pPr marL="742950" lvl="1" indent="-285750">
              <a:buFont typeface="Arial" panose="020B0604020202020204" pitchFamily="34" charset="0"/>
              <a:buChar char="•"/>
            </a:pPr>
            <a:r>
              <a:rPr lang="en-IN"/>
              <a:t>angle	Tilt of the lander</a:t>
            </a:r>
          </a:p>
          <a:p>
            <a:pPr marL="742950" lvl="1" indent="-285750">
              <a:buFont typeface="Arial" panose="020B0604020202020204" pitchFamily="34" charset="0"/>
              <a:buChar char="•"/>
            </a:pPr>
            <a:r>
              <a:rPr lang="en-IN" err="1"/>
              <a:t>angular_velocity</a:t>
            </a:r>
            <a:r>
              <a:rPr lang="en-IN"/>
              <a:t>	Tilt rate</a:t>
            </a:r>
          </a:p>
          <a:p>
            <a:pPr marL="742950" lvl="1" indent="-285750">
              <a:buFont typeface="Arial" panose="020B0604020202020204" pitchFamily="34" charset="0"/>
              <a:buChar char="•"/>
            </a:pPr>
            <a:r>
              <a:rPr lang="en-IN" err="1"/>
              <a:t>left_leg_contact</a:t>
            </a:r>
            <a:r>
              <a:rPr lang="en-IN"/>
              <a:t>	1 if left leg touches ground, else 0</a:t>
            </a:r>
          </a:p>
          <a:p>
            <a:pPr marL="742950" lvl="1" indent="-285750">
              <a:buFont typeface="Arial" panose="020B0604020202020204" pitchFamily="34" charset="0"/>
              <a:buChar char="•"/>
            </a:pPr>
            <a:r>
              <a:rPr lang="en-IN" err="1"/>
              <a:t>right_leg_contact</a:t>
            </a:r>
            <a:r>
              <a:rPr lang="en-IN"/>
              <a:t>	1 if right leg touches ground, else 0</a:t>
            </a:r>
          </a:p>
          <a:p>
            <a:pPr marL="742950" lvl="1" indent="-285750">
              <a:buFont typeface="Arial" panose="020B0604020202020204" pitchFamily="34" charset="0"/>
              <a:buChar char="•"/>
            </a:pPr>
            <a:endParaRPr lang="en-IN"/>
          </a:p>
          <a:p>
            <a:pPr marL="285750" indent="-285750">
              <a:buFont typeface="Arial" panose="020B0604020202020204" pitchFamily="34" charset="0"/>
              <a:buChar char="•"/>
            </a:pPr>
            <a:r>
              <a:rPr lang="en-IN" b="1" err="1"/>
              <a:t>Output</a:t>
            </a:r>
            <a:r>
              <a:rPr lang="en-IN" err="1"/>
              <a:t>:</a:t>
            </a:r>
            <a:r>
              <a:rPr lang="en-IN" b="1" err="1"/>
              <a:t>Actions</a:t>
            </a:r>
            <a:r>
              <a:rPr lang="en-IN"/>
              <a:t>: One of 4 discrete actions (fire engines). </a:t>
            </a:r>
          </a:p>
          <a:p>
            <a:pPr marL="742950" lvl="1" indent="-285750">
              <a:buFont typeface="Arial" panose="020B0604020202020204" pitchFamily="34" charset="0"/>
              <a:buChar char="•"/>
            </a:pPr>
            <a:r>
              <a:rPr lang="en-US"/>
              <a:t>0	Do nothing</a:t>
            </a:r>
          </a:p>
          <a:p>
            <a:pPr marL="742950" lvl="1" indent="-285750">
              <a:buFont typeface="Arial" panose="020B0604020202020204" pitchFamily="34" charset="0"/>
              <a:buChar char="•"/>
            </a:pPr>
            <a:r>
              <a:rPr lang="en-US"/>
              <a:t>1	Fire left orientation engine (push right)</a:t>
            </a:r>
          </a:p>
          <a:p>
            <a:pPr marL="742950" lvl="1" indent="-285750">
              <a:buFont typeface="Arial" panose="020B0604020202020204" pitchFamily="34" charset="0"/>
              <a:buChar char="•"/>
            </a:pPr>
            <a:r>
              <a:rPr lang="en-US"/>
              <a:t>2	Fire main engine (push upward)</a:t>
            </a:r>
          </a:p>
          <a:p>
            <a:pPr marL="742950" lvl="1" indent="-285750">
              <a:buFont typeface="Arial" panose="020B0604020202020204" pitchFamily="34" charset="0"/>
              <a:buChar char="•"/>
            </a:pPr>
            <a:r>
              <a:rPr lang="en-US"/>
              <a:t>3	Fire right orientation engine (push left)</a:t>
            </a:r>
          </a:p>
          <a:p>
            <a:pPr marL="285750" indent="-285750">
              <a:buFont typeface="Arial" panose="020B0604020202020204" pitchFamily="34" charset="0"/>
              <a:buChar char="•"/>
            </a:pPr>
            <a:endParaRPr lang="en-IN"/>
          </a:p>
          <a:p>
            <a:pPr marL="285750" indent="-285750">
              <a:buFont typeface="Arial" panose="020B0604020202020204" pitchFamily="34" charset="0"/>
              <a:buChar char="•"/>
            </a:pPr>
            <a:endParaRPr lang="en-IN"/>
          </a:p>
        </p:txBody>
      </p:sp>
      <p:sp>
        <p:nvSpPr>
          <p:cNvPr id="11" name="TextBox 10">
            <a:extLst>
              <a:ext uri="{FF2B5EF4-FFF2-40B4-BE49-F238E27FC236}">
                <a16:creationId xmlns:a16="http://schemas.microsoft.com/office/drawing/2014/main" id="{F3995D49-30B5-61C9-0B1B-8D6C14F87563}"/>
              </a:ext>
            </a:extLst>
          </p:cNvPr>
          <p:cNvSpPr txBox="1"/>
          <p:nvPr/>
        </p:nvSpPr>
        <p:spPr>
          <a:xfrm>
            <a:off x="6358466" y="1676737"/>
            <a:ext cx="5482165" cy="2585323"/>
          </a:xfrm>
          <a:prstGeom prst="rect">
            <a:avLst/>
          </a:prstGeom>
          <a:noFill/>
        </p:spPr>
        <p:txBody>
          <a:bodyPr wrap="square">
            <a:spAutoFit/>
          </a:bodyPr>
          <a:lstStyle/>
          <a:p>
            <a:pPr marL="285750" indent="-285750">
              <a:buFont typeface="Arial" panose="020B0604020202020204" pitchFamily="34" charset="0"/>
              <a:buChar char="•"/>
            </a:pPr>
            <a:r>
              <a:rPr lang="en-IN" b="1"/>
              <a:t>Method</a:t>
            </a:r>
            <a:r>
              <a:rPr lang="en-IN"/>
              <a:t>: Deep Q-Network (DQN) with replay buffer + target network.</a:t>
            </a:r>
          </a:p>
          <a:p>
            <a:endParaRPr lang="en-IN"/>
          </a:p>
          <a:p>
            <a:pPr marL="285750" indent="-285750">
              <a:buFont typeface="Arial" panose="020B0604020202020204" pitchFamily="34" charset="0"/>
              <a:buChar char="•"/>
            </a:pPr>
            <a:r>
              <a:rPr lang="en-IN"/>
              <a:t> </a:t>
            </a:r>
            <a:r>
              <a:rPr lang="en-IN" b="1"/>
              <a:t>Learning Objective: </a:t>
            </a:r>
            <a:r>
              <a:rPr lang="en-IN"/>
              <a:t>Maximize total expected reward → perform safe, fuel-efficient landings. </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b="1"/>
              <a:t>Environment:</a:t>
            </a:r>
            <a:r>
              <a:rPr lang="en-IN"/>
              <a:t> OpenAI Gym – LunarLander-v2. </a:t>
            </a:r>
            <a:r>
              <a:rPr lang="en-IN" b="1"/>
              <a:t>Outcome:  A model </a:t>
            </a:r>
            <a:r>
              <a:rPr lang="en-IN"/>
              <a:t>(neural network) that maps state → best action for stable landing.</a:t>
            </a:r>
          </a:p>
        </p:txBody>
      </p:sp>
    </p:spTree>
    <p:extLst>
      <p:ext uri="{BB962C8B-B14F-4D97-AF65-F5344CB8AC3E}">
        <p14:creationId xmlns:p14="http://schemas.microsoft.com/office/powerpoint/2010/main" val="28593624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B9159C-E75C-2071-9B3A-59751C4BC5FB}"/>
              </a:ext>
            </a:extLst>
          </p:cNvPr>
          <p:cNvSpPr>
            <a:spLocks noGrp="1"/>
          </p:cNvSpPr>
          <p:nvPr>
            <p:ph type="ctrTitle"/>
          </p:nvPr>
        </p:nvSpPr>
        <p:spPr/>
        <p:txBody>
          <a:bodyPr/>
          <a:lstStyle/>
          <a:p>
            <a:r>
              <a:rPr lang="en-IN"/>
              <a:t>Lets get to DQN code</a:t>
            </a:r>
          </a:p>
        </p:txBody>
      </p:sp>
      <p:sp>
        <p:nvSpPr>
          <p:cNvPr id="5" name="Subtitle 4">
            <a:extLst>
              <a:ext uri="{FF2B5EF4-FFF2-40B4-BE49-F238E27FC236}">
                <a16:creationId xmlns:a16="http://schemas.microsoft.com/office/drawing/2014/main" id="{634D2AEC-4945-2775-E465-41024939A18D}"/>
              </a:ext>
            </a:extLst>
          </p:cNvPr>
          <p:cNvSpPr>
            <a:spLocks noGrp="1"/>
          </p:cNvSpPr>
          <p:nvPr>
            <p:ph type="subTitle" idx="1"/>
          </p:nvPr>
        </p:nvSpPr>
        <p:spPr/>
        <p:txBody>
          <a:bodyPr/>
          <a:lstStyle/>
          <a:p>
            <a:r>
              <a:rPr lang="en-IN"/>
              <a:t>Pls note OpenAI gym env takes care of states, actions rewards. To see the code of that refer to </a:t>
            </a:r>
          </a:p>
          <a:p>
            <a:r>
              <a:rPr lang="en-IN">
                <a:hlinkClick r:id="rId2"/>
              </a:rPr>
              <a:t>https://gymnasium.farama.org/environments/box2d/lunar_lander/</a:t>
            </a:r>
            <a:endParaRPr lang="en-IN"/>
          </a:p>
          <a:p>
            <a:endParaRPr lang="en-IN"/>
          </a:p>
        </p:txBody>
      </p:sp>
    </p:spTree>
    <p:extLst>
      <p:ext uri="{BB962C8B-B14F-4D97-AF65-F5344CB8AC3E}">
        <p14:creationId xmlns:p14="http://schemas.microsoft.com/office/powerpoint/2010/main" val="27655236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A3A4CA-55B1-BE72-08EC-D97496979F9F}"/>
              </a:ext>
            </a:extLst>
          </p:cNvPr>
          <p:cNvSpPr>
            <a:spLocks noGrp="1"/>
          </p:cNvSpPr>
          <p:nvPr>
            <p:ph type="title"/>
          </p:nvPr>
        </p:nvSpPr>
        <p:spPr/>
        <p:txBody>
          <a:bodyPr>
            <a:normAutofit fontScale="90000"/>
          </a:bodyPr>
          <a:lstStyle/>
          <a:p>
            <a:endParaRPr lang="en-IN"/>
          </a:p>
        </p:txBody>
      </p:sp>
      <p:sp>
        <p:nvSpPr>
          <p:cNvPr id="7" name="TextBox 6">
            <a:extLst>
              <a:ext uri="{FF2B5EF4-FFF2-40B4-BE49-F238E27FC236}">
                <a16:creationId xmlns:a16="http://schemas.microsoft.com/office/drawing/2014/main" id="{046738C0-5BAE-3A91-FD9E-517BF090D247}"/>
              </a:ext>
            </a:extLst>
          </p:cNvPr>
          <p:cNvSpPr txBox="1"/>
          <p:nvPr/>
        </p:nvSpPr>
        <p:spPr>
          <a:xfrm>
            <a:off x="2810934" y="1121601"/>
            <a:ext cx="6112932" cy="923330"/>
          </a:xfrm>
          <a:prstGeom prst="rect">
            <a:avLst/>
          </a:prstGeom>
          <a:noFill/>
        </p:spPr>
        <p:txBody>
          <a:bodyPr wrap="square">
            <a:spAutoFit/>
          </a:bodyPr>
          <a:lstStyle/>
          <a:p>
            <a:r>
              <a:rPr lang="en-US" b="0" i="0">
                <a:solidFill>
                  <a:srgbClr val="2A2A2A"/>
                </a:solidFill>
                <a:effectLst/>
                <a:latin typeface="Work Sans" pitchFamily="2" charset="0"/>
              </a:rPr>
              <a:t>OpenAI Gym’s </a:t>
            </a:r>
            <a:r>
              <a:rPr lang="en-US" b="0" i="0" err="1">
                <a:solidFill>
                  <a:srgbClr val="2A2A2A"/>
                </a:solidFill>
                <a:effectLst/>
                <a:latin typeface="Work Sans" pitchFamily="2" charset="0"/>
              </a:rPr>
              <a:t>LunarLander</a:t>
            </a:r>
            <a:r>
              <a:rPr lang="en-US" b="0" i="0">
                <a:solidFill>
                  <a:srgbClr val="2A2A2A"/>
                </a:solidFill>
                <a:effectLst/>
                <a:latin typeface="Work Sans" pitchFamily="2" charset="0"/>
              </a:rPr>
              <a:t> environment, which provides a challenging and interesting problem for our agent to solve.</a:t>
            </a:r>
            <a:endParaRPr lang="en-IN"/>
          </a:p>
        </p:txBody>
      </p:sp>
      <p:sp>
        <p:nvSpPr>
          <p:cNvPr id="9" name="TextBox 8">
            <a:extLst>
              <a:ext uri="{FF2B5EF4-FFF2-40B4-BE49-F238E27FC236}">
                <a16:creationId xmlns:a16="http://schemas.microsoft.com/office/drawing/2014/main" id="{70530284-67B8-C2A5-696E-94F00F4627F0}"/>
              </a:ext>
            </a:extLst>
          </p:cNvPr>
          <p:cNvSpPr txBox="1"/>
          <p:nvPr/>
        </p:nvSpPr>
        <p:spPr>
          <a:xfrm>
            <a:off x="3039534" y="2153272"/>
            <a:ext cx="6112932" cy="2585323"/>
          </a:xfrm>
          <a:prstGeom prst="rect">
            <a:avLst/>
          </a:prstGeom>
          <a:noFill/>
          <a:ln w="41275">
            <a:solidFill>
              <a:schemeClr val="accent1"/>
            </a:solidFill>
          </a:ln>
        </p:spPr>
        <p:txBody>
          <a:bodyPr wrap="square">
            <a:spAutoFit/>
          </a:bodyPr>
          <a:lstStyle/>
          <a:p>
            <a:pPr algn="l" latinLnBrk="0">
              <a:buNone/>
            </a:pP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os</a:t>
            </a:r>
            <a:endParaRPr lang="en-IN" b="0" i="0">
              <a:solidFill>
                <a:srgbClr val="000000"/>
              </a:solidFill>
              <a:effectLst/>
              <a:latin typeface="Consolas" panose="020B0609020204030204" pitchFamily="49" charset="0"/>
            </a:endParaRPr>
          </a:p>
          <a:p>
            <a:pPr algn="l" latinLnBrk="0">
              <a:buNone/>
            </a:pP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pickle</a:t>
            </a:r>
          </a:p>
          <a:p>
            <a:pPr algn="l" latinLnBrk="0">
              <a:buNone/>
            </a:pP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gym</a:t>
            </a:r>
          </a:p>
          <a:p>
            <a:pPr algn="l" latinLnBrk="0">
              <a:buNone/>
            </a:pP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torch</a:t>
            </a:r>
          </a:p>
          <a:p>
            <a:pPr algn="l" latinLnBrk="0">
              <a:buNone/>
            </a:pP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torch</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nn</a:t>
            </a: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as</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nn</a:t>
            </a:r>
            <a:endParaRPr lang="en-IN" b="0" i="0">
              <a:solidFill>
                <a:srgbClr val="000000"/>
              </a:solidFill>
              <a:effectLst/>
              <a:latin typeface="Consolas" panose="020B0609020204030204" pitchFamily="49" charset="0"/>
            </a:endParaRPr>
          </a:p>
          <a:p>
            <a:pPr algn="l" latinLnBrk="0">
              <a:buNone/>
            </a:pP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torch</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optim</a:t>
            </a: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as</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optim</a:t>
            </a:r>
            <a:endParaRPr lang="en-IN" b="0" i="0">
              <a:solidFill>
                <a:srgbClr val="000000"/>
              </a:solidFill>
              <a:effectLst/>
              <a:latin typeface="Consolas" panose="020B0609020204030204" pitchFamily="49" charset="0"/>
            </a:endParaRPr>
          </a:p>
          <a:p>
            <a:pPr algn="l" latinLnBrk="0">
              <a:buNone/>
            </a:pPr>
            <a:r>
              <a:rPr lang="en-IN" b="0" i="0">
                <a:solidFill>
                  <a:srgbClr val="0077AA"/>
                </a:solidFill>
                <a:effectLst/>
                <a:latin typeface="Consolas" panose="020B0609020204030204" pitchFamily="49" charset="0"/>
              </a:rPr>
              <a:t>from</a:t>
            </a:r>
            <a:r>
              <a:rPr lang="en-IN" b="0" i="0">
                <a:solidFill>
                  <a:srgbClr val="000000"/>
                </a:solidFill>
                <a:effectLst/>
                <a:latin typeface="Consolas" panose="020B0609020204030204" pitchFamily="49" charset="0"/>
              </a:rPr>
              <a:t> collections </a:t>
            </a: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deque</a:t>
            </a:r>
          </a:p>
          <a:p>
            <a:pPr algn="l" latinLnBrk="0">
              <a:buNone/>
            </a:pP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random</a:t>
            </a:r>
          </a:p>
          <a:p>
            <a:pPr algn="l" latinLnBrk="0">
              <a:buNone/>
            </a:pPr>
            <a:r>
              <a:rPr lang="en-IN" b="0" i="0">
                <a:solidFill>
                  <a:srgbClr val="0077AA"/>
                </a:solidFill>
                <a:effectLst/>
                <a:latin typeface="Consolas" panose="020B0609020204030204" pitchFamily="49" charset="0"/>
              </a:rPr>
              <a:t>import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optuna</a:t>
            </a:r>
            <a:endParaRPr lang="en-IN" b="0" i="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E740A001-DD0D-0AA8-9A8A-4B942E294179}"/>
              </a:ext>
            </a:extLst>
          </p:cNvPr>
          <p:cNvSpPr txBox="1"/>
          <p:nvPr/>
        </p:nvSpPr>
        <p:spPr>
          <a:xfrm>
            <a:off x="355600" y="5134806"/>
            <a:ext cx="11480799" cy="923330"/>
          </a:xfrm>
          <a:prstGeom prst="rect">
            <a:avLst/>
          </a:prstGeom>
          <a:noFill/>
        </p:spPr>
        <p:txBody>
          <a:bodyPr wrap="square">
            <a:spAutoFit/>
          </a:bodyPr>
          <a:lstStyle/>
          <a:p>
            <a:r>
              <a:rPr lang="en-US" b="0" i="0">
                <a:solidFill>
                  <a:srgbClr val="2A2A2A"/>
                </a:solidFill>
                <a:effectLst/>
                <a:latin typeface="Work Sans" pitchFamily="2" charset="0"/>
              </a:rPr>
              <a:t>Here, we import the necessary libraries. </a:t>
            </a:r>
            <a:r>
              <a:rPr lang="en-US" b="0" i="0">
                <a:solidFill>
                  <a:srgbClr val="2A2A2A"/>
                </a:solidFill>
                <a:effectLst/>
                <a:latin typeface="Courier New" panose="02070309020205020404" pitchFamily="49" charset="0"/>
              </a:rPr>
              <a:t>gym</a:t>
            </a:r>
            <a:r>
              <a:rPr lang="en-US" b="0" i="0">
                <a:solidFill>
                  <a:srgbClr val="2A2A2A"/>
                </a:solidFill>
                <a:effectLst/>
                <a:latin typeface="Work Sans" pitchFamily="2" charset="0"/>
              </a:rPr>
              <a:t> is used for the environment, </a:t>
            </a:r>
            <a:r>
              <a:rPr lang="en-US" b="0" i="0">
                <a:solidFill>
                  <a:srgbClr val="2A2A2A"/>
                </a:solidFill>
                <a:effectLst/>
                <a:latin typeface="Courier New" panose="02070309020205020404" pitchFamily="49" charset="0"/>
              </a:rPr>
              <a:t>torch</a:t>
            </a:r>
            <a:r>
              <a:rPr lang="en-US" b="0" i="0">
                <a:solidFill>
                  <a:srgbClr val="2A2A2A"/>
                </a:solidFill>
                <a:effectLst/>
                <a:latin typeface="Work Sans" pitchFamily="2" charset="0"/>
              </a:rPr>
              <a:t> is for building and training our neural network, and </a:t>
            </a:r>
            <a:r>
              <a:rPr lang="en-US" b="0" i="0">
                <a:solidFill>
                  <a:srgbClr val="2A2A2A"/>
                </a:solidFill>
                <a:effectLst/>
                <a:latin typeface="Courier New" panose="02070309020205020404" pitchFamily="49" charset="0"/>
              </a:rPr>
              <a:t>collections</a:t>
            </a:r>
            <a:r>
              <a:rPr lang="en-US" b="0" i="0">
                <a:solidFill>
                  <a:srgbClr val="2A2A2A"/>
                </a:solidFill>
                <a:effectLst/>
                <a:latin typeface="Work Sans" pitchFamily="2" charset="0"/>
              </a:rPr>
              <a:t>, </a:t>
            </a:r>
            <a:r>
              <a:rPr lang="en-US" b="0" i="0">
                <a:solidFill>
                  <a:srgbClr val="2A2A2A"/>
                </a:solidFill>
                <a:effectLst/>
                <a:latin typeface="Courier New" panose="02070309020205020404" pitchFamily="49" charset="0"/>
              </a:rPr>
              <a:t>random</a:t>
            </a:r>
            <a:r>
              <a:rPr lang="en-US" b="0" i="0">
                <a:solidFill>
                  <a:srgbClr val="2A2A2A"/>
                </a:solidFill>
                <a:effectLst/>
                <a:latin typeface="Work Sans" pitchFamily="2" charset="0"/>
              </a:rPr>
              <a:t>, and </a:t>
            </a:r>
            <a:r>
              <a:rPr lang="en-US" b="0" i="0" err="1">
                <a:solidFill>
                  <a:srgbClr val="2A2A2A"/>
                </a:solidFill>
                <a:effectLst/>
                <a:latin typeface="Courier New" panose="02070309020205020404" pitchFamily="49" charset="0"/>
              </a:rPr>
              <a:t>optuna</a:t>
            </a:r>
            <a:r>
              <a:rPr lang="en-US" b="0" i="0">
                <a:solidFill>
                  <a:srgbClr val="2A2A2A"/>
                </a:solidFill>
                <a:effectLst/>
                <a:latin typeface="Work Sans" pitchFamily="2" charset="0"/>
              </a:rPr>
              <a:t> help with experience replay and hyperparameter optimization.</a:t>
            </a:r>
            <a:endParaRPr lang="en-IN"/>
          </a:p>
        </p:txBody>
      </p:sp>
    </p:spTree>
    <p:extLst>
      <p:ext uri="{BB962C8B-B14F-4D97-AF65-F5344CB8AC3E}">
        <p14:creationId xmlns:p14="http://schemas.microsoft.com/office/powerpoint/2010/main" val="3431097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516CE-CB5E-70EA-A6A8-98CD3061B6D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44CFD19-C59D-24E6-3C95-3390C2A98364}"/>
              </a:ext>
            </a:extLst>
          </p:cNvPr>
          <p:cNvSpPr>
            <a:spLocks noGrp="1"/>
          </p:cNvSpPr>
          <p:nvPr>
            <p:ph idx="1"/>
          </p:nvPr>
        </p:nvSpPr>
        <p:spPr>
          <a:ln>
            <a:solidFill>
              <a:srgbClr val="0070C0"/>
            </a:solidFill>
          </a:ln>
        </p:spPr>
        <p:txBody>
          <a:bodyPr/>
          <a:lstStyle/>
          <a:p>
            <a:endParaRPr lang="en-IN"/>
          </a:p>
        </p:txBody>
      </p:sp>
      <p:sp>
        <p:nvSpPr>
          <p:cNvPr id="5" name="TextBox 4">
            <a:extLst>
              <a:ext uri="{FF2B5EF4-FFF2-40B4-BE49-F238E27FC236}">
                <a16:creationId xmlns:a16="http://schemas.microsoft.com/office/drawing/2014/main" id="{EFF3F32B-A654-4032-32BD-C14BCB596FDC}"/>
              </a:ext>
            </a:extLst>
          </p:cNvPr>
          <p:cNvSpPr txBox="1"/>
          <p:nvPr/>
        </p:nvSpPr>
        <p:spPr>
          <a:xfrm>
            <a:off x="706968" y="2264971"/>
            <a:ext cx="6112932" cy="1200329"/>
          </a:xfrm>
          <a:prstGeom prst="rect">
            <a:avLst/>
          </a:prstGeom>
          <a:noFill/>
          <a:ln w="44450">
            <a:solidFill>
              <a:srgbClr val="0070C0"/>
            </a:solidFill>
          </a:ln>
        </p:spPr>
        <p:txBody>
          <a:bodyPr wrap="square">
            <a:spAutoFit/>
          </a:bodyPr>
          <a:lstStyle/>
          <a:p>
            <a:pPr algn="l" latinLnBrk="0">
              <a:buNone/>
            </a:pPr>
            <a:r>
              <a:rPr lang="en-IN" b="0" i="0">
                <a:solidFill>
                  <a:srgbClr val="000000"/>
                </a:solidFill>
                <a:effectLst/>
                <a:latin typeface="Consolas" panose="020B0609020204030204" pitchFamily="49" charset="0"/>
              </a:rPr>
              <a:t>env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gym</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make</a:t>
            </a:r>
            <a:r>
              <a:rPr lang="en-IN" b="0" i="0">
                <a:solidFill>
                  <a:srgbClr val="999999"/>
                </a:solidFill>
                <a:effectLst/>
                <a:latin typeface="Consolas" panose="020B0609020204030204" pitchFamily="49" charset="0"/>
              </a:rPr>
              <a:t>(</a:t>
            </a:r>
            <a:r>
              <a:rPr lang="en-IN" b="0" i="0">
                <a:solidFill>
                  <a:srgbClr val="669900"/>
                </a:solidFill>
                <a:effectLst/>
                <a:latin typeface="Consolas" panose="020B0609020204030204" pitchFamily="49" charset="0"/>
              </a:rPr>
              <a:t>'LunarLander-v2'</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render_mode</a:t>
            </a:r>
            <a:r>
              <a:rPr lang="en-IN" b="0" i="0">
                <a:solidFill>
                  <a:srgbClr val="9A6E3A"/>
                </a:solidFill>
                <a:effectLst/>
                <a:latin typeface="Consolas" panose="020B0609020204030204" pitchFamily="49" charset="0"/>
              </a:rPr>
              <a:t>=</a:t>
            </a:r>
            <a:r>
              <a:rPr lang="en-IN" b="0" i="0">
                <a:solidFill>
                  <a:srgbClr val="669900"/>
                </a:solidFill>
                <a:effectLst/>
                <a:latin typeface="Consolas" panose="020B0609020204030204" pitchFamily="49" charset="0"/>
              </a:rPr>
              <a:t>"</a:t>
            </a:r>
            <a:r>
              <a:rPr lang="en-IN" b="0" i="0" err="1">
                <a:solidFill>
                  <a:srgbClr val="669900"/>
                </a:solidFill>
                <a:effectLst/>
                <a:latin typeface="Consolas" panose="020B0609020204030204" pitchFamily="49" charset="0"/>
              </a:rPr>
              <a:t>rgb_array</a:t>
            </a:r>
            <a:r>
              <a:rPr lang="en-IN" b="0" i="0">
                <a:solidFill>
                  <a:srgbClr val="669900"/>
                </a:solidFill>
                <a:effectLst/>
                <a:latin typeface="Consolas" panose="020B0609020204030204" pitchFamily="49" charset="0"/>
              </a:rPr>
              <a:t>"</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err="1">
                <a:solidFill>
                  <a:srgbClr val="000000"/>
                </a:solidFill>
                <a:effectLst/>
                <a:latin typeface="Consolas" panose="020B0609020204030204" pitchFamily="49" charset="0"/>
              </a:rPr>
              <a:t>state_dim</a:t>
            </a:r>
            <a:r>
              <a:rPr lang="en-IN" b="0" i="0">
                <a:solidFill>
                  <a:srgbClr val="000000"/>
                </a:solidFill>
                <a:effectLst/>
                <a:latin typeface="Consolas" panose="020B0609020204030204" pitchFamily="49" charset="0"/>
              </a:rPr>
              <a:t>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env</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observation_space</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shape</a:t>
            </a:r>
            <a:r>
              <a:rPr lang="en-IN" b="0" i="0">
                <a:solidFill>
                  <a:srgbClr val="999999"/>
                </a:solidFill>
                <a:effectLst/>
                <a:latin typeface="Consolas" panose="020B0609020204030204" pitchFamily="49" charset="0"/>
              </a:rPr>
              <a:t>[</a:t>
            </a:r>
            <a:r>
              <a:rPr lang="en-IN" b="0" i="0">
                <a:solidFill>
                  <a:srgbClr val="990055"/>
                </a:solidFill>
                <a:effectLst/>
                <a:latin typeface="Consolas" panose="020B0609020204030204" pitchFamily="49" charset="0"/>
              </a:rPr>
              <a:t>0</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err="1">
                <a:solidFill>
                  <a:srgbClr val="000000"/>
                </a:solidFill>
                <a:effectLst/>
                <a:latin typeface="Consolas" panose="020B0609020204030204" pitchFamily="49" charset="0"/>
              </a:rPr>
              <a:t>action_dim</a:t>
            </a:r>
            <a:r>
              <a:rPr lang="en-IN" b="0" i="0">
                <a:solidFill>
                  <a:srgbClr val="000000"/>
                </a:solidFill>
                <a:effectLst/>
                <a:latin typeface="Consolas" panose="020B0609020204030204" pitchFamily="49" charset="0"/>
              </a:rPr>
              <a:t>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env</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action_space</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n</a:t>
            </a:r>
            <a:endParaRPr lang="en-IN" b="0" i="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7116918-602A-59E8-E75B-2F6EE52FBEAD}"/>
              </a:ext>
            </a:extLst>
          </p:cNvPr>
          <p:cNvSpPr txBox="1"/>
          <p:nvPr/>
        </p:nvSpPr>
        <p:spPr>
          <a:xfrm>
            <a:off x="2116667" y="4202817"/>
            <a:ext cx="8136466" cy="1200329"/>
          </a:xfrm>
          <a:prstGeom prst="rect">
            <a:avLst/>
          </a:prstGeom>
          <a:noFill/>
          <a:ln w="50800">
            <a:solidFill>
              <a:srgbClr val="C00000"/>
            </a:solidFill>
          </a:ln>
        </p:spPr>
        <p:txBody>
          <a:bodyPr wrap="square">
            <a:spAutoFit/>
          </a:bodyPr>
          <a:lstStyle/>
          <a:p>
            <a:r>
              <a:rPr lang="en-US" b="0" i="0">
                <a:solidFill>
                  <a:srgbClr val="2A2A2A"/>
                </a:solidFill>
                <a:effectLst/>
                <a:latin typeface="Work Sans" pitchFamily="2" charset="0"/>
              </a:rPr>
              <a:t>We initialize the </a:t>
            </a:r>
            <a:r>
              <a:rPr lang="en-US" b="0" i="0" err="1">
                <a:solidFill>
                  <a:srgbClr val="2A2A2A"/>
                </a:solidFill>
                <a:effectLst/>
                <a:latin typeface="Work Sans" pitchFamily="2" charset="0"/>
              </a:rPr>
              <a:t>LunarLander</a:t>
            </a:r>
            <a:r>
              <a:rPr lang="en-US" b="0" i="0">
                <a:solidFill>
                  <a:srgbClr val="2A2A2A"/>
                </a:solidFill>
                <a:effectLst/>
                <a:latin typeface="Work Sans" pitchFamily="2" charset="0"/>
              </a:rPr>
              <a:t> environment and retrieve the dimensions of the state and action spaces. </a:t>
            </a:r>
            <a:r>
              <a:rPr lang="en-US" b="0" i="0" err="1">
                <a:solidFill>
                  <a:srgbClr val="2A2A2A"/>
                </a:solidFill>
                <a:effectLst/>
                <a:latin typeface="Courier New" panose="02070309020205020404" pitchFamily="49" charset="0"/>
              </a:rPr>
              <a:t>state_dim</a:t>
            </a:r>
            <a:r>
              <a:rPr lang="en-US" b="0" i="0">
                <a:solidFill>
                  <a:srgbClr val="2A2A2A"/>
                </a:solidFill>
                <a:effectLst/>
                <a:latin typeface="Work Sans" pitchFamily="2" charset="0"/>
              </a:rPr>
              <a:t> represents the number of features in the state, and </a:t>
            </a:r>
            <a:r>
              <a:rPr lang="en-US" b="0" i="0" err="1">
                <a:solidFill>
                  <a:srgbClr val="2A2A2A"/>
                </a:solidFill>
                <a:effectLst/>
                <a:latin typeface="Courier New" panose="02070309020205020404" pitchFamily="49" charset="0"/>
              </a:rPr>
              <a:t>action_dim</a:t>
            </a:r>
            <a:r>
              <a:rPr lang="en-US" b="0" i="0">
                <a:solidFill>
                  <a:srgbClr val="2A2A2A"/>
                </a:solidFill>
                <a:effectLst/>
                <a:latin typeface="Work Sans" pitchFamily="2" charset="0"/>
              </a:rPr>
              <a:t> represents the number of possible actions.</a:t>
            </a:r>
            <a:endParaRPr lang="en-IN"/>
          </a:p>
        </p:txBody>
      </p:sp>
      <p:sp>
        <p:nvSpPr>
          <p:cNvPr id="4" name="Arrow: Right 3">
            <a:extLst>
              <a:ext uri="{FF2B5EF4-FFF2-40B4-BE49-F238E27FC236}">
                <a16:creationId xmlns:a16="http://schemas.microsoft.com/office/drawing/2014/main" id="{D9A9FCA9-C26B-191C-DAC6-983B6C7655D0}"/>
              </a:ext>
            </a:extLst>
          </p:cNvPr>
          <p:cNvSpPr/>
          <p:nvPr/>
        </p:nvSpPr>
        <p:spPr>
          <a:xfrm rot="5400000">
            <a:off x="8305282" y="3496290"/>
            <a:ext cx="803445" cy="66886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972D975-1C07-3A57-0C1A-8D6A6002FB13}"/>
              </a:ext>
            </a:extLst>
          </p:cNvPr>
          <p:cNvSpPr txBox="1"/>
          <p:nvPr/>
        </p:nvSpPr>
        <p:spPr>
          <a:xfrm>
            <a:off x="7078134" y="172326"/>
            <a:ext cx="6112932" cy="1477328"/>
          </a:xfrm>
          <a:prstGeom prst="rect">
            <a:avLst/>
          </a:prstGeom>
          <a:noFill/>
        </p:spPr>
        <p:txBody>
          <a:bodyPr wrap="square">
            <a:spAutoFit/>
          </a:bodyPr>
          <a:lstStyle/>
          <a:p>
            <a:pPr>
              <a:buNone/>
            </a:pPr>
            <a:r>
              <a:rPr lang="en-IN"/>
              <a:t>The environment internally contains:</a:t>
            </a:r>
          </a:p>
          <a:p>
            <a:pPr lvl="1">
              <a:buFont typeface="Arial" panose="020B0604020202020204" pitchFamily="34" charset="0"/>
              <a:buChar char="•"/>
            </a:pPr>
            <a:r>
              <a:rPr lang="en-IN"/>
              <a:t>Physics engine (Box2D)</a:t>
            </a:r>
          </a:p>
          <a:p>
            <a:pPr lvl="1">
              <a:buFont typeface="Arial" panose="020B0604020202020204" pitchFamily="34" charset="0"/>
              <a:buChar char="•"/>
            </a:pPr>
            <a:r>
              <a:rPr lang="en-IN"/>
              <a:t>Lander object (position, velocity, angle, legs)</a:t>
            </a:r>
          </a:p>
          <a:p>
            <a:pPr lvl="1">
              <a:buFont typeface="Arial" panose="020B0604020202020204" pitchFamily="34" charset="0"/>
              <a:buChar char="•"/>
            </a:pPr>
            <a:r>
              <a:rPr lang="en-IN"/>
              <a:t>Reward logic</a:t>
            </a:r>
          </a:p>
          <a:p>
            <a:pPr lvl="1">
              <a:buFont typeface="Arial" panose="020B0604020202020204" pitchFamily="34" charset="0"/>
              <a:buChar char="•"/>
            </a:pPr>
            <a:r>
              <a:rPr lang="en-IN"/>
              <a:t>Terminal conditions (crash or landing)</a:t>
            </a:r>
          </a:p>
        </p:txBody>
      </p:sp>
      <p:sp>
        <p:nvSpPr>
          <p:cNvPr id="13" name="TextBox 12">
            <a:extLst>
              <a:ext uri="{FF2B5EF4-FFF2-40B4-BE49-F238E27FC236}">
                <a16:creationId xmlns:a16="http://schemas.microsoft.com/office/drawing/2014/main" id="{53D31873-72AA-A7BF-F768-A7C6FC4389D4}"/>
              </a:ext>
            </a:extLst>
          </p:cNvPr>
          <p:cNvSpPr txBox="1"/>
          <p:nvPr/>
        </p:nvSpPr>
        <p:spPr>
          <a:xfrm>
            <a:off x="7363944" y="2132878"/>
            <a:ext cx="4199466" cy="1200329"/>
          </a:xfrm>
          <a:prstGeom prst="rect">
            <a:avLst/>
          </a:prstGeom>
          <a:noFill/>
        </p:spPr>
        <p:txBody>
          <a:bodyPr wrap="square">
            <a:spAutoFit/>
          </a:bodyPr>
          <a:lstStyle/>
          <a:p>
            <a:r>
              <a:rPr lang="en-IN"/>
              <a:t>Loads the OpenAI Gym environment named "LunarLander-v2"</a:t>
            </a:r>
          </a:p>
          <a:p>
            <a:r>
              <a:rPr lang="en-IN"/>
              <a:t>Sets the rendering mode to "</a:t>
            </a:r>
            <a:r>
              <a:rPr lang="en-IN" err="1"/>
              <a:t>rgb_array</a:t>
            </a:r>
            <a:r>
              <a:rPr lang="en-IN"/>
              <a:t>" (so frames can be recorded as images)</a:t>
            </a:r>
          </a:p>
        </p:txBody>
      </p:sp>
      <p:sp>
        <p:nvSpPr>
          <p:cNvPr id="17" name="TextBox 16">
            <a:extLst>
              <a:ext uri="{FF2B5EF4-FFF2-40B4-BE49-F238E27FC236}">
                <a16:creationId xmlns:a16="http://schemas.microsoft.com/office/drawing/2014/main" id="{9536F6A8-4E75-58F4-4990-93B8D47D3CB3}"/>
              </a:ext>
            </a:extLst>
          </p:cNvPr>
          <p:cNvSpPr txBox="1"/>
          <p:nvPr/>
        </p:nvSpPr>
        <p:spPr>
          <a:xfrm>
            <a:off x="10398035" y="4811275"/>
            <a:ext cx="7062470" cy="1200329"/>
          </a:xfrm>
          <a:prstGeom prst="rect">
            <a:avLst/>
          </a:prstGeom>
          <a:noFill/>
        </p:spPr>
        <p:txBody>
          <a:bodyPr wrap="square">
            <a:spAutoFit/>
          </a:bodyPr>
          <a:lstStyle/>
          <a:p>
            <a:r>
              <a:rPr lang="en-IN"/>
              <a:t>Ready to call</a:t>
            </a:r>
          </a:p>
          <a:p>
            <a:r>
              <a:rPr lang="en-IN" err="1"/>
              <a:t>env.reset</a:t>
            </a:r>
            <a:r>
              <a:rPr lang="en-IN"/>
              <a:t>()</a:t>
            </a:r>
          </a:p>
          <a:p>
            <a:r>
              <a:rPr lang="en-IN" err="1"/>
              <a:t>env.step</a:t>
            </a:r>
            <a:r>
              <a:rPr lang="en-IN"/>
              <a:t>(action)</a:t>
            </a:r>
          </a:p>
          <a:p>
            <a:r>
              <a:rPr lang="en-IN" err="1"/>
              <a:t>env.render</a:t>
            </a:r>
            <a:r>
              <a:rPr lang="en-IN"/>
              <a:t>()</a:t>
            </a:r>
          </a:p>
        </p:txBody>
      </p:sp>
    </p:spTree>
    <p:extLst>
      <p:ext uri="{BB962C8B-B14F-4D97-AF65-F5344CB8AC3E}">
        <p14:creationId xmlns:p14="http://schemas.microsoft.com/office/powerpoint/2010/main" val="105354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1AB33-F1C6-0E30-FF07-D132D2A9BEC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2D65B7E-E986-FB62-E0BB-B30D3A1B1120}"/>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2817A1A4-FB29-9076-BC59-855D0FA7E731}"/>
              </a:ext>
            </a:extLst>
          </p:cNvPr>
          <p:cNvSpPr txBox="1"/>
          <p:nvPr/>
        </p:nvSpPr>
        <p:spPr>
          <a:xfrm>
            <a:off x="6657974" y="863938"/>
            <a:ext cx="5550957" cy="2308324"/>
          </a:xfrm>
          <a:prstGeom prst="rect">
            <a:avLst/>
          </a:prstGeom>
          <a:noFill/>
          <a:ln w="38100">
            <a:solidFill>
              <a:srgbClr val="C00000"/>
            </a:solidFill>
          </a:ln>
        </p:spPr>
        <p:txBody>
          <a:bodyPr wrap="square">
            <a:spAutoFit/>
          </a:bodyPr>
          <a:lstStyle/>
          <a:p>
            <a:r>
              <a:rPr lang="en-US" b="0" i="0">
                <a:solidFill>
                  <a:srgbClr val="2A2A2A"/>
                </a:solidFill>
                <a:effectLst/>
                <a:latin typeface="Work Sans" pitchFamily="2" charset="0"/>
              </a:rPr>
              <a:t>For our deep-NN, we will create a class called </a:t>
            </a:r>
            <a:r>
              <a:rPr lang="en-US" b="0" i="0">
                <a:solidFill>
                  <a:srgbClr val="2A2A2A"/>
                </a:solidFill>
                <a:effectLst/>
                <a:latin typeface="Courier New" panose="02070309020205020404" pitchFamily="49" charset="0"/>
              </a:rPr>
              <a:t>DQN</a:t>
            </a:r>
            <a:r>
              <a:rPr lang="en-US" b="0" i="0">
                <a:solidFill>
                  <a:srgbClr val="2A2A2A"/>
                </a:solidFill>
                <a:effectLst/>
                <a:latin typeface="Work Sans" pitchFamily="2" charset="0"/>
              </a:rPr>
              <a:t>. This class defines a neural network with three fully connected layers. The input layer receives the state representation, the hidden layers process this information through linear transformations and </a:t>
            </a:r>
            <a:r>
              <a:rPr lang="en-US" b="0" i="0" err="1">
                <a:solidFill>
                  <a:srgbClr val="2A2A2A"/>
                </a:solidFill>
                <a:effectLst/>
                <a:latin typeface="Work Sans" pitchFamily="2" charset="0"/>
              </a:rPr>
              <a:t>ReLU</a:t>
            </a:r>
            <a:r>
              <a:rPr lang="en-US" b="0" i="0">
                <a:solidFill>
                  <a:srgbClr val="2A2A2A"/>
                </a:solidFill>
                <a:effectLst/>
                <a:latin typeface="Work Sans" pitchFamily="2" charset="0"/>
              </a:rPr>
              <a:t> activation functions, and the output layer produces the Q-values for each possible action.</a:t>
            </a:r>
            <a:endParaRPr lang="en-IN"/>
          </a:p>
        </p:txBody>
      </p:sp>
      <p:sp>
        <p:nvSpPr>
          <p:cNvPr id="7" name="TextBox 6">
            <a:extLst>
              <a:ext uri="{FF2B5EF4-FFF2-40B4-BE49-F238E27FC236}">
                <a16:creationId xmlns:a16="http://schemas.microsoft.com/office/drawing/2014/main" id="{C1721102-E297-CED1-95FB-AC746715BBA6}"/>
              </a:ext>
            </a:extLst>
          </p:cNvPr>
          <p:cNvSpPr txBox="1"/>
          <p:nvPr/>
        </p:nvSpPr>
        <p:spPr>
          <a:xfrm>
            <a:off x="160866" y="930029"/>
            <a:ext cx="6129866" cy="3139321"/>
          </a:xfrm>
          <a:prstGeom prst="rect">
            <a:avLst/>
          </a:prstGeom>
          <a:noFill/>
          <a:ln w="44450">
            <a:solidFill>
              <a:srgbClr val="0070C0"/>
            </a:solidFill>
          </a:ln>
        </p:spPr>
        <p:txBody>
          <a:bodyPr wrap="square">
            <a:spAutoFit/>
          </a:bodyPr>
          <a:lstStyle/>
          <a:p>
            <a:pPr algn="l" latinLnBrk="0">
              <a:buNone/>
            </a:pPr>
            <a:r>
              <a:rPr lang="en-IN" b="0" i="0">
                <a:solidFill>
                  <a:srgbClr val="0077AA"/>
                </a:solidFill>
                <a:effectLst/>
                <a:latin typeface="Consolas" panose="020B0609020204030204" pitchFamily="49" charset="0"/>
              </a:rPr>
              <a:t>class</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DQN</a:t>
            </a:r>
            <a:r>
              <a:rPr lang="en-IN" b="0" i="0">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nn</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Module</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__</a:t>
            </a:r>
            <a:r>
              <a:rPr lang="en-IN" b="0" i="0" err="1">
                <a:solidFill>
                  <a:srgbClr val="DD4A68"/>
                </a:solidFill>
                <a:effectLst/>
                <a:latin typeface="Consolas" panose="020B0609020204030204" pitchFamily="49" charset="0"/>
              </a:rPr>
              <a:t>init</a:t>
            </a:r>
            <a:r>
              <a:rPr lang="en-IN" b="0" i="0">
                <a:solidFill>
                  <a:srgbClr val="DD4A68"/>
                </a:solidFill>
                <a:effectLst/>
                <a:latin typeface="Consolas" panose="020B0609020204030204" pitchFamily="49" charset="0"/>
              </a:rPr>
              <a:t>__</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state_dim</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action_dim</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669900"/>
                </a:solidFill>
                <a:effectLst/>
                <a:latin typeface="Consolas" panose="020B0609020204030204" pitchFamily="49" charset="0"/>
              </a:rPr>
              <a:t>super</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DQN</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__</a:t>
            </a:r>
            <a:r>
              <a:rPr lang="en-IN" b="0" i="0" err="1">
                <a:solidFill>
                  <a:srgbClr val="000000"/>
                </a:solidFill>
                <a:effectLst/>
                <a:latin typeface="Consolas" panose="020B0609020204030204" pitchFamily="49" charset="0"/>
              </a:rPr>
              <a:t>init</a:t>
            </a:r>
            <a:r>
              <a:rPr lang="en-IN" b="0" i="0">
                <a:solidFill>
                  <a:srgbClr val="000000"/>
                </a:solidFill>
                <a:effectLst/>
                <a:latin typeface="Consolas" panose="020B0609020204030204" pitchFamily="49" charset="0"/>
              </a:rPr>
              <a:t>__</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fc1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nn</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Linear</a:t>
            </a:r>
            <a:r>
              <a:rPr lang="en-IN" b="0" i="0">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state_dim</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a:solidFill>
                  <a:srgbClr val="990055"/>
                </a:solidFill>
                <a:effectLst/>
                <a:latin typeface="Consolas" panose="020B0609020204030204" pitchFamily="49" charset="0"/>
              </a:rPr>
              <a:t>128</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fc2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nn</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Linear</a:t>
            </a:r>
            <a:r>
              <a:rPr lang="en-IN" b="0" i="0">
                <a:solidFill>
                  <a:srgbClr val="999999"/>
                </a:solidFill>
                <a:effectLst/>
                <a:latin typeface="Consolas" panose="020B0609020204030204" pitchFamily="49" charset="0"/>
              </a:rPr>
              <a:t>(</a:t>
            </a:r>
            <a:r>
              <a:rPr lang="en-IN" b="0" i="0">
                <a:solidFill>
                  <a:srgbClr val="990055"/>
                </a:solidFill>
                <a:effectLst/>
                <a:latin typeface="Consolas" panose="020B0609020204030204" pitchFamily="49" charset="0"/>
              </a:rPr>
              <a:t>128</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a:solidFill>
                  <a:srgbClr val="990055"/>
                </a:solidFill>
                <a:effectLst/>
                <a:latin typeface="Consolas" panose="020B0609020204030204" pitchFamily="49" charset="0"/>
              </a:rPr>
              <a:t>128</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fc3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nn</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Linear</a:t>
            </a:r>
            <a:r>
              <a:rPr lang="en-IN" b="0" i="0">
                <a:solidFill>
                  <a:srgbClr val="999999"/>
                </a:solidFill>
                <a:effectLst/>
                <a:latin typeface="Consolas" panose="020B0609020204030204" pitchFamily="49" charset="0"/>
              </a:rPr>
              <a:t>(</a:t>
            </a:r>
            <a:r>
              <a:rPr lang="en-IN" b="0" i="0">
                <a:solidFill>
                  <a:srgbClr val="990055"/>
                </a:solidFill>
                <a:effectLst/>
                <a:latin typeface="Consolas" panose="020B0609020204030204" pitchFamily="49" charset="0"/>
              </a:rPr>
              <a:t>128</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action_dim</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forward</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x</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x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torch</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relu</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fc1</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x</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x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torch</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relu</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fc2</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x</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return</a:t>
            </a: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fc3</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x</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3A49531B-1589-BB5A-0DD5-5D007A2839FF}"/>
              </a:ext>
            </a:extLst>
          </p:cNvPr>
          <p:cNvSpPr txBox="1"/>
          <p:nvPr/>
        </p:nvSpPr>
        <p:spPr>
          <a:xfrm>
            <a:off x="5842000" y="4245993"/>
            <a:ext cx="6129866" cy="1754326"/>
          </a:xfrm>
          <a:prstGeom prst="rect">
            <a:avLst/>
          </a:prstGeom>
          <a:noFill/>
          <a:ln w="38100">
            <a:solidFill>
              <a:srgbClr val="C00000"/>
            </a:solidFill>
          </a:ln>
        </p:spPr>
        <p:txBody>
          <a:bodyPr wrap="square">
            <a:spAutoFit/>
          </a:bodyPr>
          <a:lstStyle/>
          <a:p>
            <a:pPr algn="l" latinLnBrk="0">
              <a:buNone/>
            </a:pPr>
            <a:r>
              <a:rPr lang="en-IN" b="0" i="0">
                <a:solidFill>
                  <a:srgbClr val="0077AA"/>
                </a:solidFill>
                <a:effectLst/>
                <a:latin typeface="Consolas" panose="020B0609020204030204" pitchFamily="49" charset="0"/>
              </a:rPr>
              <a:t>class</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DQN</a:t>
            </a:r>
            <a:r>
              <a:rPr lang="en-IN" b="0" i="0">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nn</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Module</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__</a:t>
            </a:r>
            <a:r>
              <a:rPr lang="en-IN" b="0" i="0" err="1">
                <a:solidFill>
                  <a:srgbClr val="DD4A68"/>
                </a:solidFill>
                <a:effectLst/>
                <a:latin typeface="Consolas" panose="020B0609020204030204" pitchFamily="49" charset="0"/>
              </a:rPr>
              <a:t>init</a:t>
            </a:r>
            <a:r>
              <a:rPr lang="en-IN" b="0" i="0">
                <a:solidFill>
                  <a:srgbClr val="DD4A68"/>
                </a:solidFill>
                <a:effectLst/>
                <a:latin typeface="Consolas" panose="020B0609020204030204" pitchFamily="49" charset="0"/>
              </a:rPr>
              <a:t>__</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state_dim</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action_dim</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669900"/>
                </a:solidFill>
                <a:effectLst/>
                <a:latin typeface="Consolas" panose="020B0609020204030204" pitchFamily="49" charset="0"/>
              </a:rPr>
              <a:t>super</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DQN</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__</a:t>
            </a:r>
            <a:r>
              <a:rPr lang="en-IN" b="0" i="0" err="1">
                <a:solidFill>
                  <a:srgbClr val="000000"/>
                </a:solidFill>
                <a:effectLst/>
                <a:latin typeface="Consolas" panose="020B0609020204030204" pitchFamily="49" charset="0"/>
              </a:rPr>
              <a:t>init</a:t>
            </a:r>
            <a:r>
              <a:rPr lang="en-IN" b="0" i="0">
                <a:solidFill>
                  <a:srgbClr val="000000"/>
                </a:solidFill>
                <a:effectLst/>
                <a:latin typeface="Consolas" panose="020B0609020204030204" pitchFamily="49" charset="0"/>
              </a:rPr>
              <a:t>__</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fc1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nn</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Linear</a:t>
            </a:r>
            <a:r>
              <a:rPr lang="en-IN" b="0" i="0">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state_dim</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a:solidFill>
                  <a:srgbClr val="990055"/>
                </a:solidFill>
                <a:effectLst/>
                <a:latin typeface="Consolas" panose="020B0609020204030204" pitchFamily="49" charset="0"/>
              </a:rPr>
              <a:t>128</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fc2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nn</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Linear</a:t>
            </a:r>
            <a:r>
              <a:rPr lang="en-IN" b="0" i="0">
                <a:solidFill>
                  <a:srgbClr val="999999"/>
                </a:solidFill>
                <a:effectLst/>
                <a:latin typeface="Consolas" panose="020B0609020204030204" pitchFamily="49" charset="0"/>
              </a:rPr>
              <a:t>(</a:t>
            </a:r>
            <a:r>
              <a:rPr lang="en-IN" b="0" i="0">
                <a:solidFill>
                  <a:srgbClr val="990055"/>
                </a:solidFill>
                <a:effectLst/>
                <a:latin typeface="Consolas" panose="020B0609020204030204" pitchFamily="49" charset="0"/>
              </a:rPr>
              <a:t>128</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a:solidFill>
                  <a:srgbClr val="990055"/>
                </a:solidFill>
                <a:effectLst/>
                <a:latin typeface="Consolas" panose="020B0609020204030204" pitchFamily="49" charset="0"/>
              </a:rPr>
              <a:t>128</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fc3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nn</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Linear</a:t>
            </a:r>
            <a:r>
              <a:rPr lang="en-IN" b="0" i="0">
                <a:solidFill>
                  <a:srgbClr val="999999"/>
                </a:solidFill>
                <a:effectLst/>
                <a:latin typeface="Consolas" panose="020B0609020204030204" pitchFamily="49" charset="0"/>
              </a:rPr>
              <a:t>(</a:t>
            </a:r>
            <a:r>
              <a:rPr lang="en-IN" b="0" i="0">
                <a:solidFill>
                  <a:srgbClr val="990055"/>
                </a:solidFill>
                <a:effectLst/>
                <a:latin typeface="Consolas" panose="020B0609020204030204" pitchFamily="49" charset="0"/>
              </a:rPr>
              <a:t>128</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action_dim</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50271646-F002-BF0B-3F53-8BD9CE7046A9}"/>
              </a:ext>
            </a:extLst>
          </p:cNvPr>
          <p:cNvSpPr txBox="1"/>
          <p:nvPr/>
        </p:nvSpPr>
        <p:spPr>
          <a:xfrm>
            <a:off x="7171267" y="3750733"/>
            <a:ext cx="2859950" cy="523220"/>
          </a:xfrm>
          <a:prstGeom prst="rect">
            <a:avLst/>
          </a:prstGeom>
          <a:noFill/>
        </p:spPr>
        <p:txBody>
          <a:bodyPr wrap="none" rtlCol="0">
            <a:spAutoFit/>
          </a:bodyPr>
          <a:lstStyle/>
          <a:p>
            <a:r>
              <a:rPr lang="en-IN" sz="2800" b="1"/>
              <a:t>Class initialisation</a:t>
            </a:r>
          </a:p>
        </p:txBody>
      </p:sp>
      <p:sp>
        <p:nvSpPr>
          <p:cNvPr id="4" name="Arrow: Right 3">
            <a:extLst>
              <a:ext uri="{FF2B5EF4-FFF2-40B4-BE49-F238E27FC236}">
                <a16:creationId xmlns:a16="http://schemas.microsoft.com/office/drawing/2014/main" id="{833F2466-D60E-DE81-26B0-5A9A01035616}"/>
              </a:ext>
            </a:extLst>
          </p:cNvPr>
          <p:cNvSpPr/>
          <p:nvPr/>
        </p:nvSpPr>
        <p:spPr>
          <a:xfrm rot="21075868">
            <a:off x="6239971" y="1683666"/>
            <a:ext cx="468767" cy="66886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9A11AFEB-7C4C-38F5-3F37-26698A3CB6C5}"/>
              </a:ext>
            </a:extLst>
          </p:cNvPr>
          <p:cNvSpPr/>
          <p:nvPr/>
        </p:nvSpPr>
        <p:spPr>
          <a:xfrm rot="1789861">
            <a:off x="4802575" y="3684214"/>
            <a:ext cx="1530071" cy="34118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29056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4" grpId="0"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450A9-B882-F0B3-9416-E203C447833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DA00106-DCBC-F96C-0658-9C1A3ECF598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AA5C710E-348E-F45C-848D-AEA4AEB7C1E7}"/>
              </a:ext>
            </a:extLst>
          </p:cNvPr>
          <p:cNvSpPr txBox="1"/>
          <p:nvPr/>
        </p:nvSpPr>
        <p:spPr>
          <a:xfrm>
            <a:off x="160868" y="2707269"/>
            <a:ext cx="6112932" cy="1200329"/>
          </a:xfrm>
          <a:prstGeom prst="rect">
            <a:avLst/>
          </a:prstGeom>
          <a:noFill/>
          <a:ln w="44450">
            <a:solidFill>
              <a:srgbClr val="0070C0"/>
            </a:solidFill>
          </a:ln>
        </p:spPr>
        <p:txBody>
          <a:bodyPr wrap="square">
            <a:spAutoFit/>
          </a:bodyPr>
          <a:lstStyle/>
          <a:p>
            <a:pPr algn="l" latinLnBrk="0">
              <a:buNone/>
            </a:pP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forward</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x</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x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torch</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relu</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fc1</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x</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x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torch</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relu</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fc2</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x</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return</a:t>
            </a:r>
            <a:r>
              <a:rPr lang="en-IN" b="0" i="0">
                <a:solidFill>
                  <a:srgbClr val="000000"/>
                </a:solidFill>
                <a:effectLst/>
                <a:latin typeface="Consolas" panose="020B0609020204030204" pitchFamily="49" charset="0"/>
              </a:rPr>
              <a:t> 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fc3</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x</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67896817-B3E9-E90B-FCDF-599F944666C6}"/>
              </a:ext>
            </a:extLst>
          </p:cNvPr>
          <p:cNvSpPr txBox="1"/>
          <p:nvPr/>
        </p:nvSpPr>
        <p:spPr>
          <a:xfrm>
            <a:off x="6951132" y="3802502"/>
            <a:ext cx="4623857" cy="1477328"/>
          </a:xfrm>
          <a:prstGeom prst="rect">
            <a:avLst/>
          </a:prstGeom>
          <a:noFill/>
          <a:ln w="41275">
            <a:solidFill>
              <a:srgbClr val="C00000"/>
            </a:solidFill>
          </a:ln>
        </p:spPr>
        <p:txBody>
          <a:bodyPr wrap="square">
            <a:spAutoFit/>
          </a:bodyPr>
          <a:lstStyle/>
          <a:p>
            <a:r>
              <a:rPr lang="en-US" b="1" i="0">
                <a:solidFill>
                  <a:srgbClr val="2A2A2A"/>
                </a:solidFill>
                <a:effectLst/>
                <a:latin typeface="Work Sans" pitchFamily="2" charset="0"/>
              </a:rPr>
              <a:t>Forward Method </a:t>
            </a:r>
            <a:r>
              <a:rPr lang="en-US" b="0" i="0">
                <a:solidFill>
                  <a:srgbClr val="2A2A2A"/>
                </a:solidFill>
                <a:effectLst/>
                <a:latin typeface="Work Sans" pitchFamily="2" charset="0"/>
              </a:rPr>
              <a:t>The </a:t>
            </a:r>
            <a:r>
              <a:rPr lang="en-US" b="0" i="0">
                <a:solidFill>
                  <a:srgbClr val="2A2A2A"/>
                </a:solidFill>
                <a:effectLst/>
                <a:latin typeface="Courier New" panose="02070309020205020404" pitchFamily="49" charset="0"/>
              </a:rPr>
              <a:t>forward</a:t>
            </a:r>
            <a:r>
              <a:rPr lang="en-US" b="0" i="0">
                <a:solidFill>
                  <a:srgbClr val="2A2A2A"/>
                </a:solidFill>
                <a:effectLst/>
                <a:latin typeface="Work Sans" pitchFamily="2" charset="0"/>
              </a:rPr>
              <a:t> method defines how data flows through the network. This method is automatically invoked when you pass data through the network.</a:t>
            </a:r>
            <a:endParaRPr lang="en-IN"/>
          </a:p>
        </p:txBody>
      </p:sp>
      <p:sp>
        <p:nvSpPr>
          <p:cNvPr id="9" name="TextBox 8">
            <a:extLst>
              <a:ext uri="{FF2B5EF4-FFF2-40B4-BE49-F238E27FC236}">
                <a16:creationId xmlns:a16="http://schemas.microsoft.com/office/drawing/2014/main" id="{C195FDD5-E6DE-60A2-38DD-82D79C84C365}"/>
              </a:ext>
            </a:extLst>
          </p:cNvPr>
          <p:cNvSpPr txBox="1"/>
          <p:nvPr/>
        </p:nvSpPr>
        <p:spPr>
          <a:xfrm>
            <a:off x="6273800" y="681037"/>
            <a:ext cx="5658907" cy="1477328"/>
          </a:xfrm>
          <a:prstGeom prst="rect">
            <a:avLst/>
          </a:prstGeom>
          <a:noFill/>
          <a:ln w="38100">
            <a:solidFill>
              <a:srgbClr val="C00000"/>
            </a:solidFill>
          </a:ln>
        </p:spPr>
        <p:txBody>
          <a:bodyPr wrap="square">
            <a:spAutoFit/>
          </a:bodyPr>
          <a:lstStyle/>
          <a:p>
            <a:r>
              <a:rPr lang="en-US" b="0" i="0">
                <a:solidFill>
                  <a:srgbClr val="2A2A2A"/>
                </a:solidFill>
                <a:effectLst/>
                <a:latin typeface="Work Sans" pitchFamily="2" charset="0"/>
              </a:rPr>
              <a:t>In the first layer, the input data </a:t>
            </a:r>
            <a:r>
              <a:rPr lang="en-US" b="0" i="0">
                <a:solidFill>
                  <a:srgbClr val="2A2A2A"/>
                </a:solidFill>
                <a:effectLst/>
                <a:latin typeface="Courier New" panose="02070309020205020404" pitchFamily="49" charset="0"/>
              </a:rPr>
              <a:t>x</a:t>
            </a:r>
            <a:r>
              <a:rPr lang="en-US" b="0" i="0">
                <a:solidFill>
                  <a:srgbClr val="2A2A2A"/>
                </a:solidFill>
                <a:effectLst/>
                <a:latin typeface="Work Sans" pitchFamily="2" charset="0"/>
              </a:rPr>
              <a:t> is passed through the first fully connected layer (</a:t>
            </a:r>
            <a:r>
              <a:rPr lang="en-US" b="0" i="0">
                <a:solidFill>
                  <a:srgbClr val="2A2A2A"/>
                </a:solidFill>
                <a:effectLst/>
                <a:latin typeface="Courier New" panose="02070309020205020404" pitchFamily="49" charset="0"/>
              </a:rPr>
              <a:t>self.fc1</a:t>
            </a:r>
            <a:r>
              <a:rPr lang="en-US" b="0" i="0">
                <a:solidFill>
                  <a:srgbClr val="2A2A2A"/>
                </a:solidFill>
                <a:effectLst/>
                <a:latin typeface="Work Sans" pitchFamily="2" charset="0"/>
              </a:rPr>
              <a:t>). The output is then transformed using the </a:t>
            </a:r>
            <a:r>
              <a:rPr lang="en-US" b="0" i="0" err="1">
                <a:solidFill>
                  <a:srgbClr val="2A2A2A"/>
                </a:solidFill>
                <a:effectLst/>
                <a:latin typeface="Work Sans" pitchFamily="2" charset="0"/>
              </a:rPr>
              <a:t>ReLU</a:t>
            </a:r>
            <a:r>
              <a:rPr lang="en-US" b="0" i="0">
                <a:solidFill>
                  <a:srgbClr val="2A2A2A"/>
                </a:solidFill>
                <a:effectLst/>
                <a:latin typeface="Work Sans" pitchFamily="2" charset="0"/>
              </a:rPr>
              <a:t> (Rectified Linear Unit) activation function:</a:t>
            </a:r>
            <a:endParaRPr lang="en-IN"/>
          </a:p>
        </p:txBody>
      </p:sp>
      <p:sp>
        <p:nvSpPr>
          <p:cNvPr id="4" name="Arrow: Right 3">
            <a:extLst>
              <a:ext uri="{FF2B5EF4-FFF2-40B4-BE49-F238E27FC236}">
                <a16:creationId xmlns:a16="http://schemas.microsoft.com/office/drawing/2014/main" id="{738F8852-F72F-6088-E42F-2490070E712A}"/>
              </a:ext>
            </a:extLst>
          </p:cNvPr>
          <p:cNvSpPr/>
          <p:nvPr/>
        </p:nvSpPr>
        <p:spPr>
          <a:xfrm rot="19548518">
            <a:off x="4977469" y="1823931"/>
            <a:ext cx="1530071" cy="66886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74185B90-556C-D86E-79BC-9280B8F61572}"/>
              </a:ext>
            </a:extLst>
          </p:cNvPr>
          <p:cNvSpPr/>
          <p:nvPr/>
        </p:nvSpPr>
        <p:spPr>
          <a:xfrm rot="1625780">
            <a:off x="5352699" y="3896628"/>
            <a:ext cx="1530071" cy="66886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6729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4"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EE54-D3F7-F418-F1E9-ACA4A3F8374E}"/>
              </a:ext>
            </a:extLst>
          </p:cNvPr>
          <p:cNvSpPr>
            <a:spLocks noGrp="1"/>
          </p:cNvSpPr>
          <p:nvPr>
            <p:ph type="title"/>
          </p:nvPr>
        </p:nvSpPr>
        <p:spPr/>
        <p:txBody>
          <a:bodyPr>
            <a:normAutofit fontScale="90000"/>
          </a:bodyPr>
          <a:lstStyle/>
          <a:p>
            <a:r>
              <a:rPr lang="en-IN" b="1"/>
              <a:t>Implementing Experience Replay</a:t>
            </a:r>
            <a:br>
              <a:rPr lang="en-IN" b="1"/>
            </a:br>
            <a:endParaRPr lang="en-IN"/>
          </a:p>
        </p:txBody>
      </p:sp>
      <p:sp>
        <p:nvSpPr>
          <p:cNvPr id="3" name="Content Placeholder 2">
            <a:extLst>
              <a:ext uri="{FF2B5EF4-FFF2-40B4-BE49-F238E27FC236}">
                <a16:creationId xmlns:a16="http://schemas.microsoft.com/office/drawing/2014/main" id="{908797DE-20D6-341F-B560-32C5FE9C2813}"/>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67E2AFFD-1796-C70E-376B-132E48E7C078}"/>
              </a:ext>
            </a:extLst>
          </p:cNvPr>
          <p:cNvSpPr txBox="1"/>
          <p:nvPr/>
        </p:nvSpPr>
        <p:spPr>
          <a:xfrm>
            <a:off x="194735" y="548112"/>
            <a:ext cx="9444565" cy="3970318"/>
          </a:xfrm>
          <a:prstGeom prst="rect">
            <a:avLst/>
          </a:prstGeom>
          <a:noFill/>
          <a:ln w="50800">
            <a:solidFill>
              <a:schemeClr val="accent1"/>
            </a:solidFill>
          </a:ln>
        </p:spPr>
        <p:txBody>
          <a:bodyPr wrap="square">
            <a:spAutoFit/>
          </a:bodyPr>
          <a:lstStyle/>
          <a:p>
            <a:pPr algn="l" latinLnBrk="0">
              <a:buNone/>
            </a:pPr>
            <a:r>
              <a:rPr lang="en-IN" b="0" i="0">
                <a:solidFill>
                  <a:srgbClr val="0077AA"/>
                </a:solidFill>
                <a:effectLst/>
                <a:latin typeface="Consolas" panose="020B0609020204030204" pitchFamily="49" charset="0"/>
              </a:rPr>
              <a:t>class</a:t>
            </a:r>
            <a:r>
              <a:rPr lang="en-IN" b="0" i="0">
                <a:solidFill>
                  <a:srgbClr val="000000"/>
                </a:solidFill>
                <a:effectLst/>
                <a:latin typeface="Consolas" panose="020B0609020204030204" pitchFamily="49" charset="0"/>
              </a:rPr>
              <a:t> </a:t>
            </a:r>
            <a:r>
              <a:rPr lang="en-IN" b="0" i="0" err="1">
                <a:solidFill>
                  <a:srgbClr val="DD4A68"/>
                </a:solidFill>
                <a:effectLst/>
                <a:latin typeface="Consolas" panose="020B0609020204030204" pitchFamily="49" charset="0"/>
              </a:rPr>
              <a:t>ReplayBuffer</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__</a:t>
            </a:r>
            <a:r>
              <a:rPr lang="en-IN" b="0" i="0" err="1">
                <a:solidFill>
                  <a:srgbClr val="DD4A68"/>
                </a:solidFill>
                <a:effectLst/>
                <a:latin typeface="Consolas" panose="020B0609020204030204" pitchFamily="49" charset="0"/>
              </a:rPr>
              <a:t>init</a:t>
            </a:r>
            <a:r>
              <a:rPr lang="en-IN" b="0" i="0">
                <a:solidFill>
                  <a:srgbClr val="DD4A68"/>
                </a:solidFill>
                <a:effectLst/>
                <a:latin typeface="Consolas" panose="020B0609020204030204" pitchFamily="49" charset="0"/>
              </a:rPr>
              <a:t>__</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capacity</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self</a:t>
            </a:r>
            <a:r>
              <a:rPr lang="en-IN" b="0" i="0" err="1">
                <a:solidFill>
                  <a:srgbClr val="999999"/>
                </a:solidFill>
                <a:effectLst/>
                <a:latin typeface="Consolas" panose="020B0609020204030204" pitchFamily="49" charset="0"/>
              </a:rPr>
              <a:t>.</a:t>
            </a:r>
            <a:r>
              <a:rPr lang="en-IN" b="0" i="0" err="1">
                <a:solidFill>
                  <a:srgbClr val="669900"/>
                </a:solidFill>
                <a:effectLst/>
                <a:latin typeface="Consolas" panose="020B0609020204030204" pitchFamily="49" charset="0"/>
              </a:rPr>
              <a:t>buffer</a:t>
            </a:r>
            <a:r>
              <a:rPr lang="en-IN" b="0" i="0">
                <a:solidFill>
                  <a:srgbClr val="000000"/>
                </a:solidFill>
                <a:effectLst/>
                <a:latin typeface="Consolas" panose="020B0609020204030204" pitchFamily="49" charset="0"/>
              </a:rPr>
              <a:t>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deque</a:t>
            </a:r>
            <a:r>
              <a:rPr lang="en-IN" b="0" i="0">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maxlen</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capacity</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push</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state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action</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reward</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next_state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done</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self</a:t>
            </a:r>
            <a:r>
              <a:rPr lang="en-IN" b="0" i="0" err="1">
                <a:solidFill>
                  <a:srgbClr val="999999"/>
                </a:solidFill>
                <a:effectLst/>
                <a:latin typeface="Consolas" panose="020B0609020204030204" pitchFamily="49" charset="0"/>
              </a:rPr>
              <a:t>.</a:t>
            </a:r>
            <a:r>
              <a:rPr lang="en-IN" b="0" i="0" err="1">
                <a:solidFill>
                  <a:srgbClr val="669900"/>
                </a:solidFill>
                <a:effectLst/>
                <a:latin typeface="Consolas" panose="020B0609020204030204" pitchFamily="49" charset="0"/>
              </a:rPr>
              <a:t>buffer</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append</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state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action</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reward</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next_state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done</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sample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batch_size</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state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action</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reward</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next_state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done </a:t>
            </a:r>
            <a:r>
              <a:rPr lang="en-IN" b="0" i="0">
                <a:solidFill>
                  <a:srgbClr val="9A6E3A"/>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a:solidFill>
                  <a:srgbClr val="669900"/>
                </a:solidFill>
                <a:effectLst/>
                <a:latin typeface="Consolas" panose="020B0609020204030204" pitchFamily="49" charset="0"/>
              </a:rPr>
              <a:t>zip</a:t>
            </a:r>
            <a:r>
              <a:rPr lang="en-IN" b="0" i="0">
                <a:solidFill>
                  <a:srgbClr val="999999"/>
                </a:solidFill>
                <a:effectLst/>
                <a:latin typeface="Consolas" panose="020B0609020204030204" pitchFamily="49" charset="0"/>
              </a:rPr>
              <a:t>(</a:t>
            </a:r>
            <a:r>
              <a:rPr lang="en-IN" b="0" i="0">
                <a:solidFill>
                  <a:srgbClr val="9A6E3A"/>
                </a:solidFill>
                <a:effectLst/>
                <a:latin typeface="Consolas" panose="020B0609020204030204" pitchFamily="49" charset="0"/>
              </a:rPr>
              <a:t>*</a:t>
            </a:r>
            <a:r>
              <a:rPr lang="en-IN" b="0" i="0" err="1">
                <a:solidFill>
                  <a:srgbClr val="000000"/>
                </a:solidFill>
                <a:effectLst/>
                <a:latin typeface="Consolas" panose="020B0609020204030204" pitchFamily="49" charset="0"/>
              </a:rPr>
              <a:t>random</a:t>
            </a:r>
            <a:r>
              <a:rPr lang="en-IN" b="0" i="0" err="1">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sample</a:t>
            </a:r>
            <a:r>
              <a:rPr lang="en-IN" b="0" i="0">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self</a:t>
            </a:r>
            <a:r>
              <a:rPr lang="en-IN" b="0" i="0" err="1">
                <a:solidFill>
                  <a:srgbClr val="999999"/>
                </a:solidFill>
                <a:effectLst/>
                <a:latin typeface="Consolas" panose="020B0609020204030204" pitchFamily="49" charset="0"/>
              </a:rPr>
              <a:t>.</a:t>
            </a:r>
            <a:r>
              <a:rPr lang="en-IN" b="0" i="0" err="1">
                <a:solidFill>
                  <a:srgbClr val="669900"/>
                </a:solidFill>
                <a:effectLst/>
                <a:latin typeface="Consolas" panose="020B0609020204030204" pitchFamily="49" charset="0"/>
              </a:rPr>
              <a:t>buffer</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batch_size</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return</a:t>
            </a:r>
            <a:r>
              <a:rPr lang="en-IN" b="0" i="0">
                <a:solidFill>
                  <a:srgbClr val="000000"/>
                </a:solidFill>
                <a:effectLst/>
                <a:latin typeface="Consolas" panose="020B0609020204030204" pitchFamily="49" charset="0"/>
              </a:rPr>
              <a:t> state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action</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reward</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next_state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done</a:t>
            </a:r>
          </a:p>
          <a:p>
            <a:pPr algn="l" latinLnBrk="0">
              <a:buNone/>
            </a:pP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__</a:t>
            </a:r>
            <a:r>
              <a:rPr lang="en-IN" b="0" i="0" err="1">
                <a:solidFill>
                  <a:srgbClr val="DD4A68"/>
                </a:solidFill>
                <a:effectLst/>
                <a:latin typeface="Consolas" panose="020B0609020204030204" pitchFamily="49" charset="0"/>
              </a:rPr>
              <a:t>len</a:t>
            </a:r>
            <a:r>
              <a:rPr lang="en-IN" b="0" i="0">
                <a:solidFill>
                  <a:srgbClr val="DD4A68"/>
                </a:solidFill>
                <a:effectLst/>
                <a:latin typeface="Consolas" panose="020B0609020204030204" pitchFamily="49" charset="0"/>
              </a:rPr>
              <a:t>__</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return</a:t>
            </a:r>
            <a:r>
              <a:rPr lang="en-IN" b="0" i="0">
                <a:solidFill>
                  <a:srgbClr val="000000"/>
                </a:solidFill>
                <a:effectLst/>
                <a:latin typeface="Consolas" panose="020B0609020204030204" pitchFamily="49" charset="0"/>
              </a:rPr>
              <a:t> </a:t>
            </a:r>
            <a:r>
              <a:rPr lang="en-IN" b="0" i="0" err="1">
                <a:solidFill>
                  <a:srgbClr val="669900"/>
                </a:solidFill>
                <a:effectLst/>
                <a:latin typeface="Consolas" panose="020B0609020204030204" pitchFamily="49" charset="0"/>
              </a:rPr>
              <a:t>len</a:t>
            </a:r>
            <a:r>
              <a:rPr lang="en-IN" b="0" i="0">
                <a:solidFill>
                  <a:srgbClr val="999999"/>
                </a:solidFill>
                <a:effectLst/>
                <a:latin typeface="Consolas" panose="020B0609020204030204" pitchFamily="49" charset="0"/>
              </a:rPr>
              <a:t>(</a:t>
            </a:r>
            <a:r>
              <a:rPr lang="en-IN" b="0" i="0" err="1">
                <a:solidFill>
                  <a:srgbClr val="000000"/>
                </a:solidFill>
                <a:effectLst/>
                <a:latin typeface="Consolas" panose="020B0609020204030204" pitchFamily="49" charset="0"/>
              </a:rPr>
              <a:t>self</a:t>
            </a:r>
            <a:r>
              <a:rPr lang="en-IN" b="0" i="0" err="1">
                <a:solidFill>
                  <a:srgbClr val="999999"/>
                </a:solidFill>
                <a:effectLst/>
                <a:latin typeface="Consolas" panose="020B0609020204030204" pitchFamily="49" charset="0"/>
              </a:rPr>
              <a:t>.</a:t>
            </a:r>
            <a:r>
              <a:rPr lang="en-IN" b="0" i="0" err="1">
                <a:solidFill>
                  <a:srgbClr val="669900"/>
                </a:solidFill>
                <a:effectLst/>
                <a:latin typeface="Consolas" panose="020B0609020204030204" pitchFamily="49" charset="0"/>
              </a:rPr>
              <a:t>buffer</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7E8AB442-F457-B92C-F4BE-033F5AA40412}"/>
              </a:ext>
            </a:extLst>
          </p:cNvPr>
          <p:cNvSpPr txBox="1"/>
          <p:nvPr/>
        </p:nvSpPr>
        <p:spPr>
          <a:xfrm>
            <a:off x="335492" y="4821912"/>
            <a:ext cx="11754909" cy="1200329"/>
          </a:xfrm>
          <a:prstGeom prst="rect">
            <a:avLst/>
          </a:prstGeom>
          <a:noFill/>
          <a:ln w="41275">
            <a:solidFill>
              <a:srgbClr val="C00000"/>
            </a:solidFill>
          </a:ln>
        </p:spPr>
        <p:txBody>
          <a:bodyPr wrap="square">
            <a:spAutoFit/>
          </a:bodyPr>
          <a:lstStyle/>
          <a:p>
            <a:r>
              <a:rPr lang="en-US" b="0" i="0">
                <a:solidFill>
                  <a:srgbClr val="2A2A2A"/>
                </a:solidFill>
                <a:effectLst/>
                <a:latin typeface="Work Sans" pitchFamily="2" charset="0"/>
              </a:rPr>
              <a:t>.. </a:t>
            </a:r>
            <a:r>
              <a:rPr lang="en-US"/>
              <a:t>The __</a:t>
            </a:r>
            <a:r>
              <a:rPr lang="en-US" err="1"/>
              <a:t>init</a:t>
            </a:r>
            <a:r>
              <a:rPr lang="en-US"/>
              <a:t>__ method initializes a deque (double-ended queue) with a fixed capacity. The double-ended queue allows you to append and pop items from both ends efficiently. he push method adds a new experience to the buffer. Each experience is a tuple consisting of state, action, reward, </a:t>
            </a:r>
            <a:r>
              <a:rPr lang="en-US" err="1"/>
              <a:t>next_state</a:t>
            </a:r>
            <a:r>
              <a:rPr lang="en-US"/>
              <a:t>, and done:. </a:t>
            </a:r>
            <a:r>
              <a:rPr lang="en-US" err="1"/>
              <a:t>random.sample</a:t>
            </a:r>
            <a:r>
              <a:rPr lang="en-US"/>
              <a:t>(</a:t>
            </a:r>
            <a:r>
              <a:rPr lang="en-US" err="1"/>
              <a:t>self.buffer</a:t>
            </a:r>
            <a:r>
              <a:rPr lang="en-US"/>
              <a:t>, </a:t>
            </a:r>
            <a:r>
              <a:rPr lang="en-US" err="1"/>
              <a:t>batch_size</a:t>
            </a:r>
            <a:r>
              <a:rPr lang="en-US"/>
              <a:t>) randomly selects </a:t>
            </a:r>
            <a:r>
              <a:rPr lang="en-US" err="1"/>
              <a:t>batch_size</a:t>
            </a:r>
            <a:r>
              <a:rPr lang="en-US"/>
              <a:t> experiences from the buffer.</a:t>
            </a:r>
            <a:endParaRPr lang="en-IN"/>
          </a:p>
        </p:txBody>
      </p:sp>
      <p:sp>
        <p:nvSpPr>
          <p:cNvPr id="6" name="TextBox 5">
            <a:extLst>
              <a:ext uri="{FF2B5EF4-FFF2-40B4-BE49-F238E27FC236}">
                <a16:creationId xmlns:a16="http://schemas.microsoft.com/office/drawing/2014/main" id="{18459240-906A-5067-14E4-FCBFCEC107DB}"/>
              </a:ext>
            </a:extLst>
          </p:cNvPr>
          <p:cNvSpPr txBox="1"/>
          <p:nvPr/>
        </p:nvSpPr>
        <p:spPr>
          <a:xfrm>
            <a:off x="8294689" y="0"/>
            <a:ext cx="3795712" cy="3693319"/>
          </a:xfrm>
          <a:prstGeom prst="rect">
            <a:avLst/>
          </a:prstGeom>
          <a:noFill/>
          <a:ln w="38100">
            <a:solidFill>
              <a:srgbClr val="C00000"/>
            </a:solidFill>
          </a:ln>
        </p:spPr>
        <p:txBody>
          <a:bodyPr wrap="square">
            <a:spAutoFit/>
          </a:bodyPr>
          <a:lstStyle/>
          <a:p>
            <a:r>
              <a:rPr lang="en-US" b="0" i="0">
                <a:solidFill>
                  <a:srgbClr val="2A2A2A"/>
                </a:solidFill>
                <a:effectLst/>
                <a:latin typeface="Work Sans" pitchFamily="2" charset="0"/>
              </a:rPr>
              <a:t>The </a:t>
            </a:r>
            <a:r>
              <a:rPr lang="en-US" b="0" i="0" err="1">
                <a:solidFill>
                  <a:srgbClr val="2A2A2A"/>
                </a:solidFill>
                <a:effectLst/>
                <a:latin typeface="Courier New" panose="02070309020205020404" pitchFamily="49" charset="0"/>
              </a:rPr>
              <a:t>ReplayBuffer</a:t>
            </a:r>
            <a:r>
              <a:rPr lang="en-US" b="0" i="0">
                <a:solidFill>
                  <a:srgbClr val="2A2A2A"/>
                </a:solidFill>
                <a:effectLst/>
                <a:latin typeface="Work Sans" pitchFamily="2" charset="0"/>
              </a:rPr>
              <a:t> class provides a mechanism to store and sample experiences, which is essential for stabilizing and improving the learning process in DQNs</a:t>
            </a:r>
          </a:p>
          <a:p>
            <a:endParaRPr lang="en-US" b="0" i="0">
              <a:solidFill>
                <a:srgbClr val="2A2A2A"/>
              </a:solidFill>
              <a:effectLst/>
              <a:latin typeface="Work Sans" pitchFamily="2" charset="0"/>
            </a:endParaRPr>
          </a:p>
          <a:p>
            <a:r>
              <a:rPr lang="en-US">
                <a:solidFill>
                  <a:srgbClr val="2A2A2A"/>
                </a:solidFill>
                <a:latin typeface="Work Sans" pitchFamily="2" charset="0"/>
              </a:rPr>
              <a:t>Therefore, it enables the agent to learn from a diverse set of past experiences, enhancing its ability to generalize and perform well in complex environments</a:t>
            </a:r>
            <a:endParaRPr lang="en-IN"/>
          </a:p>
        </p:txBody>
      </p:sp>
      <p:sp>
        <p:nvSpPr>
          <p:cNvPr id="8" name="Arrow: Right 7">
            <a:extLst>
              <a:ext uri="{FF2B5EF4-FFF2-40B4-BE49-F238E27FC236}">
                <a16:creationId xmlns:a16="http://schemas.microsoft.com/office/drawing/2014/main" id="{2EF028FB-9F02-E3B0-604D-DDD2F6667DF4}"/>
              </a:ext>
            </a:extLst>
          </p:cNvPr>
          <p:cNvSpPr/>
          <p:nvPr/>
        </p:nvSpPr>
        <p:spPr>
          <a:xfrm>
            <a:off x="6076422" y="501325"/>
            <a:ext cx="2218267" cy="48285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F677337C-E1F8-D8D6-E471-DEDD5FEEFCEF}"/>
              </a:ext>
            </a:extLst>
          </p:cNvPr>
          <p:cNvSpPr/>
          <p:nvPr/>
        </p:nvSpPr>
        <p:spPr>
          <a:xfrm rot="2232411">
            <a:off x="7705688" y="4136544"/>
            <a:ext cx="1178004" cy="48285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9976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C68C7-DEBA-115D-61DA-3D5F759CD527}"/>
              </a:ext>
            </a:extLst>
          </p:cNvPr>
          <p:cNvSpPr>
            <a:spLocks noGrp="1"/>
          </p:cNvSpPr>
          <p:nvPr>
            <p:ph type="title"/>
          </p:nvPr>
        </p:nvSpPr>
        <p:spPr/>
        <p:txBody>
          <a:bodyPr>
            <a:normAutofit fontScale="90000"/>
          </a:bodyPr>
          <a:lstStyle/>
          <a:p>
            <a:r>
              <a:rPr lang="en-IN" b="1"/>
              <a:t>Implementing the Target Network</a:t>
            </a:r>
            <a:br>
              <a:rPr lang="en-IN" b="1"/>
            </a:br>
            <a:endParaRPr lang="en-IN"/>
          </a:p>
        </p:txBody>
      </p:sp>
      <p:sp>
        <p:nvSpPr>
          <p:cNvPr id="5" name="TextBox 4">
            <a:extLst>
              <a:ext uri="{FF2B5EF4-FFF2-40B4-BE49-F238E27FC236}">
                <a16:creationId xmlns:a16="http://schemas.microsoft.com/office/drawing/2014/main" id="{56F982FA-6BFF-1939-90E2-D049B59C0694}"/>
              </a:ext>
            </a:extLst>
          </p:cNvPr>
          <p:cNvSpPr txBox="1"/>
          <p:nvPr/>
        </p:nvSpPr>
        <p:spPr>
          <a:xfrm>
            <a:off x="795867" y="-8116600"/>
            <a:ext cx="10024533" cy="646331"/>
          </a:xfrm>
          <a:prstGeom prst="rect">
            <a:avLst/>
          </a:prstGeom>
          <a:noFill/>
        </p:spPr>
        <p:txBody>
          <a:bodyPr wrap="square">
            <a:spAutoFit/>
          </a:bodyPr>
          <a:lstStyle/>
          <a:p>
            <a:pPr algn="l" latinLnBrk="0">
              <a:buNone/>
            </a:pPr>
            <a:r>
              <a:rPr lang="en-IN" b="0" i="0">
                <a:solidFill>
                  <a:srgbClr val="000000"/>
                </a:solidFill>
                <a:effectLst/>
                <a:latin typeface="Consolas" panose="020B0609020204030204" pitchFamily="49" charset="0"/>
              </a:rPr>
              <a:t>        </a:t>
            </a:r>
          </a:p>
          <a:p>
            <a:pPr algn="l" latinLnBrk="0">
              <a:buNone/>
            </a:pPr>
            <a:r>
              <a:rPr lang="en-IN" b="0" i="0">
                <a:solidFill>
                  <a:srgbClr val="000000"/>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F7735FCC-5F65-9A27-5727-AC601B88BBA0}"/>
              </a:ext>
            </a:extLst>
          </p:cNvPr>
          <p:cNvSpPr txBox="1"/>
          <p:nvPr/>
        </p:nvSpPr>
        <p:spPr>
          <a:xfrm>
            <a:off x="753534" y="1312365"/>
            <a:ext cx="10600266" cy="1754326"/>
          </a:xfrm>
          <a:prstGeom prst="rect">
            <a:avLst/>
          </a:prstGeom>
          <a:noFill/>
          <a:ln w="47625">
            <a:solidFill>
              <a:schemeClr val="accent1"/>
            </a:solidFill>
          </a:ln>
        </p:spPr>
        <p:txBody>
          <a:bodyPr wrap="square">
            <a:spAutoFit/>
          </a:bodyPr>
          <a:lstStyle/>
          <a:p>
            <a:pPr algn="l" latinLnBrk="0">
              <a:buNone/>
            </a:pPr>
            <a:r>
              <a:rPr lang="en-IN" b="0" i="0">
                <a:solidFill>
                  <a:srgbClr val="0077AA"/>
                </a:solidFill>
                <a:effectLst/>
                <a:latin typeface="Consolas" panose="020B0609020204030204" pitchFamily="49" charset="0"/>
              </a:rPr>
              <a:t>class</a:t>
            </a:r>
            <a:r>
              <a:rPr lang="en-IN" b="0" i="0">
                <a:solidFill>
                  <a:srgbClr val="000000"/>
                </a:solidFill>
                <a:effectLst/>
                <a:latin typeface="Consolas" panose="020B0609020204030204" pitchFamily="49" charset="0"/>
              </a:rPr>
              <a:t> </a:t>
            </a:r>
            <a:r>
              <a:rPr lang="en-IN" b="0" i="0" err="1">
                <a:solidFill>
                  <a:srgbClr val="DD4A68"/>
                </a:solidFill>
                <a:effectLst/>
                <a:latin typeface="Consolas" panose="020B0609020204030204" pitchFamily="49" charset="0"/>
              </a:rPr>
              <a:t>DQNTrainer</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__</a:t>
            </a:r>
            <a:r>
              <a:rPr lang="en-IN" b="0" i="0" err="1">
                <a:solidFill>
                  <a:srgbClr val="DD4A68"/>
                </a:solidFill>
                <a:effectLst/>
                <a:latin typeface="Consolas" panose="020B0609020204030204" pitchFamily="49" charset="0"/>
              </a:rPr>
              <a:t>init</a:t>
            </a:r>
            <a:r>
              <a:rPr lang="en-IN" b="0" i="0">
                <a:solidFill>
                  <a:srgbClr val="DD4A68"/>
                </a:solidFill>
                <a:effectLst/>
                <a:latin typeface="Consolas" panose="020B0609020204030204" pitchFamily="49" charset="0"/>
              </a:rPr>
              <a:t>__</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env</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main_network</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target_network</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optimizer</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replay_buffer</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model_path</a:t>
            </a:r>
            <a:r>
              <a:rPr lang="en-IN" b="0" i="0">
                <a:solidFill>
                  <a:srgbClr val="9A6E3A"/>
                </a:solidFill>
                <a:effectLst/>
                <a:latin typeface="Consolas" panose="020B0609020204030204" pitchFamily="49" charset="0"/>
              </a:rPr>
              <a:t>=</a:t>
            </a:r>
            <a:r>
              <a:rPr lang="en-IN" b="0" i="0">
                <a:solidFill>
                  <a:srgbClr val="669900"/>
                </a:solidFill>
                <a:effectLst/>
                <a:latin typeface="Consolas" panose="020B0609020204030204" pitchFamily="49" charset="0"/>
              </a:rPr>
              <a:t>'model/</a:t>
            </a:r>
            <a:r>
              <a:rPr lang="en-IN" b="0" i="0" err="1">
                <a:solidFill>
                  <a:srgbClr val="669900"/>
                </a:solidFill>
                <a:effectLst/>
                <a:latin typeface="Consolas" panose="020B0609020204030204" pitchFamily="49" charset="0"/>
              </a:rPr>
              <a:t>model.pth</a:t>
            </a:r>
            <a:r>
              <a:rPr lang="en-IN" b="0" i="0">
                <a:solidFill>
                  <a:srgbClr val="669900"/>
                </a:solidFill>
                <a:effectLst/>
                <a:latin typeface="Consolas" panose="020B0609020204030204" pitchFamily="49" charset="0"/>
              </a:rPr>
              <a:t>'</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gamma</a:t>
            </a:r>
            <a:r>
              <a:rPr lang="en-IN" b="0" i="0">
                <a:solidFill>
                  <a:srgbClr val="9A6E3A"/>
                </a:solidFill>
                <a:effectLst/>
                <a:latin typeface="Consolas" panose="020B0609020204030204" pitchFamily="49" charset="0"/>
              </a:rPr>
              <a:t>=</a:t>
            </a:r>
            <a:r>
              <a:rPr lang="en-IN" b="0" i="0">
                <a:solidFill>
                  <a:srgbClr val="990055"/>
                </a:solidFill>
                <a:effectLst/>
                <a:latin typeface="Consolas" panose="020B0609020204030204" pitchFamily="49" charset="0"/>
              </a:rPr>
              <a:t>0.99</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batch_size</a:t>
            </a:r>
            <a:r>
              <a:rPr lang="en-IN" b="0" i="0">
                <a:solidFill>
                  <a:srgbClr val="9A6E3A"/>
                </a:solidFill>
                <a:effectLst/>
                <a:latin typeface="Consolas" panose="020B0609020204030204" pitchFamily="49" charset="0"/>
              </a:rPr>
              <a:t>=</a:t>
            </a:r>
            <a:r>
              <a:rPr lang="en-IN" b="0" i="0">
                <a:solidFill>
                  <a:srgbClr val="990055"/>
                </a:solidFill>
                <a:effectLst/>
                <a:latin typeface="Consolas" panose="020B0609020204030204" pitchFamily="49" charset="0"/>
              </a:rPr>
              <a:t>64</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target_update_frequency</a:t>
            </a:r>
            <a:r>
              <a:rPr lang="en-IN" b="0" i="0">
                <a:solidFill>
                  <a:srgbClr val="9A6E3A"/>
                </a:solidFill>
                <a:effectLst/>
                <a:latin typeface="Consolas" panose="020B0609020204030204" pitchFamily="49" charset="0"/>
              </a:rPr>
              <a:t>=</a:t>
            </a:r>
            <a:r>
              <a:rPr lang="en-IN" b="0" i="0">
                <a:solidFill>
                  <a:srgbClr val="990055"/>
                </a:solidFill>
                <a:effectLst/>
                <a:latin typeface="Consolas" panose="020B0609020204030204" pitchFamily="49" charset="0"/>
              </a:rPr>
              <a:t>1000</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train</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num_episodes</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save</a:t>
            </a:r>
            <a:r>
              <a:rPr lang="en-IN" b="0" i="0">
                <a:solidFill>
                  <a:srgbClr val="9A6E3A"/>
                </a:solidFill>
                <a:effectLst/>
                <a:latin typeface="Consolas" panose="020B0609020204030204" pitchFamily="49" charset="0"/>
              </a:rPr>
              <a:t>=</a:t>
            </a:r>
            <a:r>
              <a:rPr lang="en-IN" b="0" i="0">
                <a:solidFill>
                  <a:srgbClr val="990055"/>
                </a:solidFill>
                <a:effectLst/>
                <a:latin typeface="Consolas" panose="020B0609020204030204" pitchFamily="49" charset="0"/>
              </a:rPr>
              <a:t>True</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82B24EBD-9B06-08AA-98C7-E1932B4E9F77}"/>
              </a:ext>
            </a:extLst>
          </p:cNvPr>
          <p:cNvSpPr txBox="1"/>
          <p:nvPr/>
        </p:nvSpPr>
        <p:spPr>
          <a:xfrm>
            <a:off x="753534" y="3791309"/>
            <a:ext cx="10600266" cy="1754326"/>
          </a:xfrm>
          <a:prstGeom prst="rect">
            <a:avLst/>
          </a:prstGeom>
          <a:noFill/>
          <a:ln w="53975">
            <a:solidFill>
              <a:schemeClr val="accent1"/>
            </a:solidFill>
          </a:ln>
        </p:spPr>
        <p:txBody>
          <a:bodyPr wrap="square">
            <a:spAutoFit/>
          </a:bodyPr>
          <a:lstStyle/>
          <a:p>
            <a:pPr algn="l" latinLnBrk="0">
              <a:buNone/>
            </a:pPr>
            <a:r>
              <a:rPr lang="en-IN" b="0" i="0">
                <a:solidFill>
                  <a:srgbClr val="0077AA"/>
                </a:solidFill>
                <a:effectLst/>
                <a:latin typeface="Consolas" panose="020B0609020204030204" pitchFamily="49" charset="0"/>
              </a:rPr>
              <a:t>class</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Optimizer</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__</a:t>
            </a:r>
            <a:r>
              <a:rPr lang="en-IN" b="0" i="0" err="1">
                <a:solidFill>
                  <a:srgbClr val="DD4A68"/>
                </a:solidFill>
                <a:effectLst/>
                <a:latin typeface="Consolas" panose="020B0609020204030204" pitchFamily="49" charset="0"/>
              </a:rPr>
              <a:t>init</a:t>
            </a:r>
            <a:r>
              <a:rPr lang="en-IN" b="0" i="0">
                <a:solidFill>
                  <a:srgbClr val="DD4A68"/>
                </a:solidFill>
                <a:effectLst/>
                <a:latin typeface="Consolas" panose="020B0609020204030204" pitchFamily="49" charset="0"/>
              </a:rPr>
              <a:t>__</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env</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main_network</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target_network</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replay_buffer</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model_path</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params_path</a:t>
            </a:r>
            <a:r>
              <a:rPr lang="en-IN" b="0" i="0">
                <a:solidFill>
                  <a:srgbClr val="9A6E3A"/>
                </a:solidFill>
                <a:effectLst/>
                <a:latin typeface="Consolas" panose="020B0609020204030204" pitchFamily="49" charset="0"/>
              </a:rPr>
              <a:t>=</a:t>
            </a:r>
            <a:r>
              <a:rPr lang="en-IN" b="0" i="0">
                <a:solidFill>
                  <a:srgbClr val="669900"/>
                </a:solidFill>
                <a:effectLst/>
                <a:latin typeface="Consolas" panose="020B0609020204030204" pitchFamily="49" charset="0"/>
              </a:rPr>
              <a:t>'</a:t>
            </a:r>
            <a:r>
              <a:rPr lang="en-IN" b="0" i="0" err="1">
                <a:solidFill>
                  <a:srgbClr val="669900"/>
                </a:solidFill>
                <a:effectLst/>
                <a:latin typeface="Consolas" panose="020B0609020204030204" pitchFamily="49" charset="0"/>
              </a:rPr>
              <a:t>params.pkl</a:t>
            </a:r>
            <a:r>
              <a:rPr lang="en-IN" b="0" i="0">
                <a:solidFill>
                  <a:srgbClr val="669900"/>
                </a:solidFill>
                <a:effectLst/>
                <a:latin typeface="Consolas" panose="020B0609020204030204" pitchFamily="49" charset="0"/>
              </a:rPr>
              <a:t>'</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p>
          <a:p>
            <a:pPr algn="l" latinLnBrk="0">
              <a:buNone/>
            </a:pPr>
            <a:r>
              <a:rPr lang="en-IN" b="0" i="0">
                <a:solidFill>
                  <a:srgbClr val="000000"/>
                </a:solidFill>
                <a:effectLst/>
                <a:latin typeface="Consolas" panose="020B0609020204030204" pitchFamily="49" charset="0"/>
              </a:rPr>
              <a:t>    </a:t>
            </a:r>
            <a:r>
              <a:rPr lang="en-IN" b="0" i="0">
                <a:solidFill>
                  <a:srgbClr val="0077AA"/>
                </a:solidFill>
                <a:effectLst/>
                <a:latin typeface="Consolas" panose="020B0609020204030204" pitchFamily="49" charset="0"/>
              </a:rPr>
              <a:t>def</a:t>
            </a:r>
            <a:r>
              <a:rPr lang="en-IN" b="0" i="0">
                <a:solidFill>
                  <a:srgbClr val="000000"/>
                </a:solidFill>
                <a:effectLst/>
                <a:latin typeface="Consolas" panose="020B0609020204030204" pitchFamily="49" charset="0"/>
              </a:rPr>
              <a:t> </a:t>
            </a:r>
            <a:r>
              <a:rPr lang="en-IN" b="0" i="0">
                <a:solidFill>
                  <a:srgbClr val="DD4A68"/>
                </a:solidFill>
                <a:effectLst/>
                <a:latin typeface="Consolas" panose="020B0609020204030204" pitchFamily="49" charset="0"/>
              </a:rPr>
              <a:t>objective</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self</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trial</a:t>
            </a:r>
            <a:r>
              <a:rPr lang="en-IN" b="0" i="0">
                <a:solidFill>
                  <a:srgbClr val="999999"/>
                </a:solidFill>
                <a:effectLst/>
                <a:latin typeface="Consolas" panose="020B0609020204030204" pitchFamily="49" charset="0"/>
              </a:rPr>
              <a:t>,</a:t>
            </a:r>
            <a:r>
              <a:rPr lang="en-IN" b="0" i="0">
                <a:solidFill>
                  <a:srgbClr val="000000"/>
                </a:solidFill>
                <a:effectLst/>
                <a:latin typeface="Consolas" panose="020B0609020204030204" pitchFamily="49" charset="0"/>
              </a:rPr>
              <a:t> </a:t>
            </a:r>
            <a:r>
              <a:rPr lang="en-IN" b="0" i="0" err="1">
                <a:solidFill>
                  <a:srgbClr val="000000"/>
                </a:solidFill>
                <a:effectLst/>
                <a:latin typeface="Consolas" panose="020B0609020204030204" pitchFamily="49" charset="0"/>
              </a:rPr>
              <a:t>n_episodes</a:t>
            </a:r>
            <a:r>
              <a:rPr lang="en-IN" b="0" i="0">
                <a:solidFill>
                  <a:srgbClr val="9A6E3A"/>
                </a:solidFill>
                <a:effectLst/>
                <a:latin typeface="Consolas" panose="020B0609020204030204" pitchFamily="49" charset="0"/>
              </a:rPr>
              <a:t>=</a:t>
            </a:r>
            <a:r>
              <a:rPr lang="en-IN" b="0" i="0">
                <a:solidFill>
                  <a:srgbClr val="990055"/>
                </a:solidFill>
                <a:effectLst/>
                <a:latin typeface="Consolas" panose="020B0609020204030204" pitchFamily="49" charset="0"/>
              </a:rPr>
              <a:t>10</a:t>
            </a:r>
            <a:r>
              <a:rPr lang="en-IN" b="0" i="0">
                <a:solidFill>
                  <a:srgbClr val="999999"/>
                </a:solidFill>
                <a:effectLst/>
                <a:latin typeface="Consolas" panose="020B0609020204030204" pitchFamily="49" charset="0"/>
              </a:rPr>
              <a:t>):</a:t>
            </a:r>
            <a:endParaRPr lang="en-IN" b="0" i="0">
              <a:solidFill>
                <a:srgbClr val="000000"/>
              </a:solidFill>
              <a:effectLst/>
              <a:latin typeface="Consolas" panose="020B0609020204030204" pitchFamily="49" charset="0"/>
            </a:endParaRPr>
          </a:p>
          <a:p>
            <a:pPr algn="l" latinLnBrk="0">
              <a:buNone/>
            </a:pPr>
            <a:r>
              <a:rPr lang="en-IN" b="0" i="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382100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DBC4B-EEE6-D5C3-901D-0B81E828A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4E7B0-DFD5-C6BD-B2AA-5E6A06B9420F}"/>
              </a:ext>
            </a:extLst>
          </p:cNvPr>
          <p:cNvSpPr>
            <a:spLocks noGrp="1"/>
          </p:cNvSpPr>
          <p:nvPr>
            <p:ph type="title"/>
          </p:nvPr>
        </p:nvSpPr>
        <p:spPr/>
        <p:txBody>
          <a:bodyPr>
            <a:normAutofit fontScale="90000"/>
          </a:bodyPr>
          <a:lstStyle/>
          <a:p>
            <a:r>
              <a:rPr lang="en-US"/>
              <a:t>_</a:t>
            </a:r>
            <a:r>
              <a:rPr lang="en-US" err="1"/>
              <a:t>init</a:t>
            </a:r>
            <a:r>
              <a:rPr lang="en-US"/>
              <a:t> in the </a:t>
            </a:r>
            <a:r>
              <a:rPr lang="en-US" err="1"/>
              <a:t>DQNTrainer</a:t>
            </a:r>
            <a:r>
              <a:rPr lang="en-US"/>
              <a:t> class</a:t>
            </a:r>
            <a:endParaRPr lang="en-IN"/>
          </a:p>
        </p:txBody>
      </p:sp>
      <p:sp>
        <p:nvSpPr>
          <p:cNvPr id="3" name="Content Placeholder 2">
            <a:extLst>
              <a:ext uri="{FF2B5EF4-FFF2-40B4-BE49-F238E27FC236}">
                <a16:creationId xmlns:a16="http://schemas.microsoft.com/office/drawing/2014/main" id="{BEB325D7-E988-6988-83F2-C9718ECCAE9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DEA3E2E1-887E-74CB-C9B1-8ACDE07BB6D0}"/>
              </a:ext>
            </a:extLst>
          </p:cNvPr>
          <p:cNvSpPr txBox="1"/>
          <p:nvPr/>
        </p:nvSpPr>
        <p:spPr>
          <a:xfrm>
            <a:off x="262467" y="913984"/>
            <a:ext cx="6652683" cy="5262979"/>
          </a:xfrm>
          <a:prstGeom prst="rect">
            <a:avLst/>
          </a:prstGeom>
          <a:noFill/>
          <a:ln w="38100">
            <a:solidFill>
              <a:schemeClr val="accent1"/>
            </a:solidFill>
          </a:ln>
        </p:spPr>
        <p:txBody>
          <a:bodyPr wrap="square">
            <a:spAutoFit/>
          </a:bodyPr>
          <a:lstStyle/>
          <a:p>
            <a:pPr algn="l" latinLnBrk="0">
              <a:buNone/>
            </a:pPr>
            <a:r>
              <a:rPr lang="en-IN" sz="1400" b="0" i="0">
                <a:solidFill>
                  <a:srgbClr val="0077AA"/>
                </a:solidFill>
                <a:effectLst/>
                <a:latin typeface="Consolas" panose="020B0609020204030204" pitchFamily="49" charset="0"/>
              </a:rPr>
              <a:t>def</a:t>
            </a:r>
            <a:r>
              <a:rPr lang="en-IN" sz="1400" b="0" i="0">
                <a:solidFill>
                  <a:srgbClr val="000000"/>
                </a:solidFill>
                <a:effectLst/>
                <a:latin typeface="Consolas" panose="020B0609020204030204" pitchFamily="49" charset="0"/>
              </a:rPr>
              <a:t> </a:t>
            </a:r>
            <a:r>
              <a:rPr lang="en-IN" sz="1400" b="0" i="0">
                <a:solidFill>
                  <a:srgbClr val="DD4A68"/>
                </a:solidFill>
                <a:effectLst/>
                <a:latin typeface="Consolas" panose="020B0609020204030204" pitchFamily="49" charset="0"/>
              </a:rPr>
              <a:t>__</a:t>
            </a:r>
            <a:r>
              <a:rPr lang="en-IN" sz="1400" b="0" i="0" err="1">
                <a:solidFill>
                  <a:srgbClr val="DD4A68"/>
                </a:solidFill>
                <a:effectLst/>
                <a:latin typeface="Consolas" panose="020B0609020204030204" pitchFamily="49" charset="0"/>
              </a:rPr>
              <a:t>init</a:t>
            </a:r>
            <a:r>
              <a:rPr lang="en-IN" sz="1400" b="0" i="0">
                <a:solidFill>
                  <a:srgbClr val="DD4A68"/>
                </a:solidFill>
                <a:effectLst/>
                <a:latin typeface="Consolas" panose="020B0609020204030204" pitchFamily="49" charset="0"/>
              </a:rPr>
              <a:t>__</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self</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env</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main_network</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target_network</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optimizer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replay_buffer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model_path</a:t>
            </a:r>
            <a:r>
              <a:rPr lang="en-IN" sz="1400" b="0" i="0">
                <a:solidFill>
                  <a:srgbClr val="9A6E3A"/>
                </a:solidFill>
                <a:effectLst/>
                <a:latin typeface="Consolas" panose="020B0609020204030204" pitchFamily="49" charset="0"/>
              </a:rPr>
              <a:t>=</a:t>
            </a:r>
            <a:r>
              <a:rPr lang="en-IN" sz="1400" b="0" i="0">
                <a:solidFill>
                  <a:srgbClr val="669900"/>
                </a:solidFill>
                <a:effectLst/>
                <a:latin typeface="Consolas" panose="020B0609020204030204" pitchFamily="49" charset="0"/>
              </a:rPr>
              <a:t>'model/</a:t>
            </a:r>
            <a:r>
              <a:rPr lang="en-IN" sz="1400" b="0" i="0" err="1">
                <a:solidFill>
                  <a:srgbClr val="669900"/>
                </a:solidFill>
                <a:effectLst/>
                <a:latin typeface="Consolas" panose="020B0609020204030204" pitchFamily="49" charset="0"/>
              </a:rPr>
              <a:t>model.pth</a:t>
            </a:r>
            <a:r>
              <a:rPr lang="en-IN" sz="1400" b="0" i="0">
                <a:solidFill>
                  <a:srgbClr val="669900"/>
                </a:solidFill>
                <a:effectLst/>
                <a:latin typeface="Consolas" panose="020B0609020204030204" pitchFamily="49" charset="0"/>
              </a:rPr>
              <a:t>'</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gamma</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0.99</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batch_size</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64</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target_update_frequency</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1000</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env</a:t>
            </a: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main_network</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target_network</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target_network</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optimizer</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optimizer</a:t>
            </a: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replay_buffer</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model_path</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gamma</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gamma</a:t>
            </a: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batch_size</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batch_size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target_update_frequency</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target_update_frequency</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step_count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0</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708090"/>
                </a:solidFill>
                <a:effectLst/>
                <a:latin typeface="Consolas" panose="020B0609020204030204" pitchFamily="49" charset="0"/>
              </a:rPr>
              <a:t># Load the model if it exists</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path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exists</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path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dirname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path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isfile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load_state_dict</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load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target_network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load_state_dict</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load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"Loaded model from disk"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else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makedirs</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path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dirname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p:txBody>
      </p:sp>
      <p:sp>
        <p:nvSpPr>
          <p:cNvPr id="4" name="TextBox 3">
            <a:extLst>
              <a:ext uri="{FF2B5EF4-FFF2-40B4-BE49-F238E27FC236}">
                <a16:creationId xmlns:a16="http://schemas.microsoft.com/office/drawing/2014/main" id="{25EFDD9C-AC48-762D-6077-1DF647C52365}"/>
              </a:ext>
            </a:extLst>
          </p:cNvPr>
          <p:cNvSpPr txBox="1"/>
          <p:nvPr/>
        </p:nvSpPr>
        <p:spPr>
          <a:xfrm>
            <a:off x="7177617" y="141438"/>
            <a:ext cx="5014383" cy="5632311"/>
          </a:xfrm>
          <a:prstGeom prst="rect">
            <a:avLst/>
          </a:prstGeom>
          <a:noFill/>
          <a:ln w="41275">
            <a:solidFill>
              <a:srgbClr val="C00000"/>
            </a:solidFill>
          </a:ln>
        </p:spPr>
        <p:txBody>
          <a:bodyPr wrap="square" rtlCol="0">
            <a:spAutoFit/>
          </a:bodyPr>
          <a:lstStyle/>
          <a:p>
            <a:r>
              <a:rPr lang="en-US"/>
              <a:t>The __</a:t>
            </a:r>
            <a:r>
              <a:rPr lang="en-US" err="1"/>
              <a:t>init</a:t>
            </a:r>
            <a:r>
              <a:rPr lang="en-US"/>
              <a:t>__ method initializes various components needed for training:</a:t>
            </a:r>
          </a:p>
          <a:p>
            <a:r>
              <a:rPr lang="en-US"/>
              <a:t>env: The environment in which the agent operates.</a:t>
            </a:r>
          </a:p>
          <a:p>
            <a:r>
              <a:rPr lang="en-US" err="1"/>
              <a:t>main_network</a:t>
            </a:r>
            <a:r>
              <a:rPr lang="en-US"/>
              <a:t>: The main neural network that is being trained.</a:t>
            </a:r>
          </a:p>
          <a:p>
            <a:r>
              <a:rPr lang="en-US" err="1"/>
              <a:t>target_network</a:t>
            </a:r>
            <a:r>
              <a:rPr lang="en-US"/>
              <a:t>: The target neural network used for stabilizing Q-value estimates.</a:t>
            </a:r>
          </a:p>
          <a:p>
            <a:r>
              <a:rPr lang="en-US"/>
              <a:t>optimizer: The optimizer used for updating the weights of the main network.</a:t>
            </a:r>
          </a:p>
          <a:p>
            <a:r>
              <a:rPr lang="en-US" err="1"/>
              <a:t>replay_buffer</a:t>
            </a:r>
            <a:r>
              <a:rPr lang="en-US"/>
              <a:t>: The buffer for storing and sampling experiences.</a:t>
            </a:r>
          </a:p>
          <a:p>
            <a:r>
              <a:rPr lang="en-US" err="1"/>
              <a:t>model_path</a:t>
            </a:r>
            <a:r>
              <a:rPr lang="en-US"/>
              <a:t>: Path to save/load the trained model.</a:t>
            </a:r>
          </a:p>
          <a:p>
            <a:r>
              <a:rPr lang="en-US"/>
              <a:t>gamma: The discount factor for future rewards.</a:t>
            </a:r>
          </a:p>
          <a:p>
            <a:r>
              <a:rPr lang="en-US" err="1"/>
              <a:t>batch_size</a:t>
            </a:r>
            <a:r>
              <a:rPr lang="en-US"/>
              <a:t>: The number of experiences sampled from the replay buffer for each training step.</a:t>
            </a:r>
          </a:p>
          <a:p>
            <a:r>
              <a:rPr lang="en-US" err="1"/>
              <a:t>target_update_frequency</a:t>
            </a:r>
            <a:r>
              <a:rPr lang="en-US"/>
              <a:t>: The frequency at which the target network’s weights are updated to match the main network’s weights.</a:t>
            </a:r>
          </a:p>
          <a:p>
            <a:r>
              <a:rPr lang="en-US" err="1"/>
              <a:t>step_count</a:t>
            </a:r>
            <a:r>
              <a:rPr lang="en-US"/>
              <a:t>: A counter to keep track of the number of steps taken during training.</a:t>
            </a:r>
          </a:p>
        </p:txBody>
      </p:sp>
      <p:sp>
        <p:nvSpPr>
          <p:cNvPr id="6" name="Arrow: Right 5">
            <a:extLst>
              <a:ext uri="{FF2B5EF4-FFF2-40B4-BE49-F238E27FC236}">
                <a16:creationId xmlns:a16="http://schemas.microsoft.com/office/drawing/2014/main" id="{579AFA56-FB16-3D7F-D4BB-1F9A6509900E}"/>
              </a:ext>
            </a:extLst>
          </p:cNvPr>
          <p:cNvSpPr/>
          <p:nvPr/>
        </p:nvSpPr>
        <p:spPr>
          <a:xfrm>
            <a:off x="5005917" y="2220994"/>
            <a:ext cx="2218267" cy="66886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7995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158A6-1572-E970-A3E0-82DDA3998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A900A-BA94-AEEF-7FC0-5FECFB67E0AA}"/>
              </a:ext>
            </a:extLst>
          </p:cNvPr>
          <p:cNvSpPr>
            <a:spLocks noGrp="1"/>
          </p:cNvSpPr>
          <p:nvPr>
            <p:ph type="title"/>
          </p:nvPr>
        </p:nvSpPr>
        <p:spPr/>
        <p:txBody>
          <a:bodyPr>
            <a:normAutofit fontScale="90000"/>
          </a:bodyPr>
          <a:lstStyle/>
          <a:p>
            <a:r>
              <a:rPr lang="en-US"/>
              <a:t>_</a:t>
            </a:r>
            <a:r>
              <a:rPr lang="en-US" err="1"/>
              <a:t>init</a:t>
            </a:r>
            <a:r>
              <a:rPr lang="en-US"/>
              <a:t> in the </a:t>
            </a:r>
            <a:r>
              <a:rPr lang="en-US" err="1"/>
              <a:t>DQNTrainer</a:t>
            </a:r>
            <a:r>
              <a:rPr lang="en-US"/>
              <a:t> class</a:t>
            </a:r>
            <a:endParaRPr lang="en-IN"/>
          </a:p>
        </p:txBody>
      </p:sp>
      <p:sp>
        <p:nvSpPr>
          <p:cNvPr id="3" name="Content Placeholder 2">
            <a:extLst>
              <a:ext uri="{FF2B5EF4-FFF2-40B4-BE49-F238E27FC236}">
                <a16:creationId xmlns:a16="http://schemas.microsoft.com/office/drawing/2014/main" id="{F8A7B22D-2B7D-F49D-3A99-4701F2DC4C15}"/>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BC097387-FE23-3516-3701-04D6EC6C0E3A}"/>
              </a:ext>
            </a:extLst>
          </p:cNvPr>
          <p:cNvSpPr txBox="1"/>
          <p:nvPr/>
        </p:nvSpPr>
        <p:spPr>
          <a:xfrm>
            <a:off x="262467" y="913984"/>
            <a:ext cx="6652683" cy="5262979"/>
          </a:xfrm>
          <a:prstGeom prst="rect">
            <a:avLst/>
          </a:prstGeom>
          <a:noFill/>
          <a:ln w="38100">
            <a:solidFill>
              <a:schemeClr val="accent1"/>
            </a:solidFill>
          </a:ln>
        </p:spPr>
        <p:txBody>
          <a:bodyPr wrap="square">
            <a:spAutoFit/>
          </a:bodyPr>
          <a:lstStyle/>
          <a:p>
            <a:pPr algn="l" latinLnBrk="0">
              <a:buNone/>
            </a:pPr>
            <a:r>
              <a:rPr lang="en-IN" sz="1400" b="0" i="0">
                <a:solidFill>
                  <a:srgbClr val="0077AA"/>
                </a:solidFill>
                <a:effectLst/>
                <a:latin typeface="Consolas" panose="020B0609020204030204" pitchFamily="49" charset="0"/>
              </a:rPr>
              <a:t>def</a:t>
            </a:r>
            <a:r>
              <a:rPr lang="en-IN" sz="1400" b="0" i="0">
                <a:solidFill>
                  <a:srgbClr val="000000"/>
                </a:solidFill>
                <a:effectLst/>
                <a:latin typeface="Consolas" panose="020B0609020204030204" pitchFamily="49" charset="0"/>
              </a:rPr>
              <a:t> </a:t>
            </a:r>
            <a:r>
              <a:rPr lang="en-IN" sz="1400" b="0" i="0">
                <a:solidFill>
                  <a:srgbClr val="DD4A68"/>
                </a:solidFill>
                <a:effectLst/>
                <a:latin typeface="Consolas" panose="020B0609020204030204" pitchFamily="49" charset="0"/>
              </a:rPr>
              <a:t>__</a:t>
            </a:r>
            <a:r>
              <a:rPr lang="en-IN" sz="1400" b="0" i="0" err="1">
                <a:solidFill>
                  <a:srgbClr val="DD4A68"/>
                </a:solidFill>
                <a:effectLst/>
                <a:latin typeface="Consolas" panose="020B0609020204030204" pitchFamily="49" charset="0"/>
              </a:rPr>
              <a:t>init</a:t>
            </a:r>
            <a:r>
              <a:rPr lang="en-IN" sz="1400" b="0" i="0">
                <a:solidFill>
                  <a:srgbClr val="DD4A68"/>
                </a:solidFill>
                <a:effectLst/>
                <a:latin typeface="Consolas" panose="020B0609020204030204" pitchFamily="49" charset="0"/>
              </a:rPr>
              <a:t>__</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self</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env</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main_network</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target_network</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optimizer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replay_buffer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model_path</a:t>
            </a:r>
            <a:r>
              <a:rPr lang="en-IN" sz="1400" b="0" i="0">
                <a:solidFill>
                  <a:srgbClr val="9A6E3A"/>
                </a:solidFill>
                <a:effectLst/>
                <a:latin typeface="Consolas" panose="020B0609020204030204" pitchFamily="49" charset="0"/>
              </a:rPr>
              <a:t>=</a:t>
            </a:r>
            <a:r>
              <a:rPr lang="en-IN" sz="1400" b="0" i="0">
                <a:solidFill>
                  <a:srgbClr val="669900"/>
                </a:solidFill>
                <a:effectLst/>
                <a:latin typeface="Consolas" panose="020B0609020204030204" pitchFamily="49" charset="0"/>
              </a:rPr>
              <a:t>'model/</a:t>
            </a:r>
            <a:r>
              <a:rPr lang="en-IN" sz="1400" b="0" i="0" err="1">
                <a:solidFill>
                  <a:srgbClr val="669900"/>
                </a:solidFill>
                <a:effectLst/>
                <a:latin typeface="Consolas" panose="020B0609020204030204" pitchFamily="49" charset="0"/>
              </a:rPr>
              <a:t>model.pth</a:t>
            </a:r>
            <a:r>
              <a:rPr lang="en-IN" sz="1400" b="0" i="0">
                <a:solidFill>
                  <a:srgbClr val="669900"/>
                </a:solidFill>
                <a:effectLst/>
                <a:latin typeface="Consolas" panose="020B0609020204030204" pitchFamily="49" charset="0"/>
              </a:rPr>
              <a:t>'</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gamma</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0.99</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batch_size</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64</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target_update_frequency</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1000</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env</a:t>
            </a: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main_network</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target_network</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target_network</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optimizer</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optimizer</a:t>
            </a: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replay_buffer</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model_path</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gamma</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gamma</a:t>
            </a: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batch_size</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batch_size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target_update_frequency</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target_update_frequency</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step_count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0</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708090"/>
                </a:solidFill>
                <a:effectLst/>
                <a:latin typeface="Consolas" panose="020B0609020204030204" pitchFamily="49" charset="0"/>
              </a:rPr>
              <a:t># Load the model if it exists</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path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exists</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path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dirname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path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isfile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load_state_dict</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load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target_network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load_state_dict</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load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"Loaded model from disk"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else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makedirs</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os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path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dirname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94BBE275-24CA-D6B6-3417-EE524FA306A8}"/>
              </a:ext>
            </a:extLst>
          </p:cNvPr>
          <p:cNvSpPr txBox="1"/>
          <p:nvPr/>
        </p:nvSpPr>
        <p:spPr>
          <a:xfrm>
            <a:off x="7721600" y="1896410"/>
            <a:ext cx="4377266" cy="3693319"/>
          </a:xfrm>
          <a:prstGeom prst="rect">
            <a:avLst/>
          </a:prstGeom>
          <a:noFill/>
          <a:ln w="50800">
            <a:solidFill>
              <a:srgbClr val="C00000"/>
            </a:solidFill>
          </a:ln>
        </p:spPr>
        <p:txBody>
          <a:bodyPr wrap="square">
            <a:spAutoFit/>
          </a:bodyPr>
          <a:lstStyle/>
          <a:p>
            <a:r>
              <a:rPr lang="en-US" b="0" i="0">
                <a:solidFill>
                  <a:srgbClr val="2A2A2A"/>
                </a:solidFill>
                <a:effectLst/>
                <a:latin typeface="Work Sans" pitchFamily="2" charset="0"/>
              </a:rPr>
              <a:t>We check if the directory for the model path exists using </a:t>
            </a:r>
            <a:r>
              <a:rPr lang="en-US" b="0" i="0" err="1">
                <a:solidFill>
                  <a:srgbClr val="2A2A2A"/>
                </a:solidFill>
                <a:effectLst/>
                <a:latin typeface="Courier New" panose="02070309020205020404" pitchFamily="49" charset="0"/>
              </a:rPr>
              <a:t>os.path.exists</a:t>
            </a:r>
            <a:r>
              <a:rPr lang="en-US" b="0" i="0">
                <a:solidFill>
                  <a:srgbClr val="2A2A2A"/>
                </a:solidFill>
                <a:effectLst/>
                <a:latin typeface="Courier New" panose="02070309020205020404" pitchFamily="49" charset="0"/>
              </a:rPr>
              <a:t>(</a:t>
            </a:r>
            <a:r>
              <a:rPr lang="en-US" b="0" i="0" err="1">
                <a:solidFill>
                  <a:srgbClr val="2A2A2A"/>
                </a:solidFill>
                <a:effectLst/>
                <a:latin typeface="Courier New" panose="02070309020205020404" pitchFamily="49" charset="0"/>
              </a:rPr>
              <a:t>os.path.dirname</a:t>
            </a:r>
            <a:r>
              <a:rPr lang="en-US" b="0" i="0">
                <a:solidFill>
                  <a:srgbClr val="2A2A2A"/>
                </a:solidFill>
                <a:effectLst/>
                <a:latin typeface="Courier New" panose="02070309020205020404" pitchFamily="49" charset="0"/>
              </a:rPr>
              <a:t>(</a:t>
            </a:r>
            <a:r>
              <a:rPr lang="en-US" b="0" i="0" err="1">
                <a:solidFill>
                  <a:srgbClr val="2A2A2A"/>
                </a:solidFill>
                <a:effectLst/>
                <a:latin typeface="Courier New" panose="02070309020205020404" pitchFamily="49" charset="0"/>
              </a:rPr>
              <a:t>self.model_path</a:t>
            </a:r>
            <a:r>
              <a:rPr lang="en-US" b="0" i="0">
                <a:solidFill>
                  <a:srgbClr val="2A2A2A"/>
                </a:solidFill>
                <a:effectLst/>
                <a:latin typeface="Courier New" panose="02070309020205020404" pitchFamily="49" charset="0"/>
              </a:rPr>
              <a:t>))</a:t>
            </a:r>
            <a:r>
              <a:rPr lang="en-US" b="0" i="0">
                <a:solidFill>
                  <a:srgbClr val="2A2A2A"/>
                </a:solidFill>
                <a:effectLst/>
                <a:latin typeface="Work Sans" pitchFamily="2" charset="0"/>
              </a:rPr>
              <a:t>. If a saved model exists, it is loaded to continue training from where it left off:</a:t>
            </a:r>
          </a:p>
          <a:p>
            <a:endParaRPr lang="en-US">
              <a:solidFill>
                <a:srgbClr val="2A2A2A"/>
              </a:solidFill>
              <a:latin typeface="Work Sans" pitchFamily="2" charset="0"/>
            </a:endParaRPr>
          </a:p>
          <a:p>
            <a:r>
              <a:rPr lang="en-US" err="1"/>
              <a:t>torch.load</a:t>
            </a:r>
            <a:r>
              <a:rPr lang="en-US"/>
              <a:t> loads the saved model weights into the main and target networks using </a:t>
            </a:r>
            <a:r>
              <a:rPr lang="en-US" err="1"/>
              <a:t>load_state_dict</a:t>
            </a:r>
            <a:r>
              <a:rPr lang="en-US"/>
              <a:t>. If the model directory does not exist, it is created using </a:t>
            </a:r>
            <a:r>
              <a:rPr lang="en-US" err="1"/>
              <a:t>os.makedirs</a:t>
            </a:r>
            <a:r>
              <a:rPr lang="en-US"/>
              <a:t>.</a:t>
            </a:r>
            <a:endParaRPr lang="en-IN"/>
          </a:p>
        </p:txBody>
      </p:sp>
      <p:sp>
        <p:nvSpPr>
          <p:cNvPr id="9" name="Arrow: Right 8">
            <a:extLst>
              <a:ext uri="{FF2B5EF4-FFF2-40B4-BE49-F238E27FC236}">
                <a16:creationId xmlns:a16="http://schemas.microsoft.com/office/drawing/2014/main" id="{C654952B-9A1E-F84F-ACEF-5D7EC2628D27}"/>
              </a:ext>
            </a:extLst>
          </p:cNvPr>
          <p:cNvSpPr/>
          <p:nvPr/>
        </p:nvSpPr>
        <p:spPr>
          <a:xfrm rot="20274175">
            <a:off x="6456465" y="4526956"/>
            <a:ext cx="1340703" cy="66886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7706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531FC-B878-B505-6F02-8CFAEFC4D3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52959C-5D8D-7332-DE2B-D052EA7BF59C}"/>
              </a:ext>
            </a:extLst>
          </p:cNvPr>
          <p:cNvSpPr txBox="1"/>
          <p:nvPr/>
        </p:nvSpPr>
        <p:spPr>
          <a:xfrm>
            <a:off x="306147" y="122216"/>
            <a:ext cx="7797800" cy="6124754"/>
          </a:xfrm>
          <a:prstGeom prst="rect">
            <a:avLst/>
          </a:prstGeom>
          <a:noFill/>
          <a:ln w="38100">
            <a:solidFill>
              <a:srgbClr val="0070C0"/>
            </a:solidFill>
          </a:ln>
        </p:spPr>
        <p:txBody>
          <a:bodyPr wrap="square">
            <a:spAutoFit/>
          </a:bodyPr>
          <a:lstStyle/>
          <a:p>
            <a:pPr algn="l" latinLnBrk="0">
              <a:buNone/>
            </a:pPr>
            <a:r>
              <a:rPr lang="en-IN" sz="1400" b="0" i="0">
                <a:solidFill>
                  <a:srgbClr val="0077AA"/>
                </a:solidFill>
                <a:effectLst/>
                <a:latin typeface="Consolas" panose="020B0609020204030204" pitchFamily="49" charset="0"/>
              </a:rPr>
              <a:t>def</a:t>
            </a:r>
            <a:r>
              <a:rPr lang="en-IN" sz="1400" b="0" i="0">
                <a:solidFill>
                  <a:srgbClr val="000000"/>
                </a:solidFill>
                <a:effectLst/>
                <a:latin typeface="Consolas" panose="020B0609020204030204" pitchFamily="49" charset="0"/>
              </a:rPr>
              <a:t> </a:t>
            </a:r>
            <a:r>
              <a:rPr lang="en-IN" sz="1400" b="0" i="0">
                <a:solidFill>
                  <a:srgbClr val="DD4A68"/>
                </a:solidFill>
                <a:effectLst/>
                <a:latin typeface="Consolas" panose="020B0609020204030204" pitchFamily="49" charset="0"/>
              </a:rPr>
              <a:t>train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self</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save</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True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for</a:t>
            </a:r>
            <a:r>
              <a:rPr lang="en-IN" sz="1400" b="0" i="0">
                <a:solidFill>
                  <a:srgbClr val="000000"/>
                </a:solidFill>
                <a:effectLst/>
                <a:latin typeface="Consolas" panose="020B0609020204030204" pitchFamily="49" charset="0"/>
              </a:rPr>
              <a:t> episode </a:t>
            </a:r>
            <a:r>
              <a:rPr lang="en-IN" sz="1400" b="0" i="0">
                <a:solidFill>
                  <a:srgbClr val="0077AA"/>
                </a:solidFill>
                <a:effectLst/>
                <a:latin typeface="Consolas" panose="020B0609020204030204" pitchFamily="49" charset="0"/>
              </a:rPr>
              <a:t>in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range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reset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done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False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0</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while</a:t>
            </a: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not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render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708090"/>
                </a:solidFill>
                <a:effectLst/>
                <a:latin typeface="Consolas" panose="020B0609020204030204" pitchFamily="49" charset="0"/>
              </a:rPr>
              <a:t># Add this line to render the environment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action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FloatTensor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unsqueeze</a:t>
            </a:r>
            <a:r>
              <a:rPr lang="en-IN" sz="1400" b="0" i="0">
                <a:solidFill>
                  <a:srgbClr val="999999"/>
                </a:solidFill>
                <a:effectLst/>
                <a:latin typeface="Consolas" panose="020B0609020204030204" pitchFamily="49" charset="0"/>
              </a:rPr>
              <a:t>(</a:t>
            </a:r>
            <a:r>
              <a:rPr lang="en-IN" sz="1400" b="0" i="0">
                <a:solidFill>
                  <a:srgbClr val="990055"/>
                </a:solidFill>
                <a:effectLst/>
                <a:latin typeface="Consolas" panose="020B0609020204030204" pitchFamily="49" charset="0"/>
              </a:rPr>
              <a:t>0</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argmax</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dim</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1</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item</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step</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action</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push</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action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&gt;=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batch_size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update_network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append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err="1">
                <a:solidFill>
                  <a:srgbClr val="669900"/>
                </a:solidFill>
                <a:effectLst/>
                <a:latin typeface="Consolas" panose="020B0609020204030204" pitchFamily="49" charset="0"/>
              </a:rPr>
              <a:t>f"Episode</a:t>
            </a:r>
            <a:r>
              <a:rPr lang="en-IN" sz="1400" b="0" i="0">
                <a:solidFill>
                  <a:srgbClr val="6699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episode</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 Total Reward: </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save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save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state_dict</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"Saved model to disk"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close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return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sum</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p:txBody>
      </p:sp>
      <p:sp>
        <p:nvSpPr>
          <p:cNvPr id="4" name="TextBox 3">
            <a:extLst>
              <a:ext uri="{FF2B5EF4-FFF2-40B4-BE49-F238E27FC236}">
                <a16:creationId xmlns:a16="http://schemas.microsoft.com/office/drawing/2014/main" id="{57BBE795-DEB6-DCF7-46E9-D948E35F68BA}"/>
              </a:ext>
            </a:extLst>
          </p:cNvPr>
          <p:cNvSpPr txBox="1"/>
          <p:nvPr/>
        </p:nvSpPr>
        <p:spPr>
          <a:xfrm>
            <a:off x="7986954" y="273836"/>
            <a:ext cx="3752365" cy="1754326"/>
          </a:xfrm>
          <a:prstGeom prst="rect">
            <a:avLst/>
          </a:prstGeom>
          <a:noFill/>
          <a:ln w="41275">
            <a:solidFill>
              <a:srgbClr val="C00000"/>
            </a:solidFill>
          </a:ln>
        </p:spPr>
        <p:txBody>
          <a:bodyPr wrap="square" rtlCol="0">
            <a:spAutoFit/>
          </a:bodyPr>
          <a:lstStyle/>
          <a:p>
            <a:r>
              <a:rPr lang="en-US"/>
              <a:t>This loop runs for the specified number of episodes. Each episode represents a complete interaction sequence with the environment.</a:t>
            </a:r>
          </a:p>
          <a:p>
            <a:endParaRPr lang="en-US"/>
          </a:p>
          <a:p>
            <a:endParaRPr lang="en-IN"/>
          </a:p>
        </p:txBody>
      </p:sp>
      <p:sp>
        <p:nvSpPr>
          <p:cNvPr id="9" name="TextBox 8">
            <a:extLst>
              <a:ext uri="{FF2B5EF4-FFF2-40B4-BE49-F238E27FC236}">
                <a16:creationId xmlns:a16="http://schemas.microsoft.com/office/drawing/2014/main" id="{7476DB87-0027-F129-C731-A95AC2FE377F}"/>
              </a:ext>
            </a:extLst>
          </p:cNvPr>
          <p:cNvSpPr txBox="1"/>
          <p:nvPr/>
        </p:nvSpPr>
        <p:spPr>
          <a:xfrm>
            <a:off x="8093350" y="2399276"/>
            <a:ext cx="3539572" cy="2585323"/>
          </a:xfrm>
          <a:prstGeom prst="rect">
            <a:avLst/>
          </a:prstGeom>
          <a:noFill/>
          <a:ln w="44450">
            <a:solidFill>
              <a:srgbClr val="C00000"/>
            </a:solidFill>
          </a:ln>
        </p:spPr>
        <p:txBody>
          <a:bodyPr wrap="square">
            <a:spAutoFit/>
          </a:bodyPr>
          <a:lstStyle/>
          <a:p>
            <a:r>
              <a:rPr lang="en-US"/>
              <a:t>self.env.reset() initializes the environment and returns the initial state.</a:t>
            </a:r>
          </a:p>
          <a:p>
            <a:r>
              <a:rPr lang="en-US"/>
              <a:t>done = False indicates that the episode is not finished.</a:t>
            </a:r>
          </a:p>
          <a:p>
            <a:r>
              <a:rPr lang="en-US" err="1"/>
              <a:t>total_reward</a:t>
            </a:r>
            <a:r>
              <a:rPr lang="en-US"/>
              <a:t> = 0 initializes the total reward for the current episode.</a:t>
            </a:r>
          </a:p>
          <a:p>
            <a:endParaRPr lang="en-US"/>
          </a:p>
          <a:p>
            <a:endParaRPr lang="en-US"/>
          </a:p>
        </p:txBody>
      </p:sp>
      <p:sp>
        <p:nvSpPr>
          <p:cNvPr id="10" name="Arrow: Right 9">
            <a:extLst>
              <a:ext uri="{FF2B5EF4-FFF2-40B4-BE49-F238E27FC236}">
                <a16:creationId xmlns:a16="http://schemas.microsoft.com/office/drawing/2014/main" id="{E0C0174E-7975-EABB-0FD7-124216E94DE0}"/>
              </a:ext>
            </a:extLst>
          </p:cNvPr>
          <p:cNvSpPr/>
          <p:nvPr/>
        </p:nvSpPr>
        <p:spPr>
          <a:xfrm>
            <a:off x="4351582" y="490664"/>
            <a:ext cx="3635372" cy="35789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94E88451-5462-D6DD-330F-AC679CB58FDA}"/>
              </a:ext>
            </a:extLst>
          </p:cNvPr>
          <p:cNvSpPr/>
          <p:nvPr/>
        </p:nvSpPr>
        <p:spPr>
          <a:xfrm rot="1315808">
            <a:off x="7465967" y="2078442"/>
            <a:ext cx="1041974" cy="35789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0097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16AF9-FD25-D027-B536-2B6E60DC5B8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08AE0E3-EB8C-196C-BAE2-5530D647FB67}"/>
              </a:ext>
            </a:extLst>
          </p:cNvPr>
          <p:cNvSpPr txBox="1"/>
          <p:nvPr/>
        </p:nvSpPr>
        <p:spPr>
          <a:xfrm>
            <a:off x="306146" y="122216"/>
            <a:ext cx="10448939" cy="6124754"/>
          </a:xfrm>
          <a:prstGeom prst="rect">
            <a:avLst/>
          </a:prstGeom>
          <a:noFill/>
          <a:ln w="38100">
            <a:solidFill>
              <a:srgbClr val="0070C0"/>
            </a:solidFill>
          </a:ln>
        </p:spPr>
        <p:txBody>
          <a:bodyPr wrap="square">
            <a:spAutoFit/>
          </a:bodyPr>
          <a:lstStyle/>
          <a:p>
            <a:pPr algn="l" latinLnBrk="0">
              <a:buNone/>
            </a:pPr>
            <a:r>
              <a:rPr lang="en-IN" sz="1400" b="0" i="0">
                <a:solidFill>
                  <a:srgbClr val="0077AA"/>
                </a:solidFill>
                <a:effectLst/>
                <a:latin typeface="Consolas" panose="020B0609020204030204" pitchFamily="49" charset="0"/>
              </a:rPr>
              <a:t>def</a:t>
            </a:r>
            <a:r>
              <a:rPr lang="en-IN" sz="1400" b="0" i="0">
                <a:solidFill>
                  <a:srgbClr val="000000"/>
                </a:solidFill>
                <a:effectLst/>
                <a:latin typeface="Consolas" panose="020B0609020204030204" pitchFamily="49" charset="0"/>
              </a:rPr>
              <a:t> </a:t>
            </a:r>
            <a:r>
              <a:rPr lang="en-IN" sz="1400" b="0" i="0">
                <a:solidFill>
                  <a:srgbClr val="DD4A68"/>
                </a:solidFill>
                <a:effectLst/>
                <a:latin typeface="Consolas" panose="020B0609020204030204" pitchFamily="49" charset="0"/>
              </a:rPr>
              <a:t>train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self</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save</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True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for</a:t>
            </a:r>
            <a:r>
              <a:rPr lang="en-IN" sz="1400" b="0" i="0">
                <a:solidFill>
                  <a:srgbClr val="000000"/>
                </a:solidFill>
                <a:effectLst/>
                <a:latin typeface="Consolas" panose="020B0609020204030204" pitchFamily="49" charset="0"/>
              </a:rPr>
              <a:t> episode </a:t>
            </a:r>
            <a:r>
              <a:rPr lang="en-IN" sz="1400" b="0" i="0">
                <a:solidFill>
                  <a:srgbClr val="0077AA"/>
                </a:solidFill>
                <a:effectLst/>
                <a:latin typeface="Consolas" panose="020B0609020204030204" pitchFamily="49" charset="0"/>
              </a:rPr>
              <a:t>in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range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reset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done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False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0</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while</a:t>
            </a: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not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render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708090"/>
                </a:solidFill>
                <a:effectLst/>
                <a:latin typeface="Consolas" panose="020B0609020204030204" pitchFamily="49" charset="0"/>
              </a:rPr>
              <a:t># Add this line to render the environment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action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FloatTensor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unsqueeze</a:t>
            </a:r>
            <a:r>
              <a:rPr lang="en-IN" sz="1400" b="0" i="0">
                <a:solidFill>
                  <a:srgbClr val="999999"/>
                </a:solidFill>
                <a:effectLst/>
                <a:latin typeface="Consolas" panose="020B0609020204030204" pitchFamily="49" charset="0"/>
              </a:rPr>
              <a:t>(</a:t>
            </a:r>
            <a:r>
              <a:rPr lang="en-IN" sz="1400" b="0" i="0">
                <a:solidFill>
                  <a:srgbClr val="990055"/>
                </a:solidFill>
                <a:effectLst/>
                <a:latin typeface="Consolas" panose="020B0609020204030204" pitchFamily="49" charset="0"/>
              </a:rPr>
              <a:t>0</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argmax</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dim</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1</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item</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step</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action</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push</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action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&gt;=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batch_size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update_network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append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err="1">
                <a:solidFill>
                  <a:srgbClr val="669900"/>
                </a:solidFill>
                <a:effectLst/>
                <a:latin typeface="Consolas" panose="020B0609020204030204" pitchFamily="49" charset="0"/>
              </a:rPr>
              <a:t>f"Episode</a:t>
            </a:r>
            <a:r>
              <a:rPr lang="en-IN" sz="1400" b="0" i="0">
                <a:solidFill>
                  <a:srgbClr val="6699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episode</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 Total Reward: </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save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save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state_dict</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"Saved model to disk"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close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return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sum</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p:txBody>
      </p:sp>
      <p:sp>
        <p:nvSpPr>
          <p:cNvPr id="3" name="TextBox 2">
            <a:extLst>
              <a:ext uri="{FF2B5EF4-FFF2-40B4-BE49-F238E27FC236}">
                <a16:creationId xmlns:a16="http://schemas.microsoft.com/office/drawing/2014/main" id="{7E601029-2D2A-B8DC-7B7D-D70E36DF5548}"/>
              </a:ext>
            </a:extLst>
          </p:cNvPr>
          <p:cNvSpPr txBox="1"/>
          <p:nvPr/>
        </p:nvSpPr>
        <p:spPr>
          <a:xfrm>
            <a:off x="7994421" y="122216"/>
            <a:ext cx="4083280" cy="1477328"/>
          </a:xfrm>
          <a:prstGeom prst="rect">
            <a:avLst/>
          </a:prstGeom>
          <a:noFill/>
          <a:ln w="41275">
            <a:solidFill>
              <a:srgbClr val="C00000"/>
            </a:solidFill>
          </a:ln>
        </p:spPr>
        <p:txBody>
          <a:bodyPr wrap="square">
            <a:spAutoFit/>
          </a:bodyPr>
          <a:lstStyle/>
          <a:p>
            <a:r>
              <a:rPr lang="en-US"/>
              <a:t>Action </a:t>
            </a:r>
            <a:r>
              <a:rPr lang="en-US" err="1"/>
              <a:t>SelectionThe</a:t>
            </a:r>
            <a:r>
              <a:rPr lang="en-US"/>
              <a:t> agent selects an action using the main network based on the current state.</a:t>
            </a:r>
          </a:p>
          <a:p>
            <a:r>
              <a:rPr lang="en-US"/>
              <a:t>selects the action with the highest Q-value predicted by the main network.</a:t>
            </a:r>
            <a:endParaRPr lang="en-IN"/>
          </a:p>
        </p:txBody>
      </p:sp>
      <p:sp>
        <p:nvSpPr>
          <p:cNvPr id="6" name="Arrow: Right 5">
            <a:extLst>
              <a:ext uri="{FF2B5EF4-FFF2-40B4-BE49-F238E27FC236}">
                <a16:creationId xmlns:a16="http://schemas.microsoft.com/office/drawing/2014/main" id="{668D0952-7056-65E4-5DB4-AAC822ADA296}"/>
              </a:ext>
            </a:extLst>
          </p:cNvPr>
          <p:cNvSpPr/>
          <p:nvPr/>
        </p:nvSpPr>
        <p:spPr>
          <a:xfrm rot="18784087">
            <a:off x="7632665" y="1620016"/>
            <a:ext cx="723509" cy="377153"/>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7949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B2C2F-1B9F-5276-B4F8-2088910F67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0463AC-0BEC-813C-C855-09DB0ECEF5C9}"/>
              </a:ext>
            </a:extLst>
          </p:cNvPr>
          <p:cNvSpPr txBox="1"/>
          <p:nvPr/>
        </p:nvSpPr>
        <p:spPr>
          <a:xfrm>
            <a:off x="306147" y="122216"/>
            <a:ext cx="7797800" cy="6124754"/>
          </a:xfrm>
          <a:prstGeom prst="rect">
            <a:avLst/>
          </a:prstGeom>
          <a:noFill/>
          <a:ln w="38100">
            <a:solidFill>
              <a:srgbClr val="0070C0"/>
            </a:solidFill>
          </a:ln>
        </p:spPr>
        <p:txBody>
          <a:bodyPr wrap="square">
            <a:spAutoFit/>
          </a:bodyPr>
          <a:lstStyle/>
          <a:p>
            <a:pPr algn="l" latinLnBrk="0">
              <a:buNone/>
            </a:pPr>
            <a:r>
              <a:rPr lang="en-IN" sz="1400" b="0" i="0">
                <a:solidFill>
                  <a:srgbClr val="0077AA"/>
                </a:solidFill>
                <a:effectLst/>
                <a:latin typeface="Consolas" panose="020B0609020204030204" pitchFamily="49" charset="0"/>
              </a:rPr>
              <a:t>def</a:t>
            </a:r>
            <a:r>
              <a:rPr lang="en-IN" sz="1400" b="0" i="0">
                <a:solidFill>
                  <a:srgbClr val="000000"/>
                </a:solidFill>
                <a:effectLst/>
                <a:latin typeface="Consolas" panose="020B0609020204030204" pitchFamily="49" charset="0"/>
              </a:rPr>
              <a:t> </a:t>
            </a:r>
            <a:r>
              <a:rPr lang="en-IN" sz="1400" b="0" i="0">
                <a:solidFill>
                  <a:srgbClr val="DD4A68"/>
                </a:solidFill>
                <a:effectLst/>
                <a:latin typeface="Consolas" panose="020B0609020204030204" pitchFamily="49" charset="0"/>
              </a:rPr>
              <a:t>train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self</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save</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True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for</a:t>
            </a:r>
            <a:r>
              <a:rPr lang="en-IN" sz="1400" b="0" i="0">
                <a:solidFill>
                  <a:srgbClr val="000000"/>
                </a:solidFill>
                <a:effectLst/>
                <a:latin typeface="Consolas" panose="020B0609020204030204" pitchFamily="49" charset="0"/>
              </a:rPr>
              <a:t> episode </a:t>
            </a:r>
            <a:r>
              <a:rPr lang="en-IN" sz="1400" b="0" i="0">
                <a:solidFill>
                  <a:srgbClr val="0077AA"/>
                </a:solidFill>
                <a:effectLst/>
                <a:latin typeface="Consolas" panose="020B0609020204030204" pitchFamily="49" charset="0"/>
              </a:rPr>
              <a:t>in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range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reset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done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False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0</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while</a:t>
            </a: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not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render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708090"/>
                </a:solidFill>
                <a:effectLst/>
                <a:latin typeface="Consolas" panose="020B0609020204030204" pitchFamily="49" charset="0"/>
              </a:rPr>
              <a:t># Add this line to render the environment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action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FloatTensor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unsqueeze</a:t>
            </a:r>
            <a:r>
              <a:rPr lang="en-IN" sz="1400" b="0" i="0">
                <a:solidFill>
                  <a:srgbClr val="999999"/>
                </a:solidFill>
                <a:effectLst/>
                <a:latin typeface="Consolas" panose="020B0609020204030204" pitchFamily="49" charset="0"/>
              </a:rPr>
              <a:t>(</a:t>
            </a:r>
            <a:r>
              <a:rPr lang="en-IN" sz="1400" b="0" i="0">
                <a:solidFill>
                  <a:srgbClr val="990055"/>
                </a:solidFill>
                <a:effectLst/>
                <a:latin typeface="Consolas" panose="020B0609020204030204" pitchFamily="49" charset="0"/>
              </a:rPr>
              <a:t>0</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argmax</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dim</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1</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item</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step</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action</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push</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action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&gt;=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batch_size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update_network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append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err="1">
                <a:solidFill>
                  <a:srgbClr val="669900"/>
                </a:solidFill>
                <a:effectLst/>
                <a:latin typeface="Consolas" panose="020B0609020204030204" pitchFamily="49" charset="0"/>
              </a:rPr>
              <a:t>f"Episode</a:t>
            </a:r>
            <a:r>
              <a:rPr lang="en-IN" sz="1400" b="0" i="0">
                <a:solidFill>
                  <a:srgbClr val="6699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episode</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 Total Reward: </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save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save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state_dict</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"Saved model to disk"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close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return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sum</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1A3AAAC1-70FE-2853-ACC7-58931DB1329E}"/>
              </a:ext>
            </a:extLst>
          </p:cNvPr>
          <p:cNvSpPr txBox="1"/>
          <p:nvPr/>
        </p:nvSpPr>
        <p:spPr>
          <a:xfrm>
            <a:off x="8346281" y="1129276"/>
            <a:ext cx="3539572" cy="4801314"/>
          </a:xfrm>
          <a:prstGeom prst="rect">
            <a:avLst/>
          </a:prstGeom>
          <a:noFill/>
          <a:ln w="44450">
            <a:solidFill>
              <a:srgbClr val="C00000"/>
            </a:solidFill>
          </a:ln>
        </p:spPr>
        <p:txBody>
          <a:bodyPr wrap="square">
            <a:spAutoFit/>
          </a:bodyPr>
          <a:lstStyle/>
          <a:p>
            <a:r>
              <a:rPr lang="en-US" err="1"/>
              <a:t>next_state</a:t>
            </a:r>
            <a:r>
              <a:rPr lang="en-US"/>
              <a:t>, reward, done, _, _ = self.env.step(action)</a:t>
            </a:r>
          </a:p>
          <a:p>
            <a:endParaRPr lang="en-US"/>
          </a:p>
          <a:p>
            <a:r>
              <a:rPr lang="en-US"/>
              <a:t>This line does ALL of these in one step:</a:t>
            </a:r>
          </a:p>
          <a:p>
            <a:pPr marL="342900" indent="-342900">
              <a:buFont typeface="+mj-lt"/>
              <a:buAutoNum type="arabicPeriod"/>
            </a:pPr>
            <a:r>
              <a:rPr lang="en-US" b="1"/>
              <a:t>Runs the physics engine</a:t>
            </a:r>
            <a:endParaRPr lang="en-US"/>
          </a:p>
          <a:p>
            <a:pPr marL="342900" indent="-342900">
              <a:buFont typeface="+mj-lt"/>
              <a:buAutoNum type="arabicPeriod"/>
            </a:pPr>
            <a:r>
              <a:rPr lang="en-US" b="1"/>
              <a:t>Updates lander position, speed, angle</a:t>
            </a:r>
            <a:endParaRPr lang="en-US"/>
          </a:p>
          <a:p>
            <a:pPr marL="342900" indent="-342900">
              <a:buFont typeface="+mj-lt"/>
              <a:buAutoNum type="arabicPeriod"/>
            </a:pPr>
            <a:r>
              <a:rPr lang="en-US" b="1"/>
              <a:t>Checks leg contact</a:t>
            </a:r>
            <a:endParaRPr lang="en-US"/>
          </a:p>
          <a:p>
            <a:pPr marL="342900" indent="-342900">
              <a:buFont typeface="+mj-lt"/>
              <a:buAutoNum type="arabicPeriod"/>
            </a:pPr>
            <a:r>
              <a:rPr lang="en-US" b="1"/>
              <a:t>Checks crash/landing</a:t>
            </a:r>
            <a:endParaRPr lang="en-US"/>
          </a:p>
          <a:p>
            <a:pPr marL="342900" indent="-342900">
              <a:buFont typeface="+mj-lt"/>
              <a:buAutoNum type="arabicPeriod"/>
            </a:pPr>
            <a:r>
              <a:rPr lang="en-US" b="1"/>
              <a:t>Computes SHAPING reward</a:t>
            </a:r>
            <a:endParaRPr lang="en-US"/>
          </a:p>
          <a:p>
            <a:pPr marL="342900" indent="-342900">
              <a:buFont typeface="+mj-lt"/>
              <a:buAutoNum type="arabicPeriod"/>
            </a:pPr>
            <a:r>
              <a:rPr lang="en-US" b="1"/>
              <a:t>Applies engine penalty</a:t>
            </a:r>
            <a:endParaRPr lang="en-US"/>
          </a:p>
          <a:p>
            <a:pPr marL="342900" indent="-342900">
              <a:buFont typeface="+mj-lt"/>
              <a:buAutoNum type="arabicPeriod"/>
            </a:pPr>
            <a:r>
              <a:rPr lang="en-US" b="1"/>
              <a:t>Applies crash/landing bonus or penalty</a:t>
            </a:r>
            <a:endParaRPr lang="en-US"/>
          </a:p>
          <a:p>
            <a:pPr marL="342900" indent="-342900">
              <a:buFont typeface="+mj-lt"/>
              <a:buAutoNum type="arabicPeriod"/>
            </a:pPr>
            <a:r>
              <a:rPr lang="en-US" b="1"/>
              <a:t>Returns reward to your DQN</a:t>
            </a:r>
            <a:endParaRPr lang="en-US"/>
          </a:p>
          <a:p>
            <a:endParaRPr lang="en-US"/>
          </a:p>
          <a:p>
            <a:endParaRPr lang="en-US"/>
          </a:p>
        </p:txBody>
      </p:sp>
      <p:sp>
        <p:nvSpPr>
          <p:cNvPr id="11" name="Arrow: Right 10">
            <a:extLst>
              <a:ext uri="{FF2B5EF4-FFF2-40B4-BE49-F238E27FC236}">
                <a16:creationId xmlns:a16="http://schemas.microsoft.com/office/drawing/2014/main" id="{C97DD0D5-D704-F02D-E9B5-71D3F3E77497}"/>
              </a:ext>
            </a:extLst>
          </p:cNvPr>
          <p:cNvSpPr/>
          <p:nvPr/>
        </p:nvSpPr>
        <p:spPr>
          <a:xfrm>
            <a:off x="7127301" y="2478571"/>
            <a:ext cx="1041974" cy="27878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69463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3DA9C-A013-7963-718F-C4F8AB17C87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C823BF-8DA2-D4FD-8692-36DD9D05BBB1}"/>
              </a:ext>
            </a:extLst>
          </p:cNvPr>
          <p:cNvSpPr txBox="1"/>
          <p:nvPr/>
        </p:nvSpPr>
        <p:spPr>
          <a:xfrm>
            <a:off x="306146" y="122216"/>
            <a:ext cx="10448939" cy="6124754"/>
          </a:xfrm>
          <a:prstGeom prst="rect">
            <a:avLst/>
          </a:prstGeom>
          <a:noFill/>
          <a:ln w="38100">
            <a:solidFill>
              <a:srgbClr val="0070C0"/>
            </a:solidFill>
          </a:ln>
        </p:spPr>
        <p:txBody>
          <a:bodyPr wrap="square">
            <a:spAutoFit/>
          </a:bodyPr>
          <a:lstStyle/>
          <a:p>
            <a:pPr algn="l" latinLnBrk="0">
              <a:buNone/>
            </a:pPr>
            <a:r>
              <a:rPr lang="en-IN" sz="1400" b="0" i="0">
                <a:solidFill>
                  <a:srgbClr val="0077AA"/>
                </a:solidFill>
                <a:effectLst/>
                <a:latin typeface="Consolas" panose="020B0609020204030204" pitchFamily="49" charset="0"/>
              </a:rPr>
              <a:t>def</a:t>
            </a:r>
            <a:r>
              <a:rPr lang="en-IN" sz="1400" b="0" i="0">
                <a:solidFill>
                  <a:srgbClr val="000000"/>
                </a:solidFill>
                <a:effectLst/>
                <a:latin typeface="Consolas" panose="020B0609020204030204" pitchFamily="49" charset="0"/>
              </a:rPr>
              <a:t> </a:t>
            </a:r>
            <a:r>
              <a:rPr lang="en-IN" sz="1400" b="0" i="0">
                <a:solidFill>
                  <a:srgbClr val="DD4A68"/>
                </a:solidFill>
                <a:effectLst/>
                <a:latin typeface="Consolas" panose="020B0609020204030204" pitchFamily="49" charset="0"/>
              </a:rPr>
              <a:t>train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self</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save</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True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for</a:t>
            </a:r>
            <a:r>
              <a:rPr lang="en-IN" sz="1400" b="0" i="0">
                <a:solidFill>
                  <a:srgbClr val="000000"/>
                </a:solidFill>
                <a:effectLst/>
                <a:latin typeface="Consolas" panose="020B0609020204030204" pitchFamily="49" charset="0"/>
              </a:rPr>
              <a:t> episode </a:t>
            </a:r>
            <a:r>
              <a:rPr lang="en-IN" sz="1400" b="0" i="0">
                <a:solidFill>
                  <a:srgbClr val="0077AA"/>
                </a:solidFill>
                <a:effectLst/>
                <a:latin typeface="Consolas" panose="020B0609020204030204" pitchFamily="49" charset="0"/>
              </a:rPr>
              <a:t>in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range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reset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done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False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0</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while</a:t>
            </a: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not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render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708090"/>
                </a:solidFill>
                <a:effectLst/>
                <a:latin typeface="Consolas" panose="020B0609020204030204" pitchFamily="49" charset="0"/>
              </a:rPr>
              <a:t># Add this line to render the environment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action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FloatTensor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unsqueeze</a:t>
            </a:r>
            <a:r>
              <a:rPr lang="en-IN" sz="1400" b="0" i="0">
                <a:solidFill>
                  <a:srgbClr val="999999"/>
                </a:solidFill>
                <a:effectLst/>
                <a:latin typeface="Consolas" panose="020B0609020204030204" pitchFamily="49" charset="0"/>
              </a:rPr>
              <a:t>(</a:t>
            </a:r>
            <a:r>
              <a:rPr lang="en-IN" sz="1400" b="0" i="0">
                <a:solidFill>
                  <a:srgbClr val="990055"/>
                </a:solidFill>
                <a:effectLst/>
                <a:latin typeface="Consolas" panose="020B0609020204030204" pitchFamily="49" charset="0"/>
              </a:rPr>
              <a:t>0</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argmax</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dim</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1</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item</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step</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action</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push</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action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&gt;=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batch_size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update_network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append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err="1">
                <a:solidFill>
                  <a:srgbClr val="669900"/>
                </a:solidFill>
                <a:effectLst/>
                <a:latin typeface="Consolas" panose="020B0609020204030204" pitchFamily="49" charset="0"/>
              </a:rPr>
              <a:t>f"Episode</a:t>
            </a:r>
            <a:r>
              <a:rPr lang="en-IN" sz="1400" b="0" i="0">
                <a:solidFill>
                  <a:srgbClr val="6699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episode</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 Total Reward: </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save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save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state_dict</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"Saved model to disk"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close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return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sum</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95C1DB0-8EFA-CC3A-3807-DFBFC777BE82}"/>
              </a:ext>
            </a:extLst>
          </p:cNvPr>
          <p:cNvSpPr txBox="1"/>
          <p:nvPr/>
        </p:nvSpPr>
        <p:spPr>
          <a:xfrm>
            <a:off x="7349068" y="2986121"/>
            <a:ext cx="4728634" cy="3386103"/>
          </a:xfrm>
          <a:prstGeom prst="rect">
            <a:avLst/>
          </a:prstGeom>
          <a:noFill/>
          <a:ln w="41275">
            <a:solidFill>
              <a:srgbClr val="C00000"/>
            </a:solidFill>
          </a:ln>
        </p:spPr>
        <p:txBody>
          <a:bodyPr wrap="square">
            <a:spAutoFit/>
          </a:bodyPr>
          <a:lstStyle/>
          <a:p>
            <a:pPr algn="l">
              <a:buFont typeface="Arial" panose="020B0604020202020204" pitchFamily="34" charset="0"/>
              <a:buChar char="•"/>
            </a:pPr>
            <a:r>
              <a:rPr lang="en-US" b="0" i="0">
                <a:solidFill>
                  <a:srgbClr val="2A2A2A"/>
                </a:solidFill>
                <a:effectLst/>
                <a:latin typeface="Courier New" panose="02070309020205020404" pitchFamily="49" charset="0"/>
              </a:rPr>
              <a:t>self.env.step(action)</a:t>
            </a:r>
            <a:r>
              <a:rPr lang="en-US" b="0" i="0">
                <a:solidFill>
                  <a:srgbClr val="2A2A2A"/>
                </a:solidFill>
                <a:effectLst/>
                <a:latin typeface="Work Sans" pitchFamily="2" charset="0"/>
              </a:rPr>
              <a:t> performs the action and returns the next state, reward, and whether the episode is done.</a:t>
            </a:r>
          </a:p>
          <a:p>
            <a:pPr algn="l">
              <a:spcBef>
                <a:spcPts val="600"/>
              </a:spcBef>
              <a:buFont typeface="Arial" panose="020B0604020202020204" pitchFamily="34" charset="0"/>
              <a:buChar char="•"/>
            </a:pPr>
            <a:r>
              <a:rPr lang="en-US" b="0" i="0" err="1">
                <a:solidFill>
                  <a:srgbClr val="2A2A2A"/>
                </a:solidFill>
                <a:effectLst/>
                <a:latin typeface="Courier New" panose="02070309020205020404" pitchFamily="49" charset="0"/>
              </a:rPr>
              <a:t>self.replay_buffer.push</a:t>
            </a:r>
            <a:r>
              <a:rPr lang="en-US" b="0" i="0">
                <a:solidFill>
                  <a:srgbClr val="2A2A2A"/>
                </a:solidFill>
                <a:effectLst/>
                <a:latin typeface="Courier New" panose="02070309020205020404" pitchFamily="49" charset="0"/>
              </a:rPr>
              <a:t>(...)</a:t>
            </a:r>
            <a:r>
              <a:rPr lang="en-US" b="0" i="0">
                <a:solidFill>
                  <a:srgbClr val="2A2A2A"/>
                </a:solidFill>
                <a:effectLst/>
                <a:latin typeface="Work Sans" pitchFamily="2" charset="0"/>
              </a:rPr>
              <a:t> stores the experience in the replay buffer.</a:t>
            </a:r>
          </a:p>
          <a:p>
            <a:pPr algn="l">
              <a:spcBef>
                <a:spcPts val="600"/>
              </a:spcBef>
              <a:buFont typeface="Arial" panose="020B0604020202020204" pitchFamily="34" charset="0"/>
              <a:buChar char="•"/>
            </a:pPr>
            <a:r>
              <a:rPr lang="en-US" b="0" i="0">
                <a:solidFill>
                  <a:srgbClr val="2A2A2A"/>
                </a:solidFill>
                <a:effectLst/>
                <a:latin typeface="Courier New" panose="02070309020205020404" pitchFamily="49" charset="0"/>
              </a:rPr>
              <a:t>state = </a:t>
            </a:r>
            <a:r>
              <a:rPr lang="en-US" b="0" i="0" err="1">
                <a:solidFill>
                  <a:srgbClr val="2A2A2A"/>
                </a:solidFill>
                <a:effectLst/>
                <a:latin typeface="Courier New" panose="02070309020205020404" pitchFamily="49" charset="0"/>
              </a:rPr>
              <a:t>next_state</a:t>
            </a:r>
            <a:r>
              <a:rPr lang="en-US" b="0" i="0">
                <a:solidFill>
                  <a:srgbClr val="2A2A2A"/>
                </a:solidFill>
                <a:effectLst/>
                <a:latin typeface="Work Sans" pitchFamily="2" charset="0"/>
              </a:rPr>
              <a:t> updates the current state to the next state.</a:t>
            </a:r>
          </a:p>
          <a:p>
            <a:pPr algn="l">
              <a:spcBef>
                <a:spcPts val="600"/>
              </a:spcBef>
              <a:buFont typeface="Arial" panose="020B0604020202020204" pitchFamily="34" charset="0"/>
              <a:buChar char="•"/>
            </a:pPr>
            <a:r>
              <a:rPr lang="en-US" b="0" i="0" err="1">
                <a:solidFill>
                  <a:srgbClr val="2A2A2A"/>
                </a:solidFill>
                <a:effectLst/>
                <a:latin typeface="Courier New" panose="02070309020205020404" pitchFamily="49" charset="0"/>
              </a:rPr>
              <a:t>total_reward</a:t>
            </a:r>
            <a:r>
              <a:rPr lang="en-US" b="0" i="0">
                <a:solidFill>
                  <a:srgbClr val="2A2A2A"/>
                </a:solidFill>
                <a:effectLst/>
                <a:latin typeface="Courier New" panose="02070309020205020404" pitchFamily="49" charset="0"/>
              </a:rPr>
              <a:t> += reward</a:t>
            </a:r>
            <a:r>
              <a:rPr lang="en-US" b="0" i="0">
                <a:solidFill>
                  <a:srgbClr val="2A2A2A"/>
                </a:solidFill>
                <a:effectLst/>
                <a:latin typeface="Work Sans" pitchFamily="2" charset="0"/>
              </a:rPr>
              <a:t> accumulates the reward for the current episode.</a:t>
            </a:r>
          </a:p>
        </p:txBody>
      </p:sp>
      <p:sp>
        <p:nvSpPr>
          <p:cNvPr id="12" name="Arrow: Right 11">
            <a:extLst>
              <a:ext uri="{FF2B5EF4-FFF2-40B4-BE49-F238E27FC236}">
                <a16:creationId xmlns:a16="http://schemas.microsoft.com/office/drawing/2014/main" id="{82A93280-8EFC-D9FE-FA7B-31792BC21C8E}"/>
              </a:ext>
            </a:extLst>
          </p:cNvPr>
          <p:cNvSpPr/>
          <p:nvPr/>
        </p:nvSpPr>
        <p:spPr>
          <a:xfrm rot="1159777">
            <a:off x="8036446" y="2650542"/>
            <a:ext cx="723509" cy="377153"/>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5146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B25D3-8C9E-AC42-822B-127DED5D2F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CB78658-4D17-CF6E-7960-8392D6E52D74}"/>
              </a:ext>
            </a:extLst>
          </p:cNvPr>
          <p:cNvSpPr txBox="1"/>
          <p:nvPr/>
        </p:nvSpPr>
        <p:spPr>
          <a:xfrm>
            <a:off x="306147" y="122216"/>
            <a:ext cx="7904404" cy="6124754"/>
          </a:xfrm>
          <a:prstGeom prst="rect">
            <a:avLst/>
          </a:prstGeom>
          <a:noFill/>
          <a:ln w="38100">
            <a:solidFill>
              <a:srgbClr val="0070C0"/>
            </a:solidFill>
          </a:ln>
        </p:spPr>
        <p:txBody>
          <a:bodyPr wrap="square">
            <a:spAutoFit/>
          </a:bodyPr>
          <a:lstStyle/>
          <a:p>
            <a:pPr algn="l" latinLnBrk="0">
              <a:buNone/>
            </a:pPr>
            <a:r>
              <a:rPr lang="en-IN" sz="1400" b="0" i="0">
                <a:solidFill>
                  <a:srgbClr val="0077AA"/>
                </a:solidFill>
                <a:effectLst/>
                <a:latin typeface="Consolas" panose="020B0609020204030204" pitchFamily="49" charset="0"/>
              </a:rPr>
              <a:t>def</a:t>
            </a:r>
            <a:r>
              <a:rPr lang="en-IN" sz="1400" b="0" i="0">
                <a:solidFill>
                  <a:srgbClr val="000000"/>
                </a:solidFill>
                <a:effectLst/>
                <a:latin typeface="Consolas" panose="020B0609020204030204" pitchFamily="49" charset="0"/>
              </a:rPr>
              <a:t> </a:t>
            </a:r>
            <a:r>
              <a:rPr lang="en-IN" sz="1400" b="0" i="0">
                <a:solidFill>
                  <a:srgbClr val="DD4A68"/>
                </a:solidFill>
                <a:effectLst/>
                <a:latin typeface="Consolas" panose="020B0609020204030204" pitchFamily="49" charset="0"/>
              </a:rPr>
              <a:t>train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self</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save</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True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for</a:t>
            </a:r>
            <a:r>
              <a:rPr lang="en-IN" sz="1400" b="0" i="0">
                <a:solidFill>
                  <a:srgbClr val="000000"/>
                </a:solidFill>
                <a:effectLst/>
                <a:latin typeface="Consolas" panose="020B0609020204030204" pitchFamily="49" charset="0"/>
              </a:rPr>
              <a:t> episode </a:t>
            </a:r>
            <a:r>
              <a:rPr lang="en-IN" sz="1400" b="0" i="0">
                <a:solidFill>
                  <a:srgbClr val="0077AA"/>
                </a:solidFill>
                <a:effectLst/>
                <a:latin typeface="Consolas" panose="020B0609020204030204" pitchFamily="49" charset="0"/>
              </a:rPr>
              <a:t>in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range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reset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done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False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0</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while</a:t>
            </a: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not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render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708090"/>
                </a:solidFill>
                <a:effectLst/>
                <a:latin typeface="Consolas" panose="020B0609020204030204" pitchFamily="49" charset="0"/>
              </a:rPr>
              <a:t># Add this line to render the environment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action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FloatTensor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unsqueeze</a:t>
            </a:r>
            <a:r>
              <a:rPr lang="en-IN" sz="1400" b="0" i="0">
                <a:solidFill>
                  <a:srgbClr val="999999"/>
                </a:solidFill>
                <a:effectLst/>
                <a:latin typeface="Consolas" panose="020B0609020204030204" pitchFamily="49" charset="0"/>
              </a:rPr>
              <a:t>(</a:t>
            </a:r>
            <a:r>
              <a:rPr lang="en-IN" sz="1400" b="0" i="0">
                <a:solidFill>
                  <a:srgbClr val="990055"/>
                </a:solidFill>
                <a:effectLst/>
                <a:latin typeface="Consolas" panose="020B0609020204030204" pitchFamily="49" charset="0"/>
              </a:rPr>
              <a:t>0</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argmax</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dim</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1</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item</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step</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action</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push</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action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&gt;=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batch_size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update_network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append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err="1">
                <a:solidFill>
                  <a:srgbClr val="669900"/>
                </a:solidFill>
                <a:effectLst/>
                <a:latin typeface="Consolas" panose="020B0609020204030204" pitchFamily="49" charset="0"/>
              </a:rPr>
              <a:t>f"Episode</a:t>
            </a:r>
            <a:r>
              <a:rPr lang="en-IN" sz="1400" b="0" i="0">
                <a:solidFill>
                  <a:srgbClr val="6699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episode</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 Total Reward: </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save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save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state_dict</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"Saved model to disk"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close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return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sum</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p:txBody>
      </p:sp>
      <p:sp>
        <p:nvSpPr>
          <p:cNvPr id="12" name="Arrow: Right 11">
            <a:extLst>
              <a:ext uri="{FF2B5EF4-FFF2-40B4-BE49-F238E27FC236}">
                <a16:creationId xmlns:a16="http://schemas.microsoft.com/office/drawing/2014/main" id="{C3FE86D5-AD7D-2B1C-3038-6C53375F0E66}"/>
              </a:ext>
            </a:extLst>
          </p:cNvPr>
          <p:cNvSpPr/>
          <p:nvPr/>
        </p:nvSpPr>
        <p:spPr>
          <a:xfrm rot="20625012">
            <a:off x="6256078" y="3183380"/>
            <a:ext cx="2452219" cy="22614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98DE7A2-4CD1-DC85-A88A-69AC8A78EA15}"/>
              </a:ext>
            </a:extLst>
          </p:cNvPr>
          <p:cNvSpPr txBox="1"/>
          <p:nvPr/>
        </p:nvSpPr>
        <p:spPr>
          <a:xfrm>
            <a:off x="8610742" y="154373"/>
            <a:ext cx="3411925" cy="4247317"/>
          </a:xfrm>
          <a:prstGeom prst="rect">
            <a:avLst/>
          </a:prstGeom>
          <a:noFill/>
          <a:ln w="41275">
            <a:solidFill>
              <a:srgbClr val="C00000"/>
            </a:solidFill>
          </a:ln>
        </p:spPr>
        <p:txBody>
          <a:bodyPr wrap="square">
            <a:spAutoFit/>
          </a:bodyPr>
          <a:lstStyle/>
          <a:p>
            <a:r>
              <a:rPr lang="en-US" b="1" i="0">
                <a:solidFill>
                  <a:srgbClr val="2A2A2A"/>
                </a:solidFill>
                <a:effectLst/>
                <a:latin typeface="Work Sans" pitchFamily="2" charset="0"/>
              </a:rPr>
              <a:t>Update </a:t>
            </a:r>
            <a:r>
              <a:rPr lang="en-US" b="1" i="0" err="1">
                <a:solidFill>
                  <a:srgbClr val="2A2A2A"/>
                </a:solidFill>
                <a:effectLst/>
                <a:latin typeface="Work Sans" pitchFamily="2" charset="0"/>
              </a:rPr>
              <a:t>Network</a:t>
            </a:r>
            <a:r>
              <a:rPr lang="en-US" b="0" i="0" err="1">
                <a:solidFill>
                  <a:srgbClr val="2A2A2A"/>
                </a:solidFill>
                <a:effectLst/>
                <a:latin typeface="Work Sans" pitchFamily="2" charset="0"/>
              </a:rPr>
              <a:t>If</a:t>
            </a:r>
            <a:r>
              <a:rPr lang="en-US" b="0" i="0">
                <a:solidFill>
                  <a:srgbClr val="2A2A2A"/>
                </a:solidFill>
                <a:effectLst/>
                <a:latin typeface="Work Sans" pitchFamily="2" charset="0"/>
              </a:rPr>
              <a:t> the replay buffer has enough experience, the network is updated.</a:t>
            </a:r>
          </a:p>
          <a:p>
            <a:endParaRPr lang="en-US">
              <a:solidFill>
                <a:srgbClr val="2A2A2A"/>
              </a:solidFill>
              <a:latin typeface="Work Sans" pitchFamily="2" charset="0"/>
            </a:endParaRPr>
          </a:p>
          <a:p>
            <a:endParaRPr lang="en-US">
              <a:solidFill>
                <a:srgbClr val="2A2A2A"/>
              </a:solidFill>
              <a:latin typeface="Work Sans" pitchFamily="2" charset="0"/>
            </a:endParaRPr>
          </a:p>
          <a:p>
            <a:r>
              <a:rPr lang="en-US"/>
              <a:t>if </a:t>
            </a:r>
            <a:r>
              <a:rPr lang="en-US" err="1"/>
              <a:t>len</a:t>
            </a:r>
            <a:r>
              <a:rPr lang="en-US"/>
              <a:t>(</a:t>
            </a:r>
            <a:r>
              <a:rPr lang="en-US" err="1"/>
              <a:t>self.replay_buffer</a:t>
            </a:r>
            <a:r>
              <a:rPr lang="en-US"/>
              <a:t>) &gt;= </a:t>
            </a:r>
            <a:r>
              <a:rPr lang="en-US" err="1"/>
              <a:t>self.batch_size</a:t>
            </a:r>
            <a:r>
              <a:rPr lang="en-US"/>
              <a:t> checks if the replay buffer has at least </a:t>
            </a:r>
            <a:r>
              <a:rPr lang="en-US" err="1"/>
              <a:t>batch_size</a:t>
            </a:r>
            <a:r>
              <a:rPr lang="en-US"/>
              <a:t> experiences.</a:t>
            </a:r>
          </a:p>
          <a:p>
            <a:r>
              <a:rPr lang="en-US" err="1"/>
              <a:t>self.update_network</a:t>
            </a:r>
            <a:r>
              <a:rPr lang="en-US"/>
              <a:t>() updates the network using a batch of experiences from the replay buffer.</a:t>
            </a:r>
          </a:p>
          <a:p>
            <a:endParaRPr lang="en-IN"/>
          </a:p>
        </p:txBody>
      </p:sp>
      <p:sp>
        <p:nvSpPr>
          <p:cNvPr id="9" name="TextBox 8">
            <a:extLst>
              <a:ext uri="{FF2B5EF4-FFF2-40B4-BE49-F238E27FC236}">
                <a16:creationId xmlns:a16="http://schemas.microsoft.com/office/drawing/2014/main" id="{4538FC2C-93AF-1284-B082-C2336B3924BA}"/>
              </a:ext>
            </a:extLst>
          </p:cNvPr>
          <p:cNvSpPr txBox="1"/>
          <p:nvPr/>
        </p:nvSpPr>
        <p:spPr>
          <a:xfrm>
            <a:off x="8543108" y="4727792"/>
            <a:ext cx="3411925" cy="923330"/>
          </a:xfrm>
          <a:prstGeom prst="rect">
            <a:avLst/>
          </a:prstGeom>
          <a:noFill/>
          <a:ln w="34925">
            <a:solidFill>
              <a:srgbClr val="C00000"/>
            </a:solidFill>
          </a:ln>
        </p:spPr>
        <p:txBody>
          <a:bodyPr wrap="square">
            <a:spAutoFit/>
          </a:bodyPr>
          <a:lstStyle/>
          <a:p>
            <a:pPr>
              <a:buNone/>
            </a:pPr>
            <a:r>
              <a:rPr lang="en-US" b="1"/>
              <a:t>Function: </a:t>
            </a:r>
            <a:r>
              <a:rPr lang="en-US" b="1" err="1">
                <a:latin typeface="Courier New" panose="02070309020205020404" pitchFamily="49" charset="0"/>
              </a:rPr>
              <a:t>update_network</a:t>
            </a:r>
            <a:r>
              <a:rPr lang="en-US" b="1">
                <a:latin typeface="Courier New" panose="02070309020205020404" pitchFamily="49" charset="0"/>
              </a:rPr>
              <a:t>()</a:t>
            </a:r>
            <a:endParaRPr lang="en-US" b="1"/>
          </a:p>
          <a:p>
            <a:pPr>
              <a:buNone/>
            </a:pPr>
            <a:r>
              <a:rPr lang="en-US" b="1"/>
              <a:t>Periodically copy weights from main network → target network</a:t>
            </a:r>
          </a:p>
        </p:txBody>
      </p:sp>
    </p:spTree>
    <p:extLst>
      <p:ext uri="{BB962C8B-B14F-4D97-AF65-F5344CB8AC3E}">
        <p14:creationId xmlns:p14="http://schemas.microsoft.com/office/powerpoint/2010/main" val="340478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 grpId="0" animBg="1"/>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22B8-CEA2-72E2-E624-2273CCDDC1F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69D232-5A77-4EFE-BAD8-F21FDCD20CB0}"/>
              </a:ext>
            </a:extLst>
          </p:cNvPr>
          <p:cNvSpPr txBox="1"/>
          <p:nvPr/>
        </p:nvSpPr>
        <p:spPr>
          <a:xfrm>
            <a:off x="306147" y="122216"/>
            <a:ext cx="7904404" cy="6124754"/>
          </a:xfrm>
          <a:prstGeom prst="rect">
            <a:avLst/>
          </a:prstGeom>
          <a:noFill/>
          <a:ln w="38100">
            <a:solidFill>
              <a:srgbClr val="0070C0"/>
            </a:solidFill>
          </a:ln>
        </p:spPr>
        <p:txBody>
          <a:bodyPr wrap="square">
            <a:spAutoFit/>
          </a:bodyPr>
          <a:lstStyle/>
          <a:p>
            <a:pPr algn="l" latinLnBrk="0">
              <a:buNone/>
            </a:pPr>
            <a:r>
              <a:rPr lang="en-IN" sz="1400" b="0" i="0">
                <a:solidFill>
                  <a:srgbClr val="0077AA"/>
                </a:solidFill>
                <a:effectLst/>
                <a:latin typeface="Consolas" panose="020B0609020204030204" pitchFamily="49" charset="0"/>
              </a:rPr>
              <a:t>def</a:t>
            </a:r>
            <a:r>
              <a:rPr lang="en-IN" sz="1400" b="0" i="0">
                <a:solidFill>
                  <a:srgbClr val="000000"/>
                </a:solidFill>
                <a:effectLst/>
                <a:latin typeface="Consolas" panose="020B0609020204030204" pitchFamily="49" charset="0"/>
              </a:rPr>
              <a:t> </a:t>
            </a:r>
            <a:r>
              <a:rPr lang="en-IN" sz="1400" b="0" i="0">
                <a:solidFill>
                  <a:srgbClr val="DD4A68"/>
                </a:solidFill>
                <a:effectLst/>
                <a:latin typeface="Consolas" panose="020B0609020204030204" pitchFamily="49" charset="0"/>
              </a:rPr>
              <a:t>train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self</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save</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True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for</a:t>
            </a:r>
            <a:r>
              <a:rPr lang="en-IN" sz="1400" b="0" i="0">
                <a:solidFill>
                  <a:srgbClr val="000000"/>
                </a:solidFill>
                <a:effectLst/>
                <a:latin typeface="Consolas" panose="020B0609020204030204" pitchFamily="49" charset="0"/>
              </a:rPr>
              <a:t> episode </a:t>
            </a:r>
            <a:r>
              <a:rPr lang="en-IN" sz="1400" b="0" i="0">
                <a:solidFill>
                  <a:srgbClr val="0077AA"/>
                </a:solidFill>
                <a:effectLst/>
                <a:latin typeface="Consolas" panose="020B0609020204030204" pitchFamily="49" charset="0"/>
              </a:rPr>
              <a:t>in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range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num_episodes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reset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done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False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90055"/>
                </a:solidFill>
                <a:effectLst/>
                <a:latin typeface="Consolas" panose="020B0609020204030204" pitchFamily="49" charset="0"/>
              </a:rPr>
              <a:t>0</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while</a:t>
            </a: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not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render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708090"/>
                </a:solidFill>
                <a:effectLst/>
                <a:latin typeface="Consolas" panose="020B0609020204030204" pitchFamily="49" charset="0"/>
              </a:rPr>
              <a:t># Add this line to render the environment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action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FloatTensor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unsqueeze</a:t>
            </a:r>
            <a:r>
              <a:rPr lang="en-IN" sz="1400" b="0" i="0">
                <a:solidFill>
                  <a:srgbClr val="999999"/>
                </a:solidFill>
                <a:effectLst/>
                <a:latin typeface="Consolas" panose="020B0609020204030204" pitchFamily="49" charset="0"/>
              </a:rPr>
              <a:t>(</a:t>
            </a:r>
            <a:r>
              <a:rPr lang="en-IN" sz="1400" b="0" i="0">
                <a:solidFill>
                  <a:srgbClr val="990055"/>
                </a:solidFill>
                <a:effectLst/>
                <a:latin typeface="Consolas" panose="020B0609020204030204" pitchFamily="49" charset="0"/>
              </a:rPr>
              <a:t>0</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argmax</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dim</a:t>
            </a:r>
            <a:r>
              <a:rPr lang="en-IN" sz="1400" b="0" i="0">
                <a:solidFill>
                  <a:srgbClr val="9A6E3A"/>
                </a:solidFill>
                <a:effectLst/>
                <a:latin typeface="Consolas" panose="020B0609020204030204" pitchFamily="49" charset="0"/>
              </a:rPr>
              <a:t>=</a:t>
            </a:r>
            <a:r>
              <a:rPr lang="en-IN" sz="1400" b="0" i="0">
                <a:solidFill>
                  <a:srgbClr val="990055"/>
                </a:solidFill>
                <a:effectLst/>
                <a:latin typeface="Consolas" panose="020B0609020204030204" pitchFamily="49" charset="0"/>
              </a:rPr>
              <a:t>1</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item</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_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step</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action</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push</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action</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done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state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next_state</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reward</a:t>
            </a: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replay_buffer</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&gt;=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batch_size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update_network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total_rewards</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append</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err="1">
                <a:solidFill>
                  <a:srgbClr val="669900"/>
                </a:solidFill>
                <a:effectLst/>
                <a:latin typeface="Consolas" panose="020B0609020204030204" pitchFamily="49" charset="0"/>
              </a:rPr>
              <a:t>f"Episode</a:t>
            </a:r>
            <a:r>
              <a:rPr lang="en-IN" sz="1400" b="0" i="0">
                <a:solidFill>
                  <a:srgbClr val="669900"/>
                </a:solidFill>
                <a:effectLst/>
                <a:latin typeface="Consolas" panose="020B0609020204030204" pitchFamily="49" charset="0"/>
              </a:rPr>
              <a:t> </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episode</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 Total Reward: </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if</a:t>
            </a:r>
            <a:r>
              <a:rPr lang="en-IN" sz="1400" b="0" i="0">
                <a:solidFill>
                  <a:srgbClr val="000000"/>
                </a:solidFill>
                <a:effectLst/>
                <a:latin typeface="Consolas" panose="020B0609020204030204" pitchFamily="49" charset="0"/>
              </a:rPr>
              <a:t> save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torch</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save</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main_network</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state_dict</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model_path</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print</a:t>
            </a:r>
            <a:r>
              <a:rPr lang="en-IN" sz="1400" b="0" i="0">
                <a:solidFill>
                  <a:srgbClr val="999999"/>
                </a:solidFill>
                <a:effectLst/>
                <a:latin typeface="Consolas" panose="020B0609020204030204" pitchFamily="49" charset="0"/>
              </a:rPr>
              <a:t>(</a:t>
            </a:r>
            <a:r>
              <a:rPr lang="en-IN" sz="1400" b="0" i="0">
                <a:solidFill>
                  <a:srgbClr val="669900"/>
                </a:solidFill>
                <a:effectLst/>
                <a:latin typeface="Consolas" panose="020B0609020204030204" pitchFamily="49" charset="0"/>
              </a:rPr>
              <a:t>"Saved model to disk"</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err="1">
                <a:solidFill>
                  <a:srgbClr val="000000"/>
                </a:solidFill>
                <a:effectLst/>
                <a:latin typeface="Consolas" panose="020B0609020204030204" pitchFamily="49" charset="0"/>
              </a:rPr>
              <a:t>self</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env</a:t>
            </a:r>
            <a:r>
              <a:rPr lang="en-IN" sz="1400" b="0" i="0" err="1">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close</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a:p>
            <a:pPr algn="l" latinLnBrk="0">
              <a:buNone/>
            </a:pPr>
            <a:r>
              <a:rPr lang="en-IN" sz="1400" b="0" i="0">
                <a:solidFill>
                  <a:srgbClr val="000000"/>
                </a:solidFill>
                <a:effectLst/>
                <a:latin typeface="Consolas" panose="020B0609020204030204" pitchFamily="49" charset="0"/>
              </a:rPr>
              <a:t>    </a:t>
            </a:r>
            <a:r>
              <a:rPr lang="en-IN" sz="1400" b="0" i="0">
                <a:solidFill>
                  <a:srgbClr val="0077AA"/>
                </a:solidFill>
                <a:effectLst/>
                <a:latin typeface="Consolas" panose="020B0609020204030204" pitchFamily="49" charset="0"/>
              </a:rPr>
              <a:t>return</a:t>
            </a:r>
            <a:r>
              <a:rPr lang="en-IN" sz="1400" b="0" i="0">
                <a:solidFill>
                  <a:srgbClr val="000000"/>
                </a:solidFill>
                <a:effectLst/>
                <a:latin typeface="Consolas" panose="020B0609020204030204" pitchFamily="49" charset="0"/>
              </a:rPr>
              <a:t> </a:t>
            </a:r>
            <a:r>
              <a:rPr lang="en-IN" sz="1400" b="0" i="0">
                <a:solidFill>
                  <a:srgbClr val="669900"/>
                </a:solidFill>
                <a:effectLst/>
                <a:latin typeface="Consolas" panose="020B0609020204030204" pitchFamily="49" charset="0"/>
              </a:rPr>
              <a:t>sum</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a:solidFill>
                  <a:srgbClr val="9A6E3A"/>
                </a:solidFill>
                <a:effectLst/>
                <a:latin typeface="Consolas" panose="020B0609020204030204" pitchFamily="49" charset="0"/>
              </a:rPr>
              <a:t>/</a:t>
            </a:r>
            <a:r>
              <a:rPr lang="en-IN" sz="1400" b="0" i="0">
                <a:solidFill>
                  <a:srgbClr val="000000"/>
                </a:solidFill>
                <a:effectLst/>
                <a:latin typeface="Consolas" panose="020B0609020204030204" pitchFamily="49" charset="0"/>
              </a:rPr>
              <a:t> </a:t>
            </a:r>
            <a:r>
              <a:rPr lang="en-IN" sz="1400" b="0" i="0" err="1">
                <a:solidFill>
                  <a:srgbClr val="669900"/>
                </a:solidFill>
                <a:effectLst/>
                <a:latin typeface="Consolas" panose="020B0609020204030204" pitchFamily="49" charset="0"/>
              </a:rPr>
              <a:t>len</a:t>
            </a:r>
            <a:r>
              <a:rPr lang="en-IN" sz="1400" b="0" i="0">
                <a:solidFill>
                  <a:srgbClr val="999999"/>
                </a:solidFill>
                <a:effectLst/>
                <a:latin typeface="Consolas" panose="020B0609020204030204" pitchFamily="49" charset="0"/>
              </a:rPr>
              <a:t>(</a:t>
            </a:r>
            <a:r>
              <a:rPr lang="en-IN" sz="1400" b="0" i="0" err="1">
                <a:solidFill>
                  <a:srgbClr val="000000"/>
                </a:solidFill>
                <a:effectLst/>
                <a:latin typeface="Consolas" panose="020B0609020204030204" pitchFamily="49" charset="0"/>
              </a:rPr>
              <a:t>total_rewards</a:t>
            </a:r>
            <a:r>
              <a:rPr lang="en-IN" sz="1400" b="0" i="0">
                <a:solidFill>
                  <a:srgbClr val="999999"/>
                </a:solidFill>
                <a:effectLst/>
                <a:latin typeface="Consolas" panose="020B0609020204030204" pitchFamily="49" charset="0"/>
              </a:rPr>
              <a:t>)</a:t>
            </a:r>
            <a:endParaRPr lang="en-IN" sz="1400" b="0" i="0">
              <a:solidFill>
                <a:srgbClr val="000000"/>
              </a:solidFill>
              <a:effectLst/>
              <a:latin typeface="Consolas" panose="020B0609020204030204" pitchFamily="49" charset="0"/>
            </a:endParaRPr>
          </a:p>
        </p:txBody>
      </p:sp>
      <p:sp>
        <p:nvSpPr>
          <p:cNvPr id="12" name="Arrow: Right 11">
            <a:extLst>
              <a:ext uri="{FF2B5EF4-FFF2-40B4-BE49-F238E27FC236}">
                <a16:creationId xmlns:a16="http://schemas.microsoft.com/office/drawing/2014/main" id="{2F3B00D2-7C0C-A6FC-9E8F-963AD7DE361B}"/>
              </a:ext>
            </a:extLst>
          </p:cNvPr>
          <p:cNvSpPr/>
          <p:nvPr/>
        </p:nvSpPr>
        <p:spPr>
          <a:xfrm rot="19892888">
            <a:off x="5627154" y="3359787"/>
            <a:ext cx="3132707" cy="36086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B612EEC-79A8-29D9-C35A-5471BC7BB41A}"/>
              </a:ext>
            </a:extLst>
          </p:cNvPr>
          <p:cNvSpPr txBox="1"/>
          <p:nvPr/>
        </p:nvSpPr>
        <p:spPr>
          <a:xfrm>
            <a:off x="8559941" y="105453"/>
            <a:ext cx="3411925" cy="2585323"/>
          </a:xfrm>
          <a:prstGeom prst="rect">
            <a:avLst/>
          </a:prstGeom>
          <a:noFill/>
          <a:ln w="41275">
            <a:solidFill>
              <a:srgbClr val="C00000"/>
            </a:solidFill>
          </a:ln>
        </p:spPr>
        <p:txBody>
          <a:bodyPr wrap="square">
            <a:spAutoFit/>
          </a:bodyPr>
          <a:lstStyle/>
          <a:p>
            <a:r>
              <a:rPr lang="en-US" err="1"/>
              <a:t>total_rewards.append</a:t>
            </a:r>
            <a:r>
              <a:rPr lang="en-US"/>
              <a:t>(</a:t>
            </a:r>
            <a:r>
              <a:rPr lang="en-US" err="1"/>
              <a:t>total_reward</a:t>
            </a:r>
            <a:r>
              <a:rPr lang="en-US"/>
              <a:t>) adds the total reward for the current episode to the list of total rewards.</a:t>
            </a:r>
          </a:p>
          <a:p>
            <a:r>
              <a:rPr lang="en-US"/>
              <a:t>print(</a:t>
            </a:r>
            <a:r>
              <a:rPr lang="en-US" err="1"/>
              <a:t>f"Episode</a:t>
            </a:r>
            <a:r>
              <a:rPr lang="en-US"/>
              <a:t> {episode}, Total Reward: {</a:t>
            </a:r>
            <a:r>
              <a:rPr lang="en-US" err="1"/>
              <a:t>total_reward</a:t>
            </a:r>
            <a:r>
              <a:rPr lang="en-US"/>
              <a:t>}") prints the episode number and total reward.</a:t>
            </a:r>
          </a:p>
          <a:p>
            <a:endParaRPr lang="en-IN"/>
          </a:p>
        </p:txBody>
      </p:sp>
      <p:sp>
        <p:nvSpPr>
          <p:cNvPr id="3" name="TextBox 2">
            <a:extLst>
              <a:ext uri="{FF2B5EF4-FFF2-40B4-BE49-F238E27FC236}">
                <a16:creationId xmlns:a16="http://schemas.microsoft.com/office/drawing/2014/main" id="{A406B3AA-45BF-32BD-D805-09525D0AC488}"/>
              </a:ext>
            </a:extLst>
          </p:cNvPr>
          <p:cNvSpPr txBox="1"/>
          <p:nvPr/>
        </p:nvSpPr>
        <p:spPr>
          <a:xfrm>
            <a:off x="8520354" y="3114781"/>
            <a:ext cx="3708400" cy="1754326"/>
          </a:xfrm>
          <a:prstGeom prst="rect">
            <a:avLst/>
          </a:prstGeom>
          <a:noFill/>
          <a:ln w="38100">
            <a:solidFill>
              <a:srgbClr val="C00000"/>
            </a:solidFill>
          </a:ln>
        </p:spPr>
        <p:txBody>
          <a:bodyPr wrap="square">
            <a:spAutoFit/>
          </a:bodyPr>
          <a:lstStyle/>
          <a:p>
            <a:r>
              <a:rPr lang="en-US" b="0" i="0" err="1">
                <a:solidFill>
                  <a:srgbClr val="2A2A2A"/>
                </a:solidFill>
                <a:effectLst/>
                <a:latin typeface="Courier New" panose="02070309020205020404" pitchFamily="49" charset="0"/>
              </a:rPr>
              <a:t>torch.save</a:t>
            </a:r>
            <a:r>
              <a:rPr lang="en-US" b="0" i="0">
                <a:solidFill>
                  <a:srgbClr val="2A2A2A"/>
                </a:solidFill>
                <a:effectLst/>
                <a:latin typeface="Courier New" panose="02070309020205020404" pitchFamily="49" charset="0"/>
              </a:rPr>
              <a:t>(</a:t>
            </a:r>
            <a:r>
              <a:rPr lang="en-US" b="0" i="0" err="1">
                <a:solidFill>
                  <a:srgbClr val="2A2A2A"/>
                </a:solidFill>
                <a:effectLst/>
                <a:latin typeface="Courier New" panose="02070309020205020404" pitchFamily="49" charset="0"/>
              </a:rPr>
              <a:t>self.main_network.state_dict</a:t>
            </a:r>
            <a:r>
              <a:rPr lang="en-US" b="0" i="0">
                <a:solidFill>
                  <a:srgbClr val="2A2A2A"/>
                </a:solidFill>
                <a:effectLst/>
                <a:latin typeface="Courier New" panose="02070309020205020404" pitchFamily="49" charset="0"/>
              </a:rPr>
              <a:t>(), </a:t>
            </a:r>
            <a:r>
              <a:rPr lang="en-US" b="0" i="0" err="1">
                <a:solidFill>
                  <a:srgbClr val="2A2A2A"/>
                </a:solidFill>
                <a:effectLst/>
                <a:latin typeface="Courier New" panose="02070309020205020404" pitchFamily="49" charset="0"/>
              </a:rPr>
              <a:t>self.model_path</a:t>
            </a:r>
            <a:r>
              <a:rPr lang="en-US" b="0" i="0">
                <a:solidFill>
                  <a:srgbClr val="2A2A2A"/>
                </a:solidFill>
                <a:effectLst/>
                <a:latin typeface="Courier New" panose="02070309020205020404" pitchFamily="49" charset="0"/>
              </a:rPr>
              <a:t>)</a:t>
            </a:r>
            <a:r>
              <a:rPr lang="en-US" b="0" i="0">
                <a:solidFill>
                  <a:srgbClr val="2A2A2A"/>
                </a:solidFill>
                <a:effectLst/>
                <a:latin typeface="Work Sans" pitchFamily="2" charset="0"/>
              </a:rPr>
              <a:t> saves the state dictionary of the main network to the specified file path.</a:t>
            </a:r>
            <a:endParaRPr lang="en-IN"/>
          </a:p>
        </p:txBody>
      </p:sp>
      <p:sp>
        <p:nvSpPr>
          <p:cNvPr id="6" name="Arrow: Right 5">
            <a:extLst>
              <a:ext uri="{FF2B5EF4-FFF2-40B4-BE49-F238E27FC236}">
                <a16:creationId xmlns:a16="http://schemas.microsoft.com/office/drawing/2014/main" id="{A480C2ED-4DC6-19A9-FA70-5DBDB6F18EA7}"/>
              </a:ext>
            </a:extLst>
          </p:cNvPr>
          <p:cNvSpPr/>
          <p:nvPr/>
        </p:nvSpPr>
        <p:spPr>
          <a:xfrm rot="20620653">
            <a:off x="6899422" y="4650575"/>
            <a:ext cx="1513972" cy="36086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43874F80-1379-CBED-1B02-331F4483CC23}"/>
              </a:ext>
            </a:extLst>
          </p:cNvPr>
          <p:cNvSpPr txBox="1"/>
          <p:nvPr/>
        </p:nvSpPr>
        <p:spPr>
          <a:xfrm>
            <a:off x="7549599" y="4931912"/>
            <a:ext cx="4679155" cy="1477328"/>
          </a:xfrm>
          <a:prstGeom prst="rect">
            <a:avLst/>
          </a:prstGeom>
          <a:noFill/>
          <a:ln w="53975">
            <a:solidFill>
              <a:srgbClr val="C00000"/>
            </a:solidFill>
          </a:ln>
        </p:spPr>
        <p:txBody>
          <a:bodyPr wrap="square">
            <a:spAutoFit/>
          </a:bodyPr>
          <a:lstStyle/>
          <a:p>
            <a:pPr algn="l">
              <a:buNone/>
            </a:pPr>
            <a:r>
              <a:rPr lang="en-US" b="0" i="0" err="1">
                <a:solidFill>
                  <a:srgbClr val="2A2A2A"/>
                </a:solidFill>
                <a:effectLst/>
                <a:latin typeface="Courier New" panose="02070309020205020404" pitchFamily="49" charset="0"/>
              </a:rPr>
              <a:t>self.env.close</a:t>
            </a:r>
            <a:r>
              <a:rPr lang="en-US" b="0" i="0">
                <a:solidFill>
                  <a:srgbClr val="2A2A2A"/>
                </a:solidFill>
                <a:effectLst/>
                <a:latin typeface="Courier New" panose="02070309020205020404" pitchFamily="49" charset="0"/>
              </a:rPr>
              <a:t>()</a:t>
            </a:r>
            <a:r>
              <a:rPr lang="en-US" b="0" i="0">
                <a:solidFill>
                  <a:srgbClr val="2A2A2A"/>
                </a:solidFill>
                <a:effectLst/>
                <a:latin typeface="Work Sans" pitchFamily="2" charset="0"/>
              </a:rPr>
              <a:t> closes the environment.</a:t>
            </a:r>
          </a:p>
          <a:p>
            <a:pPr algn="l">
              <a:buNone/>
            </a:pPr>
            <a:r>
              <a:rPr lang="en-US" b="0" i="0">
                <a:solidFill>
                  <a:srgbClr val="2A2A2A"/>
                </a:solidFill>
                <a:effectLst/>
                <a:latin typeface="Courier New" panose="02070309020205020404" pitchFamily="49" charset="0"/>
              </a:rPr>
              <a:t>return sum(</a:t>
            </a:r>
            <a:r>
              <a:rPr lang="en-US" b="0" i="0" err="1">
                <a:solidFill>
                  <a:srgbClr val="2A2A2A"/>
                </a:solidFill>
                <a:effectLst/>
                <a:latin typeface="Courier New" panose="02070309020205020404" pitchFamily="49" charset="0"/>
              </a:rPr>
              <a:t>total_rewards</a:t>
            </a:r>
            <a:r>
              <a:rPr lang="en-US" b="0" i="0">
                <a:solidFill>
                  <a:srgbClr val="2A2A2A"/>
                </a:solidFill>
                <a:effectLst/>
                <a:latin typeface="Courier New" panose="02070309020205020404" pitchFamily="49" charset="0"/>
              </a:rPr>
              <a:t>) / </a:t>
            </a:r>
            <a:r>
              <a:rPr lang="en-US" b="0" i="0" err="1">
                <a:solidFill>
                  <a:srgbClr val="2A2A2A"/>
                </a:solidFill>
                <a:effectLst/>
                <a:latin typeface="Courier New" panose="02070309020205020404" pitchFamily="49" charset="0"/>
              </a:rPr>
              <a:t>len</a:t>
            </a:r>
            <a:r>
              <a:rPr lang="en-US" b="0" i="0">
                <a:solidFill>
                  <a:srgbClr val="2A2A2A"/>
                </a:solidFill>
                <a:effectLst/>
                <a:latin typeface="Courier New" panose="02070309020205020404" pitchFamily="49" charset="0"/>
              </a:rPr>
              <a:t>(</a:t>
            </a:r>
            <a:r>
              <a:rPr lang="en-US" b="0" i="0" err="1">
                <a:solidFill>
                  <a:srgbClr val="2A2A2A"/>
                </a:solidFill>
                <a:effectLst/>
                <a:latin typeface="Courier New" panose="02070309020205020404" pitchFamily="49" charset="0"/>
              </a:rPr>
              <a:t>total_rewards</a:t>
            </a:r>
            <a:r>
              <a:rPr lang="en-US" b="0" i="0">
                <a:solidFill>
                  <a:srgbClr val="2A2A2A"/>
                </a:solidFill>
                <a:effectLst/>
                <a:latin typeface="Courier New" panose="02070309020205020404" pitchFamily="49" charset="0"/>
              </a:rPr>
              <a:t>)</a:t>
            </a:r>
            <a:r>
              <a:rPr lang="en-US" b="0" i="0">
                <a:solidFill>
                  <a:srgbClr val="2A2A2A"/>
                </a:solidFill>
                <a:effectLst/>
                <a:latin typeface="Work Sans" pitchFamily="2" charset="0"/>
              </a:rPr>
              <a:t> calculates and returns the average reward.</a:t>
            </a:r>
          </a:p>
        </p:txBody>
      </p:sp>
      <p:sp>
        <p:nvSpPr>
          <p:cNvPr id="11" name="Arrow: Right 10">
            <a:extLst>
              <a:ext uri="{FF2B5EF4-FFF2-40B4-BE49-F238E27FC236}">
                <a16:creationId xmlns:a16="http://schemas.microsoft.com/office/drawing/2014/main" id="{95A2ADD7-63F3-FF90-415A-31EBACDC1294}"/>
              </a:ext>
            </a:extLst>
          </p:cNvPr>
          <p:cNvSpPr/>
          <p:nvPr/>
        </p:nvSpPr>
        <p:spPr>
          <a:xfrm rot="21096450">
            <a:off x="5748952" y="5810827"/>
            <a:ext cx="1817514" cy="36086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9425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1+#ppt_h/2"/>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 grpId="0" animBg="1"/>
      <p:bldP spid="3" grpId="0" animBg="1"/>
      <p:bldP spid="6" grpId="0" animBg="1"/>
      <p:bldP spid="10" grpId="0" animBg="1"/>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8B63-0005-3D9C-0327-33B3041EE1B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4796478-8C61-51DB-580A-6E0FE8F8AB8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25904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B26ABF6BD93D24FB06A5206F3984F5A" ma:contentTypeVersion="10" ma:contentTypeDescription="Create a new document." ma:contentTypeScope="" ma:versionID="f112ac64b115a6cd873cde5604672bb7">
  <xsd:schema xmlns:xsd="http://www.w3.org/2001/XMLSchema" xmlns:xs="http://www.w3.org/2001/XMLSchema" xmlns:p="http://schemas.microsoft.com/office/2006/metadata/properties" xmlns:ns2="cb9ce0f1-35ab-4bc3-845a-66868f1e9a76" xmlns:ns3="9fda70d1-3604-45fe-a18e-56688c43c82c" targetNamespace="http://schemas.microsoft.com/office/2006/metadata/properties" ma:root="true" ma:fieldsID="0d6e8af992207551bf9a89f1bb2ba9c2" ns2:_="" ns3:_="">
    <xsd:import namespace="cb9ce0f1-35ab-4bc3-845a-66868f1e9a76"/>
    <xsd:import namespace="9fda70d1-3604-45fe-a18e-56688c43c82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9ce0f1-35ab-4bc3-845a-66868f1e9a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fda70d1-3604-45fe-a18e-56688c43c82c"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7E6E28-DC3C-4D57-B83B-DDA5F9A8AC4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8EF2281-5A55-4CC6-BEA4-9E1B5C0F2AD4}">
  <ds:schemaRefs>
    <ds:schemaRef ds:uri="9fda70d1-3604-45fe-a18e-56688c43c82c"/>
    <ds:schemaRef ds:uri="cb9ce0f1-35ab-4bc3-845a-66868f1e9a7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F8951BE-823B-4345-906F-3F62446827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48</Slides>
  <Notes>2</Notes>
  <HiddenSlides>4</HiddenSlide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PowerPoint Presentation</vt:lpstr>
      <vt:lpstr>Deep Reinforcement Learning</vt:lpstr>
      <vt:lpstr>Function Approximation</vt:lpstr>
      <vt:lpstr>PowerPoint Presentation</vt:lpstr>
      <vt:lpstr>Deep Q Network(DQN)</vt:lpstr>
      <vt:lpstr>Limitations of traditional Q-Learning</vt:lpstr>
      <vt:lpstr>PowerPoint Presentation</vt:lpstr>
      <vt:lpstr>Deep Q-networks DQN</vt:lpstr>
      <vt:lpstr>DQN</vt:lpstr>
      <vt:lpstr>1.1.1: Q-Neural Networks </vt:lpstr>
      <vt:lpstr>1.1.2 Experience Replay</vt:lpstr>
      <vt:lpstr>PowerPoint Presentation</vt:lpstr>
      <vt:lpstr>DQN Algorithm</vt:lpstr>
      <vt:lpstr>PowerPoint Presentation</vt:lpstr>
      <vt:lpstr>PowerPoint Presentation</vt:lpstr>
      <vt:lpstr>DQN Algorithm </vt:lpstr>
      <vt:lpstr>Q -Network and Target Network</vt:lpstr>
      <vt:lpstr>DQN Algorithm </vt:lpstr>
      <vt:lpstr>DQN Algorithm </vt:lpstr>
      <vt:lpstr>Target-Network- updations</vt:lpstr>
      <vt:lpstr>DQN Algorithm </vt:lpstr>
      <vt:lpstr>PowerPoint Presentation</vt:lpstr>
      <vt:lpstr>Why you need two networks- Q-Network and Target Network?</vt:lpstr>
      <vt:lpstr>Why two networks- Q Network and Target Network?-The problem if we use only one Q-network </vt:lpstr>
      <vt:lpstr>Idea behind Target Network</vt:lpstr>
      <vt:lpstr>Now what is different</vt:lpstr>
      <vt:lpstr>Project topics</vt:lpstr>
      <vt:lpstr>Deep RL Code</vt:lpstr>
      <vt:lpstr>Lunar Landing Problem in Open AI Gym</vt:lpstr>
      <vt:lpstr>Problem Statement (High-Level) </vt:lpstr>
      <vt:lpstr>PowerPoint Presentation</vt:lpstr>
      <vt:lpstr>PowerPoint Presentation</vt:lpstr>
      <vt:lpstr>Lets get to DQN code</vt:lpstr>
      <vt:lpstr>PowerPoint Presentation</vt:lpstr>
      <vt:lpstr>PowerPoint Presentation</vt:lpstr>
      <vt:lpstr>PowerPoint Presentation</vt:lpstr>
      <vt:lpstr>PowerPoint Presentation</vt:lpstr>
      <vt:lpstr>Implementing Experience Replay </vt:lpstr>
      <vt:lpstr>Implementing the Target Network </vt:lpstr>
      <vt:lpstr>_init in the DQNTrainer class</vt:lpstr>
      <vt:lpstr>_init in the DQNTrainer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Geetha M</dc:creator>
  <cp:revision>3</cp:revision>
  <dcterms:created xsi:type="dcterms:W3CDTF">2020-09-22T05:47:20Z</dcterms:created>
  <dcterms:modified xsi:type="dcterms:W3CDTF">2025-11-20T05:53:05Z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0x0101005B26ABF6BD93D24FB06A5206F3984F5A</vt:lpwstr>
  </property>
</Properties>
</file>